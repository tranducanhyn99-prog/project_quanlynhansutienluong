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tableStyles" Target="tableStyles.xml"/><Relationship Id="rId8" Type="http://schemas.openxmlformats.org/officeDocument/2006/relationships/viewProps" Target="viewProps.xml"/><Relationship Id="rId7" Type="http://schemas.openxmlformats.org/officeDocument/2006/relationships/presProps" Target="presProps.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FAE7DE-997B-4B57-895B-A6B4C184BC1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6D606E-37A5-43F7-897C-0CE614F6E66D}"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SLIDE 10 · khoảng 40 giây</a:t>
            </a:r>
            <a:endParaRPr lang="vi-VN"/>
          </a:p>
          <a:p>
            <a:endParaRPr lang="vi-VN"/>
          </a:p>
          <a:p>
            <a:r>
              <a:rPr lang="vi-VN"/>
              <a:t>Em là Nguyễn Quang Vinh, phụ trách tính lương. Đầu vào gồm mức lương của kỳ, ngày công, phụ cấp và khấu trừ. Tiền công bằng lương cơ bản chia công chuẩn, nhân công thực tế; thực nhận cộng phụ cấp rồi trừ khấu trừ. Ví dụ GUI tháng 10/2026: A nhận 730.000đ, B nhận 0đ.</a:t>
            </a:r>
            <a:endParaRPr lang="vi-VN"/>
          </a:p>
          <a:p>
            <a:endParaRPr lang="vi-VN"/>
          </a:p>
          <a:p>
            <a:r>
              <a:rPr lang="vi-VN"/>
              <a:t>Minh chứng: Minh_chung/TV4_GUI_Live.log; TV4_GUI_TinhLuong_102026.png. GUI desktop Robot 11/10/2026 04:03:38 +07; 31 assertions PASS; Payroll_Officer; QA riêng đã dọn.</a:t>
            </a:r>
            <a:endParaRPr lang="vi-VN"/>
          </a:p>
          <a:p>
            <a:r>
              <a:rPr lang="vi-VN"/>
              <a:t>GUI đã kiểm tự động; chưa rehearsal lời nói và thao tác tay.</a:t>
            </a:r>
            <a:endParaRPr lang="vi-VN"/>
          </a:p>
          <a:p>
            <a:r>
              <a:rPr lang="vi-VN"/>
              <a:t>Thông tin lần chạy: Minh_chung/THONG_TIN_MINH_CHUNG.txt.</a:t>
            </a:r>
            <a:endParaRPr lang="vi-VN"/>
          </a:p>
        </p:txBody>
      </p:sp>
      <p:sp>
        <p:nvSpPr>
          <p:cNvPr id="4" name="Slide Number Placeholder 3"/>
          <p:cNvSpPr>
            <a:spLocks noGrp="1"/>
          </p:cNvSpPr>
          <p:nvPr>
            <p:ph type="sldNum" sz="quarter" idx="5"/>
          </p:nvPr>
        </p:nvSpPr>
        <p:spPr/>
        <p:txBody>
          <a:bodyPr/>
          <a:lstStyle/>
          <a:p>
            <a:fld id="{B16D606E-37A5-43F7-897C-0CE614F6E66D}"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SLIDE 11 · khoảng 45 giây</a:t>
            </a:r>
            <a:endParaRPr lang="vi-VN"/>
          </a:p>
          <a:p>
            <a:endParaRPr lang="vi-VN"/>
          </a:p>
          <a:p>
            <a:r>
              <a:rPr lang="vi-VN"/>
              <a:t>Procedure kiểm tra đầu vào, khóa kỳ và nguồn, rồi ghi bảng lương và chi tiết trong transaction. Kỳ chưa chốt tính lại trên cùng mã kỳ. Nếu ghi chi tiết lỗi, TRY CATCH rollback để giữ kết quả trước. Kỳ đã chốt không cho tính lại. Mức lương kỳ cũ ưu tiên snapshot, tiếp đến lịch sử hiệu lực, cuối cùng lương hiện tại; lịch sử đã mất không tự khôi phục.</a:t>
            </a:r>
            <a:endParaRPr lang="vi-VN"/>
          </a:p>
          <a:p>
            <a:endParaRPr lang="vi-VN"/>
          </a:p>
          <a:p>
            <a:r>
              <a:rPr lang="vi-VN"/>
              <a:t>SSMS E2E 10/10 PASS, 10/10/2026 20:53:42–44 +07, SPID 56, mã kỳ 8; gồm tính lại/rollback. Minh_chung/TV4_Payroll_E2E.log; TV4_E2E_10Steps_Pass.png.</a:t>
            </a:r>
            <a:endParaRPr lang="vi-VN"/>
          </a:p>
          <a:p>
            <a:r>
              <a:rPr lang="vi-VN"/>
              <a:t>Thông tin lần chạy: Minh_chung/THONG_TIN_MINH_CHUNG.txt.</a:t>
            </a:r>
            <a:endParaRPr lang="vi-VN"/>
          </a:p>
        </p:txBody>
      </p:sp>
      <p:sp>
        <p:nvSpPr>
          <p:cNvPr id="4" name="Slide Number Placeholder 3"/>
          <p:cNvSpPr>
            <a:spLocks noGrp="1"/>
          </p:cNvSpPr>
          <p:nvPr>
            <p:ph type="sldNum" sz="quarter" idx="5"/>
          </p:nvPr>
        </p:nvSpPr>
        <p:spPr/>
        <p:txBody>
          <a:bodyPr/>
          <a:lstStyle/>
          <a:p>
            <a:fld id="{B16D606E-37A5-43F7-897C-0CE614F6E66D}"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SLIDE 12 · khoảng 35 giây</a:t>
            </a:r>
            <a:endParaRPr lang="vi-VN"/>
          </a:p>
          <a:p>
            <a:endParaRPr lang="vi-VN"/>
          </a:p>
          <a:p>
            <a:r>
              <a:rPr lang="vi-VN"/>
              <a:t>Luồng gọi là Panel → Service kiểm quyền → DAO dùng CallableStatement → procedure trả MaBangLuong OUTPUT. E2E đạt 10/10. Benchmark khấu trừ 30.000 dòng: scan 547 reads, seek 4; cùng 128 dòng và tổng 133.356. Phép đo có hint FORCESCAN/FORCESEEK trên fixture QA, không suy ra tốc độ toàn ứng dụng. Hai session cùng kỳ: B chờ 21.072 ms, cùng mã kỳ và không trùng chi tiết. Mời Đức Anh tiếp tục phần chốt kỳ và quyền truy cập.</a:t>
            </a:r>
            <a:endParaRPr lang="vi-VN"/>
          </a:p>
          <a:p>
            <a:endParaRPr lang="vi-VN"/>
          </a:p>
          <a:p>
            <a:r>
              <a:rPr lang="vi-VN"/>
              <a:t>Log E2E: Minh_chung/TV4_Payroll_E2E.log.</a:t>
            </a:r>
            <a:endParaRPr lang="vi-VN"/>
          </a:p>
          <a:p>
            <a:r>
              <a:rPr lang="vi-VN"/>
              <a:t>Log benchmark: Minh_chung/TV4_Payroll_Benchmark.log.</a:t>
            </a:r>
            <a:endParaRPr lang="vi-VN"/>
          </a:p>
          <a:p>
            <a:r>
              <a:rPr lang="vi-VN"/>
              <a:t>Hai session: Minh_chung/Concurrency_A.log; Minh_chung/Concurrency_B.log.</a:t>
            </a:r>
            <a:endParaRPr lang="vi-VN"/>
          </a:p>
          <a:p>
            <a:r>
              <a:rPr lang="vi-VN"/>
              <a:t>Actual plans: Minh_chung/TV4_Payroll_Benchmark_FORCED_CLUSTERED_SCAN.sqlplan; Minh_chung/TV4_Payroll_Benchmark_FORCED_COVERING_SEEK.sqlplan.</a:t>
            </a:r>
            <a:endParaRPr lang="vi-VN"/>
          </a:p>
          <a:p>
            <a:r>
              <a:rPr lang="vi-VN"/>
              <a:t>Nguồn: Minh_chung/THONG_TIN_MINH_CHUNG.txt. Benchmark SSMS SPID 68, 10/10/2026 20:55:42–46; Messages/Results/hai actual plan cùng batch. Native plan chụp 11/10 04:02:44. Concurrency collector A/B 72/73: 21.072 ms; ảnh 11/10 04:03:15 là log mở SSMS, không live hai session lúc chụp.</a:t>
            </a:r>
            <a:endParaRPr lang="vi-VN"/>
          </a:p>
        </p:txBody>
      </p:sp>
      <p:sp>
        <p:nvSpPr>
          <p:cNvPr id="4" name="Slide Number Placeholder 3"/>
          <p:cNvSpPr>
            <a:spLocks noGrp="1"/>
          </p:cNvSpPr>
          <p:nvPr>
            <p:ph type="sldNum" sz="quarter" idx="5"/>
          </p:nvPr>
        </p:nvSpPr>
        <p:spPr/>
        <p:txBody>
          <a:bodyPr/>
          <a:lstStyle/>
          <a:p>
            <a:fld id="{B16D606E-37A5-43F7-897C-0CE614F6E66D}"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2A6CCB8E-D86C-44D0-9CB3-E1263AF6249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A6CCB8E-D86C-44D0-9CB3-E1263AF6249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2A6CCB8E-D86C-44D0-9CB3-E1263AF6249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2A6CCB8E-D86C-44D0-9CB3-E1263AF6249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2A6CCB8E-D86C-44D0-9CB3-E1263AF6249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2A6CCB8E-D86C-44D0-9CB3-E1263AF6249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A6CCB8E-D86C-44D0-9CB3-E1263AF6249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2A6CCB8E-D86C-44D0-9CB3-E1263AF6249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2A6CCB8E-D86C-44D0-9CB3-E1263AF6249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A6CCB8E-D86C-44D0-9CB3-E1263AF6249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A6CCB8E-D86C-44D0-9CB3-E1263AF6249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2EDB8F3-ED00-4956-BF5E-E6AA85E727E1}"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6CCB8E-D86C-44D0-9CB3-E1263AF62499}"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EDB8F3-ED00-4956-BF5E-E6AA85E727E1}"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8FC"/>
        </a:solidFill>
        <a:effectLst/>
      </p:bgPr>
    </p:bg>
    <p:spTree>
      <p:nvGrpSpPr>
        <p:cNvPr id="1" name=""/>
        <p:cNvGrpSpPr/>
        <p:nvPr/>
      </p:nvGrpSpPr>
      <p:grpSpPr>
        <a:xfrm>
          <a:off x="0" y="0"/>
          <a:ext cx="0" cy="0"/>
          <a:chOff x="0" y="0"/>
          <a:chExt cx="0" cy="0"/>
        </a:xfrm>
      </p:grpSpPr>
      <p:sp>
        <p:nvSpPr>
          <p:cNvPr id="2" name="Rectangle: Rounded Corners 1"/>
          <p:cNvSpPr/>
          <p:nvPr/>
        </p:nvSpPr>
        <p:spPr>
          <a:xfrm>
            <a:off x="508000" y="330200"/>
            <a:ext cx="1638300" cy="3048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35000" y="393700"/>
            <a:ext cx="1409700" cy="276999"/>
          </a:xfrm>
          <a:prstGeom prst="rect">
            <a:avLst/>
          </a:prstGeom>
          <a:noFill/>
        </p:spPr>
        <p:txBody>
          <a:bodyPr vert="horz" wrap="square" lIns="0" tIns="0" rIns="0" bIns="0" rtlCol="0">
            <a:noAutofit/>
          </a:bodyPr>
          <a:lstStyle/>
          <a:p>
            <a:r>
              <a:rPr sz="1000" b="1">
                <a:solidFill>
                  <a:srgbClr val="0F766E"/>
                </a:solidFill>
                <a:latin typeface="Segoe UI" panose="020B0502040204020203"/>
              </a:rPr>
              <a:t>TV3 · PHỤ CẤP &amp; KHẤU TRỪ</a:t>
            </a:r>
            <a:endParaRPr sz="1000" b="1">
              <a:solidFill>
                <a:srgbClr val="0F766E"/>
              </a:solidFill>
              <a:latin typeface="Segoe UI" panose="020B0502040204020203"/>
            </a:endParaRPr>
          </a:p>
        </p:txBody>
      </p:sp>
      <p:sp>
        <p:nvSpPr>
          <p:cNvPr id="4" name="TextBox 3"/>
          <p:cNvSpPr txBox="1"/>
          <p:nvPr/>
        </p:nvSpPr>
        <p:spPr>
          <a:xfrm>
            <a:off x="508000" y="838200"/>
            <a:ext cx="11176000" cy="402590"/>
          </a:xfrm>
          <a:prstGeom prst="rect">
            <a:avLst/>
          </a:prstGeom>
          <a:noFill/>
        </p:spPr>
        <p:txBody>
          <a:bodyPr vert="horz" wrap="square" lIns="0" tIns="0" rIns="0" bIns="0" rtlCol="0">
            <a:noAutofit/>
          </a:bodyPr>
          <a:lstStyle/>
          <a:p>
            <a:r>
              <a:rPr sz="2800" b="1">
                <a:solidFill>
                  <a:srgbClr val="102136"/>
                </a:solidFill>
                <a:latin typeface="Segoe UI" panose="020B0502040204020203"/>
              </a:rPr>
              <a:t>Dữ liệu theo nhân viên và kỳ · khóa ngoại · CHECK dữ liệu tiền/tháng/năm</a:t>
            </a:r>
            <a:endParaRPr sz="2800" b="1">
              <a:solidFill>
                <a:srgbClr val="102136"/>
              </a:solidFill>
              <a:latin typeface="Segoe UI" panose="020B0502040204020203"/>
            </a:endParaRPr>
          </a:p>
        </p:txBody>
      </p:sp>
      <p:sp>
        <p:nvSpPr>
          <p:cNvPr id="5" name="TextBox 4"/>
          <p:cNvSpPr txBox="1"/>
          <p:nvPr/>
        </p:nvSpPr>
        <p:spPr>
          <a:xfrm>
            <a:off x="508000" y="1701800"/>
            <a:ext cx="111760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Dữ liệu nhân viên → khoản phụ cấp/khấu trừ → tổng hợp cho tính lương</a:t>
            </a:r>
            <a:endParaRPr sz="1200">
              <a:solidFill>
                <a:srgbClr val="51647A"/>
              </a:solidFill>
              <a:latin typeface="Segoe UI" panose="020B0502040204020203"/>
            </a:endParaRPr>
          </a:p>
        </p:txBody>
      </p:sp>
      <p:sp>
        <p:nvSpPr>
          <p:cNvPr id="6" name="Rectangle 5"/>
          <p:cNvSpPr/>
          <p:nvPr/>
        </p:nvSpPr>
        <p:spPr>
          <a:xfrm>
            <a:off x="508000" y="6426200"/>
            <a:ext cx="11176000" cy="12700"/>
          </a:xfrm>
          <a:prstGeom prst="rect">
            <a:avLst/>
          </a:prstGeom>
          <a:solidFill>
            <a:srgbClr val="DDE5EE"/>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508000" y="6591300"/>
            <a:ext cx="9525000" cy="276999"/>
          </a:xfrm>
          <a:prstGeom prst="rect">
            <a:avLst/>
          </a:prstGeom>
          <a:noFill/>
        </p:spPr>
        <p:txBody>
          <a:bodyPr vert="horz" wrap="square" lIns="0" tIns="0" rIns="0" bIns="0" rtlCol="0">
            <a:noAutofit/>
          </a:bodyPr>
          <a:lstStyle/>
          <a:p>
            <a:r>
              <a:rPr sz="1000">
                <a:solidFill>
                  <a:srgbClr val="51647A"/>
                </a:solidFill>
                <a:latin typeface="Segoe UI" panose="020B0502040204020203"/>
              </a:rPr>
              <a:t>Trần Tiến Đạt  ·  MSSV 24110198  ·  Nhóm 06</a:t>
            </a:r>
            <a:endParaRPr sz="1000">
              <a:solidFill>
                <a:srgbClr val="51647A"/>
              </a:solidFill>
              <a:latin typeface="Segoe UI" panose="020B0502040204020203"/>
            </a:endParaRPr>
          </a:p>
        </p:txBody>
      </p:sp>
      <p:sp>
        <p:nvSpPr>
          <p:cNvPr id="8" name="TextBox 7"/>
          <p:cNvSpPr txBox="1"/>
          <p:nvPr/>
        </p:nvSpPr>
        <p:spPr>
          <a:xfrm>
            <a:off x="11163300" y="6540500"/>
            <a:ext cx="520700" cy="276999"/>
          </a:xfrm>
          <a:prstGeom prst="rect">
            <a:avLst/>
          </a:prstGeom>
          <a:noFill/>
        </p:spPr>
        <p:txBody>
          <a:bodyPr vert="horz" wrap="square" lIns="0" tIns="0" rIns="0" bIns="0" rtlCol="0">
            <a:noAutofit/>
          </a:bodyPr>
          <a:lstStyle/>
          <a:p>
            <a:r>
              <a:rPr sz="1300" b="1">
                <a:solidFill>
                  <a:srgbClr val="0F766E"/>
                </a:solidFill>
                <a:latin typeface="Segoe UI" panose="020B0502040204020203"/>
              </a:rPr>
              <a:t>7</a:t>
            </a:r>
            <a:endParaRPr sz="1300" b="1">
              <a:solidFill>
                <a:srgbClr val="0F766E"/>
              </a:solidFill>
              <a:latin typeface="Segoe UI" panose="020B0502040204020203"/>
            </a:endParaRPr>
          </a:p>
        </p:txBody>
      </p:sp>
      <p:sp>
        <p:nvSpPr>
          <p:cNvPr id="9" name="Rectangle: Rounded Corners 8"/>
          <p:cNvSpPr/>
          <p:nvPr/>
        </p:nvSpPr>
        <p:spPr>
          <a:xfrm>
            <a:off x="508000" y="1993900"/>
            <a:ext cx="2603500" cy="13208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698500" y="2159000"/>
            <a:ext cx="2222500" cy="276999"/>
          </a:xfrm>
          <a:prstGeom prst="rect">
            <a:avLst/>
          </a:prstGeom>
          <a:noFill/>
        </p:spPr>
        <p:txBody>
          <a:bodyPr vert="horz" wrap="square" lIns="0" tIns="0" rIns="0" bIns="0" rtlCol="0">
            <a:noAutofit/>
          </a:bodyPr>
          <a:lstStyle/>
          <a:p>
            <a:r>
              <a:rPr sz="1500" b="1">
                <a:solidFill>
                  <a:srgbClr val="102136"/>
                </a:solidFill>
                <a:latin typeface="Segoe UI" panose="020B0502040204020203"/>
              </a:rPr>
              <a:t>PHỤ CẤP</a:t>
            </a:r>
            <a:endParaRPr sz="1500" b="1">
              <a:solidFill>
                <a:srgbClr val="102136"/>
              </a:solidFill>
              <a:latin typeface="Segoe UI" panose="020B0502040204020203"/>
            </a:endParaRPr>
          </a:p>
        </p:txBody>
      </p:sp>
      <p:sp>
        <p:nvSpPr>
          <p:cNvPr id="11" name="TextBox 10"/>
          <p:cNvSpPr txBox="1"/>
          <p:nvPr/>
        </p:nvSpPr>
        <p:spPr>
          <a:xfrm>
            <a:off x="698500" y="2844800"/>
            <a:ext cx="22225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PHUCAPNHANVIEN · theo nhân viên/kỳ</a:t>
            </a:r>
            <a:endParaRPr sz="1200">
              <a:solidFill>
                <a:srgbClr val="51647A"/>
              </a:solidFill>
              <a:latin typeface="Segoe UI" panose="020B0502040204020203"/>
            </a:endParaRPr>
          </a:p>
        </p:txBody>
      </p:sp>
      <p:sp>
        <p:nvSpPr>
          <p:cNvPr id="12" name="Rectangle: Rounded Corners 11"/>
          <p:cNvSpPr/>
          <p:nvPr/>
        </p:nvSpPr>
        <p:spPr>
          <a:xfrm>
            <a:off x="3365500" y="1993900"/>
            <a:ext cx="2603500" cy="13208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3556000" y="2159000"/>
            <a:ext cx="2222500" cy="276999"/>
          </a:xfrm>
          <a:prstGeom prst="rect">
            <a:avLst/>
          </a:prstGeom>
          <a:noFill/>
        </p:spPr>
        <p:txBody>
          <a:bodyPr vert="horz" wrap="square" lIns="0" tIns="0" rIns="0" bIns="0" rtlCol="0">
            <a:noAutofit/>
          </a:bodyPr>
          <a:lstStyle/>
          <a:p>
            <a:r>
              <a:rPr sz="1500" b="1">
                <a:solidFill>
                  <a:srgbClr val="102136"/>
                </a:solidFill>
                <a:latin typeface="Segoe UI" panose="020B0502040204020203"/>
              </a:rPr>
              <a:t>KHẤU TRỪ</a:t>
            </a:r>
            <a:endParaRPr sz="1500" b="1">
              <a:solidFill>
                <a:srgbClr val="102136"/>
              </a:solidFill>
              <a:latin typeface="Segoe UI" panose="020B0502040204020203"/>
            </a:endParaRPr>
          </a:p>
        </p:txBody>
      </p:sp>
      <p:sp>
        <p:nvSpPr>
          <p:cNvPr id="14" name="TextBox 13"/>
          <p:cNvSpPr txBox="1"/>
          <p:nvPr/>
        </p:nvSpPr>
        <p:spPr>
          <a:xfrm>
            <a:off x="3556000" y="2844800"/>
            <a:ext cx="22225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KHAUTRUNHANVIEN · theo nhân viên/kỳ</a:t>
            </a:r>
            <a:endParaRPr sz="1200">
              <a:solidFill>
                <a:srgbClr val="51647A"/>
              </a:solidFill>
              <a:latin typeface="Segoe UI" panose="020B0502040204020203"/>
            </a:endParaRPr>
          </a:p>
        </p:txBody>
      </p:sp>
      <p:sp>
        <p:nvSpPr>
          <p:cNvPr id="15" name="Rectangle: Rounded Corners 14"/>
          <p:cNvSpPr/>
          <p:nvPr/>
        </p:nvSpPr>
        <p:spPr>
          <a:xfrm>
            <a:off x="6223000" y="1993900"/>
            <a:ext cx="2603500" cy="13208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6413500" y="2159000"/>
            <a:ext cx="2222500" cy="276999"/>
          </a:xfrm>
          <a:prstGeom prst="rect">
            <a:avLst/>
          </a:prstGeom>
          <a:noFill/>
        </p:spPr>
        <p:txBody>
          <a:bodyPr vert="horz" wrap="square" lIns="0" tIns="0" rIns="0" bIns="0" rtlCol="0">
            <a:noAutofit/>
          </a:bodyPr>
          <a:lstStyle/>
          <a:p>
            <a:r>
              <a:rPr sz="1500" b="1">
                <a:solidFill>
                  <a:srgbClr val="102136"/>
                </a:solidFill>
                <a:latin typeface="Segoe UI" panose="020B0502040204020203"/>
              </a:rPr>
              <a:t>KHÓA NGOẠI</a:t>
            </a:r>
            <a:endParaRPr sz="1500" b="1">
              <a:solidFill>
                <a:srgbClr val="102136"/>
              </a:solidFill>
              <a:latin typeface="Segoe UI" panose="020B0502040204020203"/>
            </a:endParaRPr>
          </a:p>
        </p:txBody>
      </p:sp>
      <p:sp>
        <p:nvSpPr>
          <p:cNvPr id="17" name="TextBox 16"/>
          <p:cNvSpPr txBox="1"/>
          <p:nvPr/>
        </p:nvSpPr>
        <p:spPr>
          <a:xfrm>
            <a:off x="6413500" y="2844800"/>
            <a:ext cx="22225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Liên kết đến nhân viên</a:t>
            </a:r>
            <a:endParaRPr sz="1200">
              <a:solidFill>
                <a:srgbClr val="51647A"/>
              </a:solidFill>
              <a:latin typeface="Segoe UI" panose="020B0502040204020203"/>
            </a:endParaRPr>
          </a:p>
        </p:txBody>
      </p:sp>
      <p:sp>
        <p:nvSpPr>
          <p:cNvPr id="18" name="Rectangle: Rounded Corners 17"/>
          <p:cNvSpPr/>
          <p:nvPr/>
        </p:nvSpPr>
        <p:spPr>
          <a:xfrm>
            <a:off x="9080500" y="1993900"/>
            <a:ext cx="2603500" cy="1320800"/>
          </a:xfrm>
          <a:prstGeom prst="roundRect">
            <a:avLst>
              <a:gd name="adj" fmla="val 10000"/>
            </a:avLst>
          </a:prstGeom>
          <a:solidFill>
            <a:srgbClr val="E6F4E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p:cNvSpPr txBox="1"/>
          <p:nvPr/>
        </p:nvSpPr>
        <p:spPr>
          <a:xfrm>
            <a:off x="9271000" y="2159000"/>
            <a:ext cx="2222500" cy="276999"/>
          </a:xfrm>
          <a:prstGeom prst="rect">
            <a:avLst/>
          </a:prstGeom>
          <a:noFill/>
        </p:spPr>
        <p:txBody>
          <a:bodyPr vert="horz" wrap="square" lIns="0" tIns="0" rIns="0" bIns="0" rtlCol="0">
            <a:noAutofit/>
          </a:bodyPr>
          <a:lstStyle/>
          <a:p>
            <a:r>
              <a:rPr sz="1500" b="1">
                <a:solidFill>
                  <a:srgbClr val="102136"/>
                </a:solidFill>
                <a:latin typeface="Segoe UI" panose="020B0502040204020203"/>
              </a:rPr>
              <a:t>RÀNG BUỘC</a:t>
            </a:r>
            <a:endParaRPr sz="1500" b="1">
              <a:solidFill>
                <a:srgbClr val="102136"/>
              </a:solidFill>
              <a:latin typeface="Segoe UI" panose="020B0502040204020203"/>
            </a:endParaRPr>
          </a:p>
        </p:txBody>
      </p:sp>
      <p:sp>
        <p:nvSpPr>
          <p:cNvPr id="20" name="TextBox 19"/>
          <p:cNvSpPr txBox="1"/>
          <p:nvPr/>
        </p:nvSpPr>
        <p:spPr>
          <a:xfrm>
            <a:off x="9271000" y="2844800"/>
            <a:ext cx="22225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CHECK tiền / tháng / năm</a:t>
            </a:r>
            <a:endParaRPr sz="1200">
              <a:solidFill>
                <a:srgbClr val="51647A"/>
              </a:solidFill>
              <a:latin typeface="Segoe UI" panose="020B0502040204020203"/>
            </a:endParaRPr>
          </a:p>
        </p:txBody>
      </p:sp>
      <p:cxnSp>
        <p:nvCxnSpPr>
          <p:cNvPr id="21" name="Straight Connector 20"/>
          <p:cNvCxnSpPr/>
          <p:nvPr/>
        </p:nvCxnSpPr>
        <p:spPr>
          <a:xfrm>
            <a:off x="3162300" y="2654300"/>
            <a:ext cx="1524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p:nvPr/>
        </p:nvCxnSpPr>
        <p:spPr>
          <a:xfrm>
            <a:off x="6019800" y="2654300"/>
            <a:ext cx="1524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a:off x="8877300" y="2654300"/>
            <a:ext cx="1524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24" name="Rectangle: Rounded Corners 23"/>
          <p:cNvSpPr/>
          <p:nvPr/>
        </p:nvSpPr>
        <p:spPr>
          <a:xfrm>
            <a:off x="508000" y="3543300"/>
            <a:ext cx="11176000" cy="10541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762000" y="3721100"/>
            <a:ext cx="10668000" cy="276999"/>
          </a:xfrm>
          <a:prstGeom prst="rect">
            <a:avLst/>
          </a:prstGeom>
          <a:noFill/>
        </p:spPr>
        <p:txBody>
          <a:bodyPr vert="horz" wrap="square" lIns="0" tIns="0" rIns="0" bIns="0" rtlCol="0">
            <a:noAutofit/>
          </a:bodyPr>
          <a:lstStyle/>
          <a:p>
            <a:r>
              <a:rPr sz="1900" b="1">
                <a:solidFill>
                  <a:srgbClr val="102136"/>
                </a:solidFill>
                <a:latin typeface="Segoe UI" panose="020B0502040204020203"/>
              </a:rPr>
              <a:t>Hai bảng: PHUCAPNHANVIEN và KHAUTRUNHANVIEN</a:t>
            </a:r>
            <a:endParaRPr sz="1900" b="1">
              <a:solidFill>
                <a:srgbClr val="102136"/>
              </a:solidFill>
              <a:latin typeface="Segoe UI" panose="020B0502040204020203"/>
            </a:endParaRPr>
          </a:p>
        </p:txBody>
      </p:sp>
      <p:sp>
        <p:nvSpPr>
          <p:cNvPr id="26" name="TextBox 25"/>
          <p:cNvSpPr txBox="1"/>
          <p:nvPr/>
        </p:nvSpPr>
        <p:spPr>
          <a:xfrm>
            <a:off x="762000" y="4165600"/>
            <a:ext cx="10668000" cy="276999"/>
          </a:xfrm>
          <a:prstGeom prst="rect">
            <a:avLst/>
          </a:prstGeom>
          <a:noFill/>
        </p:spPr>
        <p:txBody>
          <a:bodyPr vert="horz" wrap="square" lIns="0" tIns="0" rIns="0" bIns="0" rtlCol="0">
            <a:noAutofit/>
          </a:bodyPr>
          <a:lstStyle/>
          <a:p>
            <a:r>
              <a:rPr sz="1700" b="1">
                <a:solidFill>
                  <a:srgbClr val="0F766E"/>
                </a:solidFill>
                <a:latin typeface="Segoe UI" panose="020B0502040204020203"/>
              </a:rPr>
              <a:t>Ràng buộc CHECK kiểm soát miền giá trị; khóa ngoại liên kết nhân viên và dữ liệu liên quan.</a:t>
            </a:r>
            <a:endParaRPr sz="1700" b="1">
              <a:solidFill>
                <a:srgbClr val="0F766E"/>
              </a:solidFill>
              <a:latin typeface="Segoe UI" panose="020B0502040204020203"/>
            </a:endParaRPr>
          </a:p>
        </p:txBody>
      </p:sp>
      <p:sp>
        <p:nvSpPr>
          <p:cNvPr id="27" name="Rectangle: Rounded Corners 26"/>
          <p:cNvSpPr/>
          <p:nvPr/>
        </p:nvSpPr>
        <p:spPr>
          <a:xfrm>
            <a:off x="508000" y="4838700"/>
            <a:ext cx="11176000" cy="1282700"/>
          </a:xfrm>
          <a:prstGeom prst="roundRect">
            <a:avLst>
              <a:gd name="adj" fmla="val 10000"/>
            </a:avLst>
          </a:prstGeom>
          <a:solidFill>
            <a:srgbClr val="EDF3FF"/>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p:cNvSpPr txBox="1"/>
          <p:nvPr/>
        </p:nvSpPr>
        <p:spPr>
          <a:xfrm>
            <a:off x="749300" y="5003800"/>
            <a:ext cx="8890000" cy="276999"/>
          </a:xfrm>
          <a:prstGeom prst="rect">
            <a:avLst/>
          </a:prstGeom>
          <a:noFill/>
        </p:spPr>
        <p:txBody>
          <a:bodyPr vert="horz" wrap="square" lIns="0" tIns="0" rIns="0" bIns="0" rtlCol="0">
            <a:noAutofit/>
          </a:bodyPr>
          <a:lstStyle/>
          <a:p>
            <a:r>
              <a:rPr sz="1100" b="1">
                <a:solidFill>
                  <a:srgbClr val="2563EB"/>
                </a:solidFill>
                <a:latin typeface="Segoe UI" panose="020B0502040204020203"/>
              </a:rPr>
              <a:t>QUY TẮC THIẾT KẾ</a:t>
            </a:r>
            <a:endParaRPr sz="1100" b="1">
              <a:solidFill>
                <a:srgbClr val="2563EB"/>
              </a:solidFill>
              <a:latin typeface="Segoe UI" panose="020B0502040204020203"/>
            </a:endParaRPr>
          </a:p>
        </p:txBody>
      </p:sp>
      <p:sp>
        <p:nvSpPr>
          <p:cNvPr id="29" name="TextBox 28"/>
          <p:cNvSpPr txBox="1"/>
          <p:nvPr/>
        </p:nvSpPr>
        <p:spPr>
          <a:xfrm>
            <a:off x="749300" y="5372100"/>
            <a:ext cx="7747000" cy="276999"/>
          </a:xfrm>
          <a:prstGeom prst="rect">
            <a:avLst/>
          </a:prstGeom>
          <a:noFill/>
        </p:spPr>
        <p:txBody>
          <a:bodyPr vert="horz" wrap="square" lIns="0" tIns="0" rIns="0" bIns="0" rtlCol="0">
            <a:noAutofit/>
          </a:bodyPr>
          <a:lstStyle/>
          <a:p>
            <a:r>
              <a:rPr>
                <a:solidFill>
                  <a:srgbClr val="102136"/>
                </a:solidFill>
                <a:latin typeface="Segoe UI" panose="020B0502040204020203"/>
              </a:rPr>
              <a:t>Không có UNIQUE theo tên khoản</a:t>
            </a:r>
            <a:endParaRPr>
              <a:solidFill>
                <a:srgbClr val="102136"/>
              </a:solidFill>
              <a:latin typeface="Segoe UI" panose="020B0502040204020203"/>
            </a:endParaRPr>
          </a:p>
        </p:txBody>
      </p:sp>
      <p:sp>
        <p:nvSpPr>
          <p:cNvPr id="30" name="TextBox 29"/>
          <p:cNvSpPr txBox="1"/>
          <p:nvPr/>
        </p:nvSpPr>
        <p:spPr>
          <a:xfrm>
            <a:off x="8940800" y="5321300"/>
            <a:ext cx="2438400" cy="276999"/>
          </a:xfrm>
          <a:prstGeom prst="rect">
            <a:avLst/>
          </a:prstGeom>
          <a:noFill/>
        </p:spPr>
        <p:txBody>
          <a:bodyPr vert="horz" wrap="square" lIns="0" tIns="0" rIns="0" bIns="0" rtlCol="0">
            <a:noAutofit/>
          </a:bodyPr>
          <a:lstStyle/>
          <a:p>
            <a:r>
              <a:rPr sz="2500" b="1">
                <a:solidFill>
                  <a:srgbClr val="0F766E"/>
                </a:solidFill>
                <a:latin typeface="Segoe UI" panose="020B0502040204020203"/>
              </a:rPr>
              <a:t>NHÂN VIÊN + KỲ</a:t>
            </a:r>
            <a:endParaRPr sz="2500" b="1">
              <a:solidFill>
                <a:srgbClr val="0F766E"/>
              </a:solidFill>
              <a:latin typeface="Segoe UI" panose="020B0502040204020203"/>
            </a:endParaRPr>
          </a:p>
        </p:txBody>
      </p:sp>
      <p:sp>
        <p:nvSpPr>
          <p:cNvPr id="31" name="TextBox 30"/>
          <p:cNvSpPr txBox="1"/>
          <p:nvPr/>
        </p:nvSpPr>
        <p:spPr>
          <a:xfrm>
            <a:off x="749300" y="5816600"/>
            <a:ext cx="10642600" cy="276999"/>
          </a:xfrm>
          <a:prstGeom prst="rect">
            <a:avLst/>
          </a:prstGeom>
          <a:noFill/>
        </p:spPr>
        <p:txBody>
          <a:bodyPr vert="horz" wrap="square" lIns="0" tIns="0" rIns="0" bIns="0" rtlCol="0">
            <a:noAutofit/>
          </a:bodyPr>
          <a:lstStyle/>
          <a:p>
            <a:r>
              <a:rPr sz="1000">
                <a:solidFill>
                  <a:srgbClr val="51647A"/>
                </a:solidFill>
                <a:latin typeface="Segoe UI" panose="020B0502040204020203"/>
              </a:rPr>
              <a:t>Kiểm tra cấu trúc và tên constraint theo DDL SQL hiện hành.</a:t>
            </a:r>
            <a:endParaRPr sz="1000">
              <a:solidFill>
                <a:srgbClr val="51647A"/>
              </a:solidFill>
              <a:latin typeface="Segoe UI" panose="020B0502040204020203"/>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8FC"/>
        </a:solidFill>
        <a:effectLst/>
      </p:bgPr>
    </p:bg>
    <p:spTree>
      <p:nvGrpSpPr>
        <p:cNvPr id="1" name=""/>
        <p:cNvGrpSpPr/>
        <p:nvPr/>
      </p:nvGrpSpPr>
      <p:grpSpPr>
        <a:xfrm>
          <a:off x="0" y="0"/>
          <a:ext cx="0" cy="0"/>
          <a:chOff x="0" y="0"/>
          <a:chExt cx="0" cy="0"/>
        </a:xfrm>
      </p:grpSpPr>
      <p:sp>
        <p:nvSpPr>
          <p:cNvPr id="2" name="Rectangle: Rounded Corners 1"/>
          <p:cNvSpPr/>
          <p:nvPr/>
        </p:nvSpPr>
        <p:spPr>
          <a:xfrm>
            <a:off x="508000" y="330200"/>
            <a:ext cx="1638300" cy="3048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35000" y="393700"/>
            <a:ext cx="1409700" cy="276999"/>
          </a:xfrm>
          <a:prstGeom prst="rect">
            <a:avLst/>
          </a:prstGeom>
          <a:noFill/>
        </p:spPr>
        <p:txBody>
          <a:bodyPr vert="horz" wrap="square" lIns="0" tIns="0" rIns="0" bIns="0" rtlCol="0">
            <a:noAutofit/>
          </a:bodyPr>
          <a:lstStyle/>
          <a:p>
            <a:r>
              <a:rPr sz="1000" b="1">
                <a:solidFill>
                  <a:srgbClr val="0F766E"/>
                </a:solidFill>
                <a:latin typeface="Segoe UI" panose="020B0502040204020203"/>
              </a:rPr>
              <a:t>TV3 · PHỤ CẤP &amp; KHẤU TRỪ</a:t>
            </a:r>
            <a:endParaRPr sz="1000" b="1">
              <a:solidFill>
                <a:srgbClr val="0F766E"/>
              </a:solidFill>
              <a:latin typeface="Segoe UI" panose="020B0502040204020203"/>
            </a:endParaRPr>
          </a:p>
        </p:txBody>
      </p:sp>
      <p:sp>
        <p:nvSpPr>
          <p:cNvPr id="4" name="TextBox 3"/>
          <p:cNvSpPr txBox="1"/>
          <p:nvPr/>
        </p:nvSpPr>
        <p:spPr>
          <a:xfrm>
            <a:off x="508000" y="838200"/>
            <a:ext cx="11176000" cy="276999"/>
          </a:xfrm>
          <a:prstGeom prst="rect">
            <a:avLst/>
          </a:prstGeom>
          <a:noFill/>
        </p:spPr>
        <p:txBody>
          <a:bodyPr vert="horz" wrap="square" lIns="0" tIns="0" rIns="0" bIns="0" rtlCol="0">
            <a:noAutofit/>
          </a:bodyPr>
          <a:lstStyle/>
          <a:p>
            <a:r>
              <a:rPr sz="2800" b="1">
                <a:solidFill>
                  <a:srgbClr val="102136"/>
                </a:solidFill>
                <a:latin typeface="Segoe UI" panose="020B0502040204020203"/>
              </a:rPr>
              <a:t>Tổng hợp, khóa kỳ đã chốt và xóa kỳ nháp</a:t>
            </a:r>
            <a:endParaRPr sz="2800" b="1">
              <a:solidFill>
                <a:srgbClr val="102136"/>
              </a:solidFill>
              <a:latin typeface="Segoe UI" panose="020B0502040204020203"/>
            </a:endParaRPr>
          </a:p>
        </p:txBody>
      </p:sp>
      <p:sp>
        <p:nvSpPr>
          <p:cNvPr id="5" name="TextBox 4"/>
          <p:cNvSpPr txBox="1"/>
          <p:nvPr/>
        </p:nvSpPr>
        <p:spPr>
          <a:xfrm>
            <a:off x="508000" y="1409700"/>
            <a:ext cx="111760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Function / View · trigger bảo vệ kỳ · sp_XoaKyLuongChuaChot · index</a:t>
            </a:r>
            <a:endParaRPr sz="1200">
              <a:solidFill>
                <a:srgbClr val="51647A"/>
              </a:solidFill>
              <a:latin typeface="Segoe UI" panose="020B0502040204020203"/>
            </a:endParaRPr>
          </a:p>
        </p:txBody>
      </p:sp>
      <p:sp>
        <p:nvSpPr>
          <p:cNvPr id="6" name="Rectangle 5"/>
          <p:cNvSpPr/>
          <p:nvPr/>
        </p:nvSpPr>
        <p:spPr>
          <a:xfrm>
            <a:off x="508000" y="6426200"/>
            <a:ext cx="11176000" cy="12700"/>
          </a:xfrm>
          <a:prstGeom prst="rect">
            <a:avLst/>
          </a:prstGeom>
          <a:solidFill>
            <a:srgbClr val="DDE5EE"/>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508000" y="6591300"/>
            <a:ext cx="9525000" cy="276999"/>
          </a:xfrm>
          <a:prstGeom prst="rect">
            <a:avLst/>
          </a:prstGeom>
          <a:noFill/>
        </p:spPr>
        <p:txBody>
          <a:bodyPr vert="horz" wrap="square" lIns="0" tIns="0" rIns="0" bIns="0" rtlCol="0">
            <a:noAutofit/>
          </a:bodyPr>
          <a:lstStyle/>
          <a:p>
            <a:r>
              <a:rPr sz="1000">
                <a:solidFill>
                  <a:srgbClr val="51647A"/>
                </a:solidFill>
                <a:latin typeface="Segoe UI" panose="020B0502040204020203"/>
              </a:rPr>
              <a:t>Trần Tiến Đạt  ·  MSSV 24110198  ·  Nhóm 06</a:t>
            </a:r>
            <a:endParaRPr sz="1000">
              <a:solidFill>
                <a:srgbClr val="51647A"/>
              </a:solidFill>
              <a:latin typeface="Segoe UI" panose="020B0502040204020203"/>
            </a:endParaRPr>
          </a:p>
        </p:txBody>
      </p:sp>
      <p:sp>
        <p:nvSpPr>
          <p:cNvPr id="8" name="TextBox 7"/>
          <p:cNvSpPr txBox="1"/>
          <p:nvPr/>
        </p:nvSpPr>
        <p:spPr>
          <a:xfrm>
            <a:off x="11163300" y="6540500"/>
            <a:ext cx="520700" cy="276999"/>
          </a:xfrm>
          <a:prstGeom prst="rect">
            <a:avLst/>
          </a:prstGeom>
          <a:noFill/>
        </p:spPr>
        <p:txBody>
          <a:bodyPr vert="horz" wrap="square" lIns="0" tIns="0" rIns="0" bIns="0" rtlCol="0">
            <a:noAutofit/>
          </a:bodyPr>
          <a:lstStyle/>
          <a:p>
            <a:r>
              <a:rPr sz="1300" b="1">
                <a:solidFill>
                  <a:srgbClr val="0F766E"/>
                </a:solidFill>
                <a:latin typeface="Segoe UI" panose="020B0502040204020203"/>
              </a:rPr>
              <a:t>8</a:t>
            </a:r>
            <a:endParaRPr sz="1300" b="1">
              <a:solidFill>
                <a:srgbClr val="0F766E"/>
              </a:solidFill>
              <a:latin typeface="Segoe UI" panose="020B0502040204020203"/>
            </a:endParaRPr>
          </a:p>
        </p:txBody>
      </p:sp>
      <p:sp>
        <p:nvSpPr>
          <p:cNvPr id="9" name="Rectangle: Rounded Corners 8"/>
          <p:cNvSpPr/>
          <p:nvPr/>
        </p:nvSpPr>
        <p:spPr>
          <a:xfrm>
            <a:off x="5080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685800" y="2184400"/>
            <a:ext cx="3048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1</a:t>
            </a:r>
            <a:endParaRPr sz="1200" b="1">
              <a:solidFill>
                <a:srgbClr val="0F766E"/>
              </a:solidFill>
              <a:latin typeface="Segoe UI" panose="020B0502040204020203"/>
            </a:endParaRPr>
          </a:p>
        </p:txBody>
      </p:sp>
      <p:sp>
        <p:nvSpPr>
          <p:cNvPr id="11" name="TextBox 10"/>
          <p:cNvSpPr txBox="1"/>
          <p:nvPr/>
        </p:nvSpPr>
        <p:spPr>
          <a:xfrm>
            <a:off x="685800" y="2578100"/>
            <a:ext cx="1727200" cy="276999"/>
          </a:xfrm>
          <a:prstGeom prst="rect">
            <a:avLst/>
          </a:prstGeom>
          <a:noFill/>
        </p:spPr>
        <p:txBody>
          <a:bodyPr vert="horz" wrap="square" lIns="0" tIns="0" rIns="0" bIns="0" rtlCol="0">
            <a:noAutofit/>
          </a:bodyPr>
          <a:lstStyle/>
          <a:p>
            <a:r>
              <a:rPr sz="1400" b="1">
                <a:solidFill>
                  <a:srgbClr val="102136"/>
                </a:solidFill>
                <a:latin typeface="Segoe UI" panose="020B0502040204020203"/>
              </a:rPr>
              <a:t>FUNCTION / VIEW</a:t>
            </a:r>
            <a:endParaRPr sz="1400" b="1">
              <a:solidFill>
                <a:srgbClr val="102136"/>
              </a:solidFill>
              <a:latin typeface="Segoe UI" panose="020B0502040204020203"/>
            </a:endParaRPr>
          </a:p>
          <a:p>
            <a:endParaRPr sz="1400"/>
          </a:p>
        </p:txBody>
      </p:sp>
      <p:cxnSp>
        <p:nvCxnSpPr>
          <p:cNvPr id="12" name="Straight Connector 11"/>
          <p:cNvCxnSpPr/>
          <p:nvPr/>
        </p:nvCxnSpPr>
        <p:spPr>
          <a:xfrm>
            <a:off x="26162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13" name="Rectangle: Rounded Corners 12"/>
          <p:cNvSpPr/>
          <p:nvPr/>
        </p:nvSpPr>
        <p:spPr>
          <a:xfrm>
            <a:off x="27813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2959100" y="2184400"/>
            <a:ext cx="3048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2</a:t>
            </a:r>
            <a:endParaRPr sz="1200" b="1">
              <a:solidFill>
                <a:srgbClr val="0F766E"/>
              </a:solidFill>
              <a:latin typeface="Segoe UI" panose="020B0502040204020203"/>
            </a:endParaRPr>
          </a:p>
        </p:txBody>
      </p:sp>
      <p:sp>
        <p:nvSpPr>
          <p:cNvPr id="15" name="TextBox 14"/>
          <p:cNvSpPr txBox="1"/>
          <p:nvPr/>
        </p:nvSpPr>
        <p:spPr>
          <a:xfrm>
            <a:off x="2959100" y="2578100"/>
            <a:ext cx="1727200" cy="276999"/>
          </a:xfrm>
          <a:prstGeom prst="rect">
            <a:avLst/>
          </a:prstGeom>
          <a:noFill/>
        </p:spPr>
        <p:txBody>
          <a:bodyPr vert="horz" wrap="square" lIns="0" tIns="0" rIns="0" bIns="0" rtlCol="0">
            <a:noAutofit/>
          </a:bodyPr>
          <a:lstStyle/>
          <a:p>
            <a:r>
              <a:rPr sz="1400" b="1">
                <a:solidFill>
                  <a:srgbClr val="102136"/>
                </a:solidFill>
                <a:latin typeface="Segoe UI" panose="020B0502040204020203"/>
              </a:rPr>
              <a:t>TỔNG HỢP
THEO KỲ</a:t>
            </a:r>
            <a:endParaRPr sz="1400" b="1">
              <a:solidFill>
                <a:srgbClr val="102136"/>
              </a:solidFill>
              <a:latin typeface="Segoe UI" panose="020B0502040204020203"/>
            </a:endParaRPr>
          </a:p>
          <a:p>
            <a:endParaRPr sz="1400"/>
          </a:p>
        </p:txBody>
      </p:sp>
      <p:cxnSp>
        <p:nvCxnSpPr>
          <p:cNvPr id="16" name="Straight Connector 15"/>
          <p:cNvCxnSpPr/>
          <p:nvPr/>
        </p:nvCxnSpPr>
        <p:spPr>
          <a:xfrm>
            <a:off x="48895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17" name="Rectangle: Rounded Corners 16"/>
          <p:cNvSpPr/>
          <p:nvPr/>
        </p:nvSpPr>
        <p:spPr>
          <a:xfrm>
            <a:off x="50546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5232400" y="2184400"/>
            <a:ext cx="3048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3</a:t>
            </a:r>
            <a:endParaRPr sz="1200" b="1">
              <a:solidFill>
                <a:srgbClr val="0F766E"/>
              </a:solidFill>
              <a:latin typeface="Segoe UI" panose="020B0502040204020203"/>
            </a:endParaRPr>
          </a:p>
        </p:txBody>
      </p:sp>
      <p:sp>
        <p:nvSpPr>
          <p:cNvPr id="19" name="TextBox 18"/>
          <p:cNvSpPr txBox="1"/>
          <p:nvPr/>
        </p:nvSpPr>
        <p:spPr>
          <a:xfrm>
            <a:off x="5232400" y="2578100"/>
            <a:ext cx="1727200" cy="276999"/>
          </a:xfrm>
          <a:prstGeom prst="rect">
            <a:avLst/>
          </a:prstGeom>
          <a:noFill/>
        </p:spPr>
        <p:txBody>
          <a:bodyPr vert="horz" wrap="square" lIns="0" tIns="0" rIns="0" bIns="0" rtlCol="0">
            <a:noAutofit/>
          </a:bodyPr>
          <a:lstStyle/>
          <a:p>
            <a:r>
              <a:rPr sz="1400" b="1">
                <a:solidFill>
                  <a:srgbClr val="102136"/>
                </a:solidFill>
                <a:latin typeface="Segoe UI" panose="020B0502040204020203"/>
              </a:rPr>
              <a:t>TRIGGER
CHẶN KỲ ĐÃ CHỐT</a:t>
            </a:r>
            <a:endParaRPr sz="1400" b="1">
              <a:solidFill>
                <a:srgbClr val="102136"/>
              </a:solidFill>
              <a:latin typeface="Segoe UI" panose="020B0502040204020203"/>
            </a:endParaRPr>
          </a:p>
          <a:p>
            <a:endParaRPr sz="1400"/>
          </a:p>
        </p:txBody>
      </p:sp>
      <p:cxnSp>
        <p:nvCxnSpPr>
          <p:cNvPr id="20" name="Straight Connector 19"/>
          <p:cNvCxnSpPr/>
          <p:nvPr/>
        </p:nvCxnSpPr>
        <p:spPr>
          <a:xfrm>
            <a:off x="71628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p:cNvSpPr/>
          <p:nvPr/>
        </p:nvSpPr>
        <p:spPr>
          <a:xfrm>
            <a:off x="73279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p:cNvSpPr txBox="1"/>
          <p:nvPr/>
        </p:nvSpPr>
        <p:spPr>
          <a:xfrm>
            <a:off x="7505700" y="2184400"/>
            <a:ext cx="3048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4</a:t>
            </a:r>
            <a:endParaRPr sz="1200" b="1">
              <a:solidFill>
                <a:srgbClr val="0F766E"/>
              </a:solidFill>
              <a:latin typeface="Segoe UI" panose="020B0502040204020203"/>
            </a:endParaRPr>
          </a:p>
        </p:txBody>
      </p:sp>
      <p:sp>
        <p:nvSpPr>
          <p:cNvPr id="23" name="TextBox 22"/>
          <p:cNvSpPr txBox="1"/>
          <p:nvPr/>
        </p:nvSpPr>
        <p:spPr>
          <a:xfrm>
            <a:off x="7505700" y="2578100"/>
            <a:ext cx="1727200" cy="276999"/>
          </a:xfrm>
          <a:prstGeom prst="rect">
            <a:avLst/>
          </a:prstGeom>
          <a:noFill/>
        </p:spPr>
        <p:txBody>
          <a:bodyPr vert="horz" wrap="square" lIns="0" tIns="0" rIns="0" bIns="0" rtlCol="0">
            <a:noAutofit/>
          </a:bodyPr>
          <a:lstStyle/>
          <a:p>
            <a:r>
              <a:rPr sz="1400" b="1">
                <a:solidFill>
                  <a:srgbClr val="102136"/>
                </a:solidFill>
                <a:latin typeface="Segoe UI" panose="020B0502040204020203"/>
              </a:rPr>
              <a:t>XÓA KỲ NHÁP
TRONG TRANSACTION</a:t>
            </a:r>
            <a:endParaRPr sz="1400" b="1">
              <a:solidFill>
                <a:srgbClr val="102136"/>
              </a:solidFill>
              <a:latin typeface="Segoe UI" panose="020B0502040204020203"/>
            </a:endParaRPr>
          </a:p>
          <a:p>
            <a:endParaRPr sz="1400"/>
          </a:p>
        </p:txBody>
      </p:sp>
      <p:cxnSp>
        <p:nvCxnSpPr>
          <p:cNvPr id="24" name="Straight Connector 23"/>
          <p:cNvCxnSpPr/>
          <p:nvPr/>
        </p:nvCxnSpPr>
        <p:spPr>
          <a:xfrm>
            <a:off x="94361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25" name="Rectangle: Rounded Corners 24"/>
          <p:cNvSpPr/>
          <p:nvPr/>
        </p:nvSpPr>
        <p:spPr>
          <a:xfrm>
            <a:off x="9601200" y="2057400"/>
            <a:ext cx="2082800" cy="1168400"/>
          </a:xfrm>
          <a:prstGeom prst="roundRect">
            <a:avLst>
              <a:gd name="adj" fmla="val 10000"/>
            </a:avLst>
          </a:prstGeom>
          <a:solidFill>
            <a:srgbClr val="E6F4E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9779000" y="2184400"/>
            <a:ext cx="3048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5</a:t>
            </a:r>
            <a:endParaRPr sz="1200" b="1">
              <a:solidFill>
                <a:srgbClr val="0F766E"/>
              </a:solidFill>
              <a:latin typeface="Segoe UI" panose="020B0502040204020203"/>
            </a:endParaRPr>
          </a:p>
        </p:txBody>
      </p:sp>
      <p:sp>
        <p:nvSpPr>
          <p:cNvPr id="27" name="TextBox 26"/>
          <p:cNvSpPr txBox="1"/>
          <p:nvPr/>
        </p:nvSpPr>
        <p:spPr>
          <a:xfrm>
            <a:off x="9779000" y="2578100"/>
            <a:ext cx="1727200" cy="276999"/>
          </a:xfrm>
          <a:prstGeom prst="rect">
            <a:avLst/>
          </a:prstGeom>
          <a:noFill/>
        </p:spPr>
        <p:txBody>
          <a:bodyPr vert="horz" wrap="square" lIns="0" tIns="0" rIns="0" bIns="0" rtlCol="0">
            <a:noAutofit/>
          </a:bodyPr>
          <a:lstStyle/>
          <a:p>
            <a:r>
              <a:rPr sz="1400" b="1">
                <a:solidFill>
                  <a:srgbClr val="102136"/>
                </a:solidFill>
                <a:latin typeface="Segoe UI" panose="020B0502040204020203"/>
              </a:rPr>
              <a:t>COMMIT</a:t>
            </a:r>
            <a:endParaRPr sz="1400" b="1">
              <a:solidFill>
                <a:srgbClr val="102136"/>
              </a:solidFill>
              <a:latin typeface="Segoe UI" panose="020B0502040204020203"/>
            </a:endParaRPr>
          </a:p>
        </p:txBody>
      </p:sp>
      <p:sp>
        <p:nvSpPr>
          <p:cNvPr id="28" name="Rectangle: Rounded Corners 27"/>
          <p:cNvSpPr/>
          <p:nvPr/>
        </p:nvSpPr>
        <p:spPr>
          <a:xfrm>
            <a:off x="508000" y="3429000"/>
            <a:ext cx="11176000" cy="533400"/>
          </a:xfrm>
          <a:prstGeom prst="roundRect">
            <a:avLst>
              <a:gd name="adj" fmla="val 10000"/>
            </a:avLst>
          </a:prstGeom>
          <a:solidFill>
            <a:srgbClr val="FFF0ED"/>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723900" y="3568700"/>
            <a:ext cx="10731500" cy="276999"/>
          </a:xfrm>
          <a:prstGeom prst="rect">
            <a:avLst/>
          </a:prstGeom>
          <a:noFill/>
        </p:spPr>
        <p:txBody>
          <a:bodyPr vert="horz" wrap="square" lIns="0" tIns="0" rIns="0" bIns="0" rtlCol="0">
            <a:noAutofit/>
          </a:bodyPr>
          <a:lstStyle/>
          <a:p>
            <a:r>
              <a:rPr sz="1600" b="1">
                <a:solidFill>
                  <a:srgbClr val="B42318"/>
                </a:solidFill>
                <a:latin typeface="Segoe UI" panose="020B0502040204020203"/>
              </a:rPr>
              <a:t>Có lỗi → ROLLBACK: tránh xóa kỳ nháp dở dang</a:t>
            </a:r>
            <a:endParaRPr sz="1600" b="1">
              <a:solidFill>
                <a:srgbClr val="B42318"/>
              </a:solidFill>
              <a:latin typeface="Segoe UI" panose="020B0502040204020203"/>
            </a:endParaRPr>
          </a:p>
        </p:txBody>
      </p:sp>
      <p:sp>
        <p:nvSpPr>
          <p:cNvPr id="30" name="Rectangle: Rounded Corners 29"/>
          <p:cNvSpPr/>
          <p:nvPr/>
        </p:nvSpPr>
        <p:spPr>
          <a:xfrm>
            <a:off x="508000" y="4203700"/>
            <a:ext cx="5448300" cy="1803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p:cNvSpPr/>
          <p:nvPr/>
        </p:nvSpPr>
        <p:spPr>
          <a:xfrm>
            <a:off x="6210300" y="4203700"/>
            <a:ext cx="5473700" cy="1803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p:cNvSpPr txBox="1"/>
          <p:nvPr/>
        </p:nvSpPr>
        <p:spPr>
          <a:xfrm>
            <a:off x="736600" y="4406900"/>
            <a:ext cx="49530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TỔNG HỢP &amp; TRA CỨU</a:t>
            </a:r>
            <a:endParaRPr sz="1200" b="1">
              <a:solidFill>
                <a:srgbClr val="0F766E"/>
              </a:solidFill>
              <a:latin typeface="Segoe UI" panose="020B0502040204020203"/>
            </a:endParaRPr>
          </a:p>
        </p:txBody>
      </p:sp>
      <p:sp>
        <p:nvSpPr>
          <p:cNvPr id="33" name="TextBox 32"/>
          <p:cNvSpPr txBox="1"/>
          <p:nvPr/>
        </p:nvSpPr>
        <p:spPr>
          <a:xfrm>
            <a:off x="736600" y="4851400"/>
            <a:ext cx="4953000" cy="276999"/>
          </a:xfrm>
          <a:prstGeom prst="rect">
            <a:avLst/>
          </a:prstGeom>
          <a:noFill/>
        </p:spPr>
        <p:txBody>
          <a:bodyPr vert="horz" wrap="square" lIns="0" tIns="0" rIns="0" bIns="0" rtlCol="0">
            <a:noAutofit/>
          </a:bodyPr>
          <a:lstStyle/>
          <a:p>
            <a:r>
              <a:rPr sz="1300">
                <a:solidFill>
                  <a:srgbClr val="102136"/>
                </a:solidFill>
                <a:latin typeface="Segoe UI" panose="020B0502040204020203"/>
              </a:rPr>
              <a:t>Function/View tổng hợp phụ cấp, khấu trừ
Lọc dữ liệu theo nhân viên và kỳ
Index hỗ trợ điều kiện lọc</a:t>
            </a:r>
            <a:endParaRPr sz="1300">
              <a:solidFill>
                <a:srgbClr val="102136"/>
              </a:solidFill>
              <a:latin typeface="Segoe UI" panose="020B0502040204020203"/>
            </a:endParaRPr>
          </a:p>
          <a:p>
            <a:endParaRPr sz="1300"/>
          </a:p>
          <a:p>
            <a:endParaRPr sz="1300"/>
          </a:p>
        </p:txBody>
      </p:sp>
      <p:sp>
        <p:nvSpPr>
          <p:cNvPr id="34" name="TextBox 33"/>
          <p:cNvSpPr txBox="1"/>
          <p:nvPr/>
        </p:nvSpPr>
        <p:spPr>
          <a:xfrm>
            <a:off x="6438900" y="4406900"/>
            <a:ext cx="4940300" cy="276999"/>
          </a:xfrm>
          <a:prstGeom prst="rect">
            <a:avLst/>
          </a:prstGeom>
          <a:noFill/>
        </p:spPr>
        <p:txBody>
          <a:bodyPr vert="horz" wrap="square" lIns="0" tIns="0" rIns="0" bIns="0" rtlCol="0">
            <a:noAutofit/>
          </a:bodyPr>
          <a:lstStyle/>
          <a:p>
            <a:r>
              <a:rPr sz="1200" b="1">
                <a:solidFill>
                  <a:srgbClr val="0F766E"/>
                </a:solidFill>
                <a:latin typeface="Segoe UI" panose="020B0502040204020203"/>
              </a:rPr>
              <a:t>BẢO VỆ DỮ LIỆU</a:t>
            </a:r>
            <a:endParaRPr sz="1200" b="1">
              <a:solidFill>
                <a:srgbClr val="0F766E"/>
              </a:solidFill>
              <a:latin typeface="Segoe UI" panose="020B0502040204020203"/>
            </a:endParaRPr>
          </a:p>
        </p:txBody>
      </p:sp>
      <p:sp>
        <p:nvSpPr>
          <p:cNvPr id="35" name="TextBox 34"/>
          <p:cNvSpPr txBox="1"/>
          <p:nvPr/>
        </p:nvSpPr>
        <p:spPr>
          <a:xfrm>
            <a:off x="6438900" y="4851400"/>
            <a:ext cx="4940300" cy="276999"/>
          </a:xfrm>
          <a:prstGeom prst="rect">
            <a:avLst/>
          </a:prstGeom>
          <a:noFill/>
        </p:spPr>
        <p:txBody>
          <a:bodyPr vert="horz" wrap="square" lIns="0" tIns="0" rIns="0" bIns="0" rtlCol="0">
            <a:noAutofit/>
          </a:bodyPr>
          <a:lstStyle/>
          <a:p>
            <a:r>
              <a:rPr sz="1300">
                <a:solidFill>
                  <a:srgbClr val="102136"/>
                </a:solidFill>
                <a:latin typeface="Segoe UI" panose="020B0502040204020203"/>
              </a:rPr>
              <a:t>Trigger chặn thay đổi kỳ đã chốt
sp_XoaKyLuongChuaChot chỉ xử lý kỳ nháp
Thử nghiệm trên fixture QA, không dùng kỳ chính</a:t>
            </a:r>
            <a:endParaRPr sz="1300">
              <a:solidFill>
                <a:srgbClr val="102136"/>
              </a:solidFill>
              <a:latin typeface="Segoe UI" panose="020B0502040204020203"/>
            </a:endParaRPr>
          </a:p>
          <a:p>
            <a:endParaRPr sz="1300"/>
          </a:p>
          <a:p>
            <a:endParaRPr sz="13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8FC"/>
        </a:solidFill>
        <a:effectLst/>
      </p:bgPr>
    </p:bg>
    <p:spTree>
      <p:nvGrpSpPr>
        <p:cNvPr id="1" name=""/>
        <p:cNvGrpSpPr/>
        <p:nvPr/>
      </p:nvGrpSpPr>
      <p:grpSpPr>
        <a:xfrm>
          <a:off x="0" y="0"/>
          <a:ext cx="0" cy="0"/>
          <a:chOff x="0" y="0"/>
          <a:chExt cx="0" cy="0"/>
        </a:xfrm>
      </p:grpSpPr>
      <p:sp>
        <p:nvSpPr>
          <p:cNvPr id="2" name="Rectangle: Rounded Corners 1"/>
          <p:cNvSpPr/>
          <p:nvPr/>
        </p:nvSpPr>
        <p:spPr>
          <a:xfrm>
            <a:off x="508000" y="330200"/>
            <a:ext cx="1638300" cy="3048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35000" y="393700"/>
            <a:ext cx="1409700" cy="276999"/>
          </a:xfrm>
          <a:prstGeom prst="rect">
            <a:avLst/>
          </a:prstGeom>
          <a:noFill/>
        </p:spPr>
        <p:txBody>
          <a:bodyPr vert="horz" wrap="square" lIns="0" tIns="0" rIns="0" bIns="0" rtlCol="0">
            <a:noAutofit/>
          </a:bodyPr>
          <a:lstStyle/>
          <a:p>
            <a:r>
              <a:rPr sz="1000" b="1">
                <a:solidFill>
                  <a:srgbClr val="0F766E"/>
                </a:solidFill>
                <a:latin typeface="Segoe UI" panose="020B0502040204020203"/>
              </a:rPr>
              <a:t>TV3 · PHỤ CẤP &amp; KHẤU TRỪ</a:t>
            </a:r>
            <a:endParaRPr sz="1000" b="1">
              <a:solidFill>
                <a:srgbClr val="0F766E"/>
              </a:solidFill>
              <a:latin typeface="Segoe UI" panose="020B0502040204020203"/>
            </a:endParaRPr>
          </a:p>
        </p:txBody>
      </p:sp>
      <p:sp>
        <p:nvSpPr>
          <p:cNvPr id="4" name="TextBox 3"/>
          <p:cNvSpPr txBox="1"/>
          <p:nvPr/>
        </p:nvSpPr>
        <p:spPr>
          <a:xfrm>
            <a:off x="508000" y="838200"/>
            <a:ext cx="11176000" cy="276999"/>
          </a:xfrm>
          <a:prstGeom prst="rect">
            <a:avLst/>
          </a:prstGeom>
          <a:noFill/>
        </p:spPr>
        <p:txBody>
          <a:bodyPr vert="horz" wrap="square" lIns="0" tIns="0" rIns="0" bIns="0" rtlCol="0">
            <a:noAutofit/>
          </a:bodyPr>
          <a:lstStyle/>
          <a:p>
            <a:r>
              <a:rPr sz="2800" b="1">
                <a:solidFill>
                  <a:srgbClr val="102136"/>
                </a:solidFill>
                <a:latin typeface="Segoe UI" panose="020B0502040204020203"/>
              </a:rPr>
              <a:t>Giao diện lọc kỳ và minh chứng QA SQL</a:t>
            </a:r>
            <a:endParaRPr sz="2800" b="1">
              <a:solidFill>
                <a:srgbClr val="102136"/>
              </a:solidFill>
              <a:latin typeface="Segoe UI" panose="020B0502040204020203"/>
            </a:endParaRPr>
          </a:p>
        </p:txBody>
      </p:sp>
      <p:sp>
        <p:nvSpPr>
          <p:cNvPr id="5" name="TextBox 4"/>
          <p:cNvSpPr txBox="1"/>
          <p:nvPr/>
        </p:nvSpPr>
        <p:spPr>
          <a:xfrm>
            <a:off x="508000" y="1409700"/>
            <a:ext cx="11176000" cy="276999"/>
          </a:xfrm>
          <a:prstGeom prst="rect">
            <a:avLst/>
          </a:prstGeom>
          <a:noFill/>
        </p:spPr>
        <p:txBody>
          <a:bodyPr vert="horz" wrap="square" lIns="0" tIns="0" rIns="0" bIns="0" rtlCol="0">
            <a:noAutofit/>
          </a:bodyPr>
          <a:lstStyle/>
          <a:p>
            <a:r>
              <a:rPr sz="1200">
                <a:solidFill>
                  <a:srgbClr val="51647A"/>
                </a:solidFill>
                <a:latin typeface="Segoe UI" panose="020B0502040204020203"/>
              </a:rPr>
              <a:t>Lọc tháng/năm → xác minh function, view, constraint và xóa kỳ</a:t>
            </a:r>
            <a:endParaRPr sz="1200">
              <a:solidFill>
                <a:srgbClr val="51647A"/>
              </a:solidFill>
              <a:latin typeface="Segoe UI" panose="020B0502040204020203"/>
            </a:endParaRPr>
          </a:p>
        </p:txBody>
      </p:sp>
      <p:sp>
        <p:nvSpPr>
          <p:cNvPr id="6" name="Rectangle 5"/>
          <p:cNvSpPr/>
          <p:nvPr/>
        </p:nvSpPr>
        <p:spPr>
          <a:xfrm>
            <a:off x="508000" y="6426200"/>
            <a:ext cx="11176000" cy="12700"/>
          </a:xfrm>
          <a:prstGeom prst="rect">
            <a:avLst/>
          </a:prstGeom>
          <a:solidFill>
            <a:srgbClr val="DDE5EE"/>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508000" y="6591300"/>
            <a:ext cx="9525000" cy="276999"/>
          </a:xfrm>
          <a:prstGeom prst="rect">
            <a:avLst/>
          </a:prstGeom>
          <a:noFill/>
        </p:spPr>
        <p:txBody>
          <a:bodyPr vert="horz" wrap="square" lIns="0" tIns="0" rIns="0" bIns="0" rtlCol="0">
            <a:noAutofit/>
          </a:bodyPr>
          <a:lstStyle/>
          <a:p>
            <a:r>
              <a:rPr sz="1000">
                <a:solidFill>
                  <a:srgbClr val="51647A"/>
                </a:solidFill>
                <a:latin typeface="Segoe UI" panose="020B0502040204020203"/>
              </a:rPr>
              <a:t>Trần Tiến Đạt  ·  MSSV 24110198  ·  Nhóm 06</a:t>
            </a:r>
            <a:endParaRPr sz="1000">
              <a:solidFill>
                <a:srgbClr val="51647A"/>
              </a:solidFill>
              <a:latin typeface="Segoe UI" panose="020B0502040204020203"/>
            </a:endParaRPr>
          </a:p>
        </p:txBody>
      </p:sp>
      <p:sp>
        <p:nvSpPr>
          <p:cNvPr id="8" name="TextBox 7"/>
          <p:cNvSpPr txBox="1"/>
          <p:nvPr/>
        </p:nvSpPr>
        <p:spPr>
          <a:xfrm>
            <a:off x="11163300" y="6540500"/>
            <a:ext cx="520700" cy="276999"/>
          </a:xfrm>
          <a:prstGeom prst="rect">
            <a:avLst/>
          </a:prstGeom>
          <a:noFill/>
        </p:spPr>
        <p:txBody>
          <a:bodyPr vert="horz" wrap="square" lIns="0" tIns="0" rIns="0" bIns="0" rtlCol="0">
            <a:noAutofit/>
          </a:bodyPr>
          <a:lstStyle/>
          <a:p>
            <a:r>
              <a:rPr sz="1300" b="1">
                <a:solidFill>
                  <a:srgbClr val="0F766E"/>
                </a:solidFill>
                <a:latin typeface="Segoe UI" panose="020B0502040204020203"/>
              </a:rPr>
              <a:t>9</a:t>
            </a:r>
            <a:endParaRPr sz="1300" b="1">
              <a:solidFill>
                <a:srgbClr val="0F766E"/>
              </a:solidFill>
              <a:latin typeface="Segoe UI" panose="020B0502040204020203"/>
            </a:endParaRPr>
          </a:p>
        </p:txBody>
      </p:sp>
      <p:sp>
        <p:nvSpPr>
          <p:cNvPr id="9" name="Rectangle: Rounded Corners 8"/>
          <p:cNvSpPr/>
          <p:nvPr/>
        </p:nvSpPr>
        <p:spPr>
          <a:xfrm>
            <a:off x="508000" y="2019300"/>
            <a:ext cx="11176000" cy="6350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736600" y="2222500"/>
            <a:ext cx="10731500" cy="276999"/>
          </a:xfrm>
          <a:prstGeom prst="rect">
            <a:avLst/>
          </a:prstGeom>
          <a:noFill/>
        </p:spPr>
        <p:txBody>
          <a:bodyPr vert="horz" wrap="square" lIns="0" tIns="0" rIns="0" bIns="0" rtlCol="0">
            <a:noAutofit/>
          </a:bodyPr>
          <a:lstStyle/>
          <a:p>
            <a:r>
              <a:rPr b="1">
                <a:solidFill>
                  <a:srgbClr val="102136"/>
                </a:solidFill>
                <a:latin typeface="Segoe UI" panose="020B0502040204020203"/>
              </a:rPr>
              <a:t>GIAO DIỆN TV3   →   LỌC THEO THÁNG / NĂM</a:t>
            </a:r>
            <a:endParaRPr b="1">
              <a:solidFill>
                <a:srgbClr val="102136"/>
              </a:solidFill>
              <a:latin typeface="Segoe UI" panose="020B0502040204020203"/>
            </a:endParaRPr>
          </a:p>
        </p:txBody>
      </p:sp>
      <p:sp>
        <p:nvSpPr>
          <p:cNvPr id="11" name="Rectangle: Rounded Corners 10"/>
          <p:cNvSpPr/>
          <p:nvPr/>
        </p:nvSpPr>
        <p:spPr>
          <a:xfrm>
            <a:off x="508000" y="2946400"/>
            <a:ext cx="3543300" cy="15494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736600" y="3149600"/>
            <a:ext cx="3086100" cy="276999"/>
          </a:xfrm>
          <a:prstGeom prst="rect">
            <a:avLst/>
          </a:prstGeom>
          <a:noFill/>
        </p:spPr>
        <p:txBody>
          <a:bodyPr vert="horz" wrap="square" lIns="0" tIns="0" rIns="0" bIns="0" rtlCol="0">
            <a:noAutofit/>
          </a:bodyPr>
          <a:lstStyle/>
          <a:p>
            <a:r>
              <a:rPr sz="1100" b="1">
                <a:solidFill>
                  <a:srgbClr val="0F766E"/>
                </a:solidFill>
                <a:latin typeface="Segoe UI" panose="020B0502040204020203"/>
              </a:rPr>
              <a:t>GIAO DIỆN</a:t>
            </a:r>
            <a:endParaRPr sz="1100" b="1">
              <a:solidFill>
                <a:srgbClr val="0F766E"/>
              </a:solidFill>
              <a:latin typeface="Segoe UI" panose="020B0502040204020203"/>
            </a:endParaRPr>
          </a:p>
        </p:txBody>
      </p:sp>
      <p:sp>
        <p:nvSpPr>
          <p:cNvPr id="13" name="TextBox 12"/>
          <p:cNvSpPr txBox="1"/>
          <p:nvPr/>
        </p:nvSpPr>
        <p:spPr>
          <a:xfrm>
            <a:off x="736600" y="3581400"/>
            <a:ext cx="3086100" cy="276999"/>
          </a:xfrm>
          <a:prstGeom prst="rect">
            <a:avLst/>
          </a:prstGeom>
          <a:noFill/>
        </p:spPr>
        <p:txBody>
          <a:bodyPr vert="horz" wrap="square" lIns="0" tIns="0" rIns="0" bIns="0" rtlCol="0">
            <a:noAutofit/>
          </a:bodyPr>
          <a:lstStyle/>
          <a:p>
            <a:r>
              <a:rPr sz="2900" b="1">
                <a:solidFill>
                  <a:srgbClr val="0F766E"/>
                </a:solidFill>
                <a:latin typeface="Segoe UI" panose="020B0502040204020203"/>
              </a:rPr>
              <a:t>BỘ LỌC KỲ</a:t>
            </a:r>
            <a:endParaRPr sz="2900" b="1">
              <a:solidFill>
                <a:srgbClr val="0F766E"/>
              </a:solidFill>
              <a:latin typeface="Segoe UI" panose="020B0502040204020203"/>
            </a:endParaRPr>
          </a:p>
        </p:txBody>
      </p:sp>
      <p:sp>
        <p:nvSpPr>
          <p:cNvPr id="14" name="TextBox 13"/>
          <p:cNvSpPr txBox="1"/>
          <p:nvPr/>
        </p:nvSpPr>
        <p:spPr>
          <a:xfrm>
            <a:off x="736600" y="4165600"/>
            <a:ext cx="3086100" cy="276999"/>
          </a:xfrm>
          <a:prstGeom prst="rect">
            <a:avLst/>
          </a:prstGeom>
          <a:noFill/>
        </p:spPr>
        <p:txBody>
          <a:bodyPr vert="horz" wrap="square" lIns="0" tIns="0" rIns="0" bIns="0" rtlCol="0">
            <a:noAutofit/>
          </a:bodyPr>
          <a:lstStyle/>
          <a:p>
            <a:r>
              <a:rPr sz="1100">
                <a:solidFill>
                  <a:srgbClr val="51647A"/>
                </a:solidFill>
                <a:latin typeface="Segoe UI" panose="020B0502040204020203"/>
              </a:rPr>
              <a:t>Tháng / Năm</a:t>
            </a:r>
            <a:endParaRPr sz="1100">
              <a:solidFill>
                <a:srgbClr val="51647A"/>
              </a:solidFill>
              <a:latin typeface="Segoe UI" panose="020B0502040204020203"/>
            </a:endParaRPr>
          </a:p>
        </p:txBody>
      </p:sp>
      <p:sp>
        <p:nvSpPr>
          <p:cNvPr id="15" name="Rectangle: Rounded Corners 14"/>
          <p:cNvSpPr/>
          <p:nvPr/>
        </p:nvSpPr>
        <p:spPr>
          <a:xfrm>
            <a:off x="4279900" y="2946400"/>
            <a:ext cx="7404100" cy="1549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4521200" y="3149600"/>
            <a:ext cx="6934200" cy="276999"/>
          </a:xfrm>
          <a:prstGeom prst="rect">
            <a:avLst/>
          </a:prstGeom>
          <a:noFill/>
        </p:spPr>
        <p:txBody>
          <a:bodyPr vert="horz" wrap="square" lIns="0" tIns="0" rIns="0" bIns="0" rtlCol="0">
            <a:noAutofit/>
          </a:bodyPr>
          <a:lstStyle/>
          <a:p>
            <a:r>
              <a:rPr sz="1100" b="1">
                <a:solidFill>
                  <a:srgbClr val="2563EB"/>
                </a:solidFill>
                <a:latin typeface="Segoe UI" panose="020B0502040204020203"/>
              </a:rPr>
              <a:t>BENCHMARK INDEX · LOGICAL READS</a:t>
            </a:r>
            <a:endParaRPr sz="1100" b="1">
              <a:solidFill>
                <a:srgbClr val="2563EB"/>
              </a:solidFill>
              <a:latin typeface="Segoe UI" panose="020B0502040204020203"/>
            </a:endParaRPr>
          </a:p>
        </p:txBody>
      </p:sp>
      <p:sp>
        <p:nvSpPr>
          <p:cNvPr id="17" name="TextBox 16"/>
          <p:cNvSpPr txBox="1"/>
          <p:nvPr/>
        </p:nvSpPr>
        <p:spPr>
          <a:xfrm>
            <a:off x="4521200" y="3543300"/>
            <a:ext cx="3810000" cy="276999"/>
          </a:xfrm>
          <a:prstGeom prst="rect">
            <a:avLst/>
          </a:prstGeom>
          <a:noFill/>
        </p:spPr>
        <p:txBody>
          <a:bodyPr vert="horz" wrap="square" lIns="0" tIns="0" rIns="0" bIns="0" rtlCol="0">
            <a:noAutofit/>
          </a:bodyPr>
          <a:lstStyle/>
          <a:p>
            <a:r>
              <a:rPr sz="3100" b="1">
                <a:solidFill>
                  <a:srgbClr val="102136"/>
                </a:solidFill>
                <a:latin typeface="Segoe UI" panose="020B0502040204020203"/>
              </a:rPr>
              <a:t>642  →  2</a:t>
            </a:r>
            <a:endParaRPr sz="3100" b="1">
              <a:solidFill>
                <a:srgbClr val="102136"/>
              </a:solidFill>
              <a:latin typeface="Segoe UI" panose="020B0502040204020203"/>
            </a:endParaRPr>
          </a:p>
        </p:txBody>
      </p:sp>
      <p:sp>
        <p:nvSpPr>
          <p:cNvPr id="18" name="TextBox 17"/>
          <p:cNvSpPr txBox="1"/>
          <p:nvPr/>
        </p:nvSpPr>
        <p:spPr>
          <a:xfrm>
            <a:off x="8445500" y="3619500"/>
            <a:ext cx="3022600" cy="276999"/>
          </a:xfrm>
          <a:prstGeom prst="rect">
            <a:avLst/>
          </a:prstGeom>
          <a:noFill/>
        </p:spPr>
        <p:txBody>
          <a:bodyPr vert="horz" wrap="square" lIns="0" tIns="0" rIns="0" bIns="0" rtlCol="0">
            <a:noAutofit/>
          </a:bodyPr>
          <a:lstStyle/>
          <a:p>
            <a:r>
              <a:rPr sz="1500">
                <a:solidFill>
                  <a:srgbClr val="51647A"/>
                </a:solidFill>
                <a:latin typeface="Segoe UI" panose="020B0502040204020203"/>
              </a:rPr>
              <a:t>Fixture riêng · 30.000 dòng</a:t>
            </a:r>
            <a:endParaRPr sz="1500">
              <a:solidFill>
                <a:srgbClr val="51647A"/>
              </a:solidFill>
              <a:latin typeface="Segoe UI" panose="020B0502040204020203"/>
            </a:endParaRPr>
          </a:p>
        </p:txBody>
      </p:sp>
      <p:sp>
        <p:nvSpPr>
          <p:cNvPr id="19" name="TextBox 18"/>
          <p:cNvSpPr txBox="1"/>
          <p:nvPr/>
        </p:nvSpPr>
        <p:spPr>
          <a:xfrm>
            <a:off x="4521200" y="4165600"/>
            <a:ext cx="6921500" cy="276999"/>
          </a:xfrm>
          <a:prstGeom prst="rect">
            <a:avLst/>
          </a:prstGeom>
          <a:noFill/>
        </p:spPr>
        <p:txBody>
          <a:bodyPr vert="horz" wrap="square" lIns="0" tIns="0" rIns="0" bIns="0" rtlCol="0">
            <a:noAutofit/>
          </a:bodyPr>
          <a:lstStyle/>
          <a:p>
            <a:r>
              <a:rPr sz="1100">
                <a:solidFill>
                  <a:srgbClr val="51647A"/>
                </a:solidFill>
                <a:latin typeface="Segoe UI" panose="020B0502040204020203"/>
              </a:rPr>
              <a:t>Benchmark TV3 · đối chiếu cùng truy vấn và actual plan</a:t>
            </a:r>
            <a:endParaRPr sz="1100">
              <a:solidFill>
                <a:srgbClr val="51647A"/>
              </a:solidFill>
              <a:latin typeface="Segoe UI" panose="020B0502040204020203"/>
            </a:endParaRPr>
          </a:p>
        </p:txBody>
      </p:sp>
      <p:sp>
        <p:nvSpPr>
          <p:cNvPr id="20" name="Rectangle: Rounded Corners 19"/>
          <p:cNvSpPr/>
          <p:nvPr/>
        </p:nvSpPr>
        <p:spPr>
          <a:xfrm>
            <a:off x="508000" y="4749800"/>
            <a:ext cx="11176000" cy="1219200"/>
          </a:xfrm>
          <a:prstGeom prst="roundRect">
            <a:avLst>
              <a:gd name="adj" fmla="val 10000"/>
            </a:avLst>
          </a:prstGeom>
          <a:solidFill>
            <a:srgbClr val="EDF3FF"/>
          </a:solidFill>
          <a:ln w="19050" cap="flat" cmpd="sng" algn="ctr">
            <a:noFill/>
            <a:prstDash val="solid"/>
            <a:miter lim="800000"/>
          </a:ln>
          <a:effectLst/>
          <a:extLst>
            <a:ext uri="{91240B29-F687-4F45-9708-019B960494DF}">
              <a14:hiddenLine xmlns:a14="http://schemas.microsoft.com/office/drawing/2010/main" w="19050">
                <a:solidFill>
                  <a:schemeClr val="accent1">
                    <a:shade val="15000"/>
                  </a:schemeClr>
                </a:solidFill>
                <a:prstDash val="solid"/>
                <a:miter lim="800000"/>
                <a:headEnd/>
                <a:tailEn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a:off x="736600" y="4940300"/>
            <a:ext cx="10668000" cy="276999"/>
          </a:xfrm>
          <a:prstGeom prst="rect">
            <a:avLst/>
          </a:prstGeom>
          <a:noFill/>
        </p:spPr>
        <p:txBody>
          <a:bodyPr vert="horz" wrap="square" lIns="0" tIns="0" rIns="0" bIns="0" rtlCol="0">
            <a:noAutofit/>
          </a:bodyPr>
          <a:lstStyle/>
          <a:p>
            <a:r>
              <a:rPr sz="1100" b="1">
                <a:solidFill>
                  <a:srgbClr val="2563EB"/>
                </a:solidFill>
                <a:latin typeface="Segoe UI" panose="020B0502040204020203"/>
              </a:rPr>
              <a:t>MINH CHỨNG QA SQL</a:t>
            </a:r>
            <a:endParaRPr sz="1100" b="1">
              <a:solidFill>
                <a:srgbClr val="2563EB"/>
              </a:solidFill>
              <a:latin typeface="Segoe UI" panose="020B0502040204020203"/>
            </a:endParaRPr>
          </a:p>
        </p:txBody>
      </p:sp>
      <p:sp>
        <p:nvSpPr>
          <p:cNvPr id="22" name="TextBox 21"/>
          <p:cNvSpPr txBox="1"/>
          <p:nvPr/>
        </p:nvSpPr>
        <p:spPr>
          <a:xfrm>
            <a:off x="736600" y="5308600"/>
            <a:ext cx="10629900" cy="276999"/>
          </a:xfrm>
          <a:prstGeom prst="rect">
            <a:avLst/>
          </a:prstGeom>
          <a:noFill/>
        </p:spPr>
        <p:txBody>
          <a:bodyPr vert="horz" wrap="square" lIns="0" tIns="0" rIns="0" bIns="0" rtlCol="0">
            <a:noAutofit/>
          </a:bodyPr>
          <a:lstStyle/>
          <a:p>
            <a:r>
              <a:rPr sz="1300">
                <a:solidFill>
                  <a:srgbClr val="102136"/>
                </a:solidFill>
                <a:latin typeface="Segoe UI" panose="020B0502040204020203"/>
              </a:rPr>
              <a:t>Xác minh function/view, constraint và procedure xóa kỳ nháp qua log kiểm thử.</a:t>
            </a:r>
            <a:endParaRPr sz="1300">
              <a:solidFill>
                <a:srgbClr val="102136"/>
              </a:solidFill>
              <a:latin typeface="Segoe UI" panose="020B0502040204020203"/>
            </a:endParaRPr>
          </a:p>
        </p:txBody>
      </p:sp>
      <p:sp>
        <p:nvSpPr>
          <p:cNvPr id="23" name="TextBox 22"/>
          <p:cNvSpPr txBox="1"/>
          <p:nvPr/>
        </p:nvSpPr>
        <p:spPr>
          <a:xfrm>
            <a:off x="736600" y="5727700"/>
            <a:ext cx="10629900" cy="276999"/>
          </a:xfrm>
          <a:prstGeom prst="rect">
            <a:avLst/>
          </a:prstGeom>
          <a:noFill/>
        </p:spPr>
        <p:txBody>
          <a:bodyPr vert="horz" wrap="square" lIns="0" tIns="0" rIns="0" bIns="0" rtlCol="0">
            <a:noAutofit/>
          </a:bodyPr>
          <a:lstStyle/>
          <a:p>
            <a:r>
              <a:rPr sz="1100">
                <a:solidFill>
                  <a:srgbClr val="51647A"/>
                </a:solidFill>
                <a:latin typeface="Segoe UI" panose="020B0502040204020203"/>
              </a:rPr>
              <a:t>Benchmark dùng fixture riêng; số đo chỉ áp dụng cho truy vấn/môi trường đã đo.</a:t>
            </a:r>
            <a:endParaRPr sz="1100">
              <a:solidFill>
                <a:srgbClr val="51647A"/>
              </a:solidFill>
              <a:latin typeface="Segoe UI" panose="020B05020402040202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1703</Words>
  <Application>WPS Presentation</Application>
  <PresentationFormat>Custom</PresentationFormat>
  <Paragraphs>118</Paragraphs>
  <Slides>3</Slides>
  <Notes>3</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vt:i4>
      </vt:variant>
    </vt:vector>
  </HeadingPairs>
  <TitlesOfParts>
    <vt:vector size="14" baseType="lpstr">
      <vt:lpstr>Arial</vt:lpstr>
      <vt:lpstr>SimSun</vt:lpstr>
      <vt:lpstr>Wingdings</vt:lpstr>
      <vt:lpstr>Segoe UI</vt:lpstr>
      <vt:lpstr>Aptos</vt:lpstr>
      <vt:lpstr>Segoe UI</vt:lpstr>
      <vt:lpstr>Microsoft YaHei</vt:lpstr>
      <vt:lpstr>Arial Unicode MS</vt:lpstr>
      <vt:lpstr>Aptos Display</vt:lpstr>
      <vt:lpstr>Segoe UI Variable Display</vt:lpstr>
      <vt:lpstr>Office Theme</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Vinh Nguyễn</dc:creator>
  <cp:lastModifiedBy>10A14.07 Tiến Đạt</cp:lastModifiedBy>
  <cp:revision>3</cp:revision>
  <dcterms:created xsi:type="dcterms:W3CDTF">2026-10-10T12:56:00Z</dcterms:created>
  <dcterms:modified xsi:type="dcterms:W3CDTF">2026-10-13T07:00:48Z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44C4DC99C40245C0AFDFCD10FC643DF4_13</vt:lpwstr>
  </property>
  <property fmtid="{D5CDD505-2E9C-101B-9397-08002B2CF9AE}" pid="3" name="KSOProductBuildVer">
    <vt:lpwstr>1033-12.1.0.28485</vt:lpwstr>
  </property>
</Properties>
</file>