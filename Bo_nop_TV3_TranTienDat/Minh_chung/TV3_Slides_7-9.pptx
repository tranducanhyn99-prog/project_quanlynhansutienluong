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AE7DE-997B-4B57-895B-A6B4C184BC1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D606E-37A5-43F7-897C-0CE614F6E6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Slide 7 — Dữ liệu phụ cấp và khấu trừ</a:t>
            </a:r>
            <a:endParaRPr lang="en-US" altLang="en-US"/>
          </a:p>
          <a:p>
            <a:r>
              <a:rPr lang="" altLang="en-US"/>
              <a:t>Ý </a:t>
            </a:r>
            <a:r>
              <a:rPr lang="en-US" altLang="en-US"/>
              <a:t>chính trên slide: Hai bảng theo nhân viên và kỳ; khóa ngoại; CHECK tiền/tháng/n</a:t>
            </a:r>
            <a:r>
              <a:rPr lang="" altLang="en-US"/>
              <a:t>ă</a:t>
            </a:r>
            <a:r>
              <a:rPr lang="en-US" altLang="en-US"/>
              <a:t>m; không có quy tắc UNIQUE theo tên khoản.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Lời nói (40 giây):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“Phần của em là phụ cấp và khấu trừ theo từng nhân viên trong từng kỳ l</a:t>
            </a:r>
            <a:r>
              <a:rPr lang="" altLang="en-US"/>
              <a:t>ư</a:t>
            </a:r>
            <a:r>
              <a:rPr lang="en-US" altLang="en-US"/>
              <a:t>ơng. Hai bảng l</a:t>
            </a:r>
            <a:r>
              <a:rPr lang="" altLang="en-US"/>
              <a:t>ư</a:t>
            </a:r>
            <a:r>
              <a:rPr lang="en-US" altLang="en-US"/>
              <a:t>u khoản phát sinh riêng, liên kết nhân viên bằng khóa ngoại nên không tạo dữ liệu mồ côi. CHECK chặn số tiền âm, tháng ngoài 1 </a:t>
            </a:r>
            <a:r>
              <a:rPr lang="" altLang="en-US"/>
              <a:t>đ</a:t>
            </a:r>
            <a:r>
              <a:rPr lang="en-US" altLang="en-US"/>
              <a:t>ến 12 và n</a:t>
            </a:r>
            <a:r>
              <a:rPr lang="" altLang="en-US"/>
              <a:t>ă</a:t>
            </a:r>
            <a:r>
              <a:rPr lang="en-US" altLang="en-US"/>
              <a:t>m tr</a:t>
            </a:r>
            <a:r>
              <a:rPr lang="" altLang="en-US"/>
              <a:t>ư</a:t>
            </a:r>
            <a:r>
              <a:rPr lang="en-US" altLang="en-US"/>
              <a:t>ớc 2020. Một nhân viên có thể có nhiều khoản cùng kỳ; tên khoản không phải khóa duy nhất. Dữ liệu này là </a:t>
            </a:r>
            <a:r>
              <a:rPr lang="" altLang="en-US"/>
              <a:t>đ</a:t>
            </a:r>
            <a:r>
              <a:rPr lang="en-US" altLang="en-US"/>
              <a:t>ầu vào </a:t>
            </a:r>
            <a:r>
              <a:rPr lang="" altLang="en-US"/>
              <a:t>đ</a:t>
            </a:r>
            <a:r>
              <a:rPr lang="en-US" altLang="en-US"/>
              <a:t>ể tính thực nhận: tiền công cộng tổng phụ cấp rồi trừ tổng khấu trừ.”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D606E-37A5-43F7-897C-0CE614F6E6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Slide 8 — Tổng hợp và bảo vệ kỳ l</a:t>
            </a:r>
            <a:r>
              <a:rPr lang="" altLang="en-US"/>
              <a:t>ư</a:t>
            </a:r>
            <a:r>
              <a:rPr lang="en-US" altLang="en-US"/>
              <a:t>ơng</a:t>
            </a:r>
            <a:endParaRPr lang="en-US" altLang="en-US"/>
          </a:p>
          <a:p>
            <a:r>
              <a:rPr lang="" altLang="en-US"/>
              <a:t>Ý </a:t>
            </a:r>
            <a:r>
              <a:rPr lang="en-US" altLang="en-US"/>
              <a:t>chính trên slide: Function/View tổng hợp; trigger chặn kỳ </a:t>
            </a:r>
            <a:r>
              <a:rPr lang="" altLang="en-US"/>
              <a:t>đ</a:t>
            </a:r>
            <a:r>
              <a:rPr lang="en-US" altLang="en-US"/>
              <a:t>ã chốt; procedure xóa kỳ nháp trong transaction; index phục vụ lọc.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Lời nói (45 giây):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“fn_TongKhauTru trả tổng khấu trừ của một nhân viên trong một tháng, còn vw_TongPhuCapThang gom số khoản và tổng tiền </a:t>
            </a:r>
            <a:r>
              <a:rPr lang="" altLang="en-US"/>
              <a:t>đ</a:t>
            </a:r>
            <a:r>
              <a:rPr lang="en-US" altLang="en-US"/>
              <a:t>ể tra cứu. Khi kỳ </a:t>
            </a:r>
            <a:r>
              <a:rPr lang="" altLang="en-US"/>
              <a:t>đ</a:t>
            </a:r>
            <a:r>
              <a:rPr lang="en-US" altLang="en-US"/>
              <a:t>ã chốt, trigger ở module bảo mật khóa dòng kỳ cha bằng UPDLOCK, HOLDLOCK và kiểm tra cả dữ liệu c</a:t>
            </a:r>
            <a:r>
              <a:rPr lang="" altLang="en-US"/>
              <a:t>ũ </a:t>
            </a:r>
            <a:r>
              <a:rPr lang="en-US" altLang="en-US"/>
              <a:t>lẫn mới, nên sửa, xóa hoặc chuyển khoản sang kỳ chốt </a:t>
            </a:r>
            <a:r>
              <a:rPr lang="" altLang="en-US"/>
              <a:t>đ</a:t>
            </a:r>
            <a:r>
              <a:rPr lang="en-US" altLang="en-US"/>
              <a:t>ều bị từ chối. Khi xóa kỳ nháp, sp_XoaKyLuongChuaChot mở transaction, khóa kỳ, xóa chi tiết tr</a:t>
            </a:r>
            <a:r>
              <a:rPr lang="" altLang="en-US"/>
              <a:t>ư</a:t>
            </a:r>
            <a:r>
              <a:rPr lang="en-US" altLang="en-US"/>
              <a:t>ớc bảng l</a:t>
            </a:r>
            <a:r>
              <a:rPr lang="" altLang="en-US"/>
              <a:t>ư</a:t>
            </a:r>
            <a:r>
              <a:rPr lang="en-US" altLang="en-US"/>
              <a:t>ơng và rollback nếu có lỗi. Index phụ cấp hỗ trợ lọc theo nhân viên và kỳ.”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D606E-37A5-43F7-897C-0CE614F6E6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Slide 9 — Giao diện và minh chứng</a:t>
            </a:r>
            <a:endParaRPr lang="en-US" altLang="en-US"/>
          </a:p>
          <a:p>
            <a:r>
              <a:rPr lang="" altLang="en-US"/>
              <a:t>Ý </a:t>
            </a:r>
            <a:r>
              <a:rPr lang="en-US" altLang="en-US"/>
              <a:t>chính trên slide: Giao diện lọc theo tháng/n</a:t>
            </a:r>
            <a:r>
              <a:rPr lang="" altLang="en-US"/>
              <a:t>ă</a:t>
            </a:r>
            <a:r>
              <a:rPr lang="en-US" altLang="en-US"/>
              <a:t>m; QA SQL xác nhận function/view, constraint và xóa kỳ; benchmark fixture riêng.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Lời nói (35 giây):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“Trên giao diện, ng</a:t>
            </a:r>
            <a:r>
              <a:rPr lang="" altLang="en-US"/>
              <a:t>ư</a:t>
            </a:r>
            <a:r>
              <a:rPr lang="en-US" altLang="en-US"/>
              <a:t>ời dùng chọn kỳ, xem hai danh sách và tổng hợp phụ cấp. HR và Payroll </a:t>
            </a:r>
            <a:r>
              <a:rPr lang="" altLang="en-US"/>
              <a:t>đư</a:t>
            </a:r>
            <a:r>
              <a:rPr lang="en-US" altLang="en-US"/>
              <a:t>ợc thao tác phụ cấp, khấu trừ theo quyền; xóa kỳ chỉ dành cho Admin hoặc Payroll. Test TV3 ngày 08/10 chạy trên database QA riêng </a:t>
            </a:r>
            <a:r>
              <a:rPr lang="" altLang="en-US"/>
              <a:t>đ</a:t>
            </a:r>
            <a:r>
              <a:rPr lang="en-US" altLang="en-US"/>
              <a:t>ã xác nhận function, view, constraint, xóa kỳ nháp, từ chối kỳ </a:t>
            </a:r>
            <a:r>
              <a:rPr lang="" altLang="en-US"/>
              <a:t>đ</a:t>
            </a:r>
            <a:r>
              <a:rPr lang="en-US" altLang="en-US"/>
              <a:t>ã chốt và cleanup fixture. Benchmark 30 nghìn dòng trên bảng tạm ghi nhận 642 logical reads tr</a:t>
            </a:r>
            <a:r>
              <a:rPr lang="" altLang="en-US"/>
              <a:t>ư</a:t>
            </a:r>
            <a:r>
              <a:rPr lang="en-US" altLang="en-US"/>
              <a:t>ớc index và 2 sau index ở lần chạy </a:t>
            </a:r>
            <a:r>
              <a:rPr lang="" altLang="en-US"/>
              <a:t>đ</a:t>
            </a:r>
            <a:r>
              <a:rPr lang="en-US" altLang="en-US"/>
              <a:t>ó; </a:t>
            </a:r>
            <a:r>
              <a:rPr lang="" altLang="en-US"/>
              <a:t>đ</a:t>
            </a:r>
            <a:r>
              <a:rPr lang="en-US" altLang="en-US"/>
              <a:t>ây là phép </a:t>
            </a:r>
            <a:r>
              <a:rPr lang="" altLang="en-US"/>
              <a:t>đ</a:t>
            </a:r>
            <a:r>
              <a:rPr lang="en-US" altLang="en-US"/>
              <a:t>o của fixture, không phải cam kết cho mọi máy. Em xin chuyển phần tính l</a:t>
            </a:r>
            <a:r>
              <a:rPr lang="" altLang="en-US"/>
              <a:t>ư</a:t>
            </a:r>
            <a:r>
              <a:rPr lang="en-US" altLang="en-US"/>
              <a:t>ơng cho TV4.”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D606E-37A5-43F7-897C-0CE614F6E6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CCB8E-D86C-44D0-9CB3-E1263AF624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DB8F3-ED00-4956-BF5E-E6AA85E727E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508000" y="330200"/>
            <a:ext cx="1638300" cy="304800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393700"/>
            <a:ext cx="1409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000" b="1">
                <a:solidFill>
                  <a:srgbClr val="0F766E"/>
                </a:solidFill>
                <a:latin typeface="Segoe UI" panose="020B0502040204020203"/>
              </a:rPr>
              <a:t>TV3 · PHỤ CẤP &amp; KHẤU TRỪ</a:t>
            </a:r>
            <a:endParaRPr sz="10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838200"/>
            <a:ext cx="11176000" cy="40259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2800" b="1">
                <a:solidFill>
                  <a:srgbClr val="102136"/>
                </a:solidFill>
                <a:latin typeface="Segoe UI" panose="020B0502040204020203"/>
              </a:rPr>
              <a:t>Dữ liệu theo nhân viên và kỳ · khóa ngoại · CHECK dữ liệu tiền/tháng/năm</a:t>
            </a:r>
            <a:endParaRPr sz="28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1701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>
                <a:solidFill>
                  <a:srgbClr val="51647A"/>
                </a:solidFill>
                <a:latin typeface="Segoe UI" panose="020B0502040204020203"/>
              </a:rPr>
              <a:t>Dữ liệu nhân viên → khoản phụ cấp/khấu trừ → tổng hợp cho tính lương</a:t>
            </a:r>
            <a:endParaRPr sz="12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DE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8000" y="6591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000">
                <a:solidFill>
                  <a:srgbClr val="51647A"/>
                </a:solidFill>
                <a:latin typeface="Segoe UI" panose="020B0502040204020203"/>
              </a:rPr>
              <a:t>Trần Tiến Đạt  ·  MSSV 24110198  ·  Nhóm 06</a:t>
            </a:r>
            <a:endParaRPr sz="10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63300" y="6540500"/>
            <a:ext cx="52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300" b="1">
                <a:solidFill>
                  <a:srgbClr val="0F766E"/>
                </a:solidFill>
                <a:latin typeface="Segoe UI" panose="020B0502040204020203"/>
              </a:rPr>
              <a:t>7</a:t>
            </a:r>
            <a:endParaRPr sz="13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8000" y="1993900"/>
            <a:ext cx="26035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98500" y="21590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500" b="1">
                <a:solidFill>
                  <a:srgbClr val="102136"/>
                </a:solidFill>
                <a:latin typeface="Segoe UI" panose="020B0502040204020203"/>
              </a:rPr>
              <a:t>PHỤ CẤP</a:t>
            </a:r>
            <a:endParaRPr sz="15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500" y="28448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>
                <a:solidFill>
                  <a:srgbClr val="51647A"/>
                </a:solidFill>
                <a:latin typeface="Segoe UI" panose="020B0502040204020203"/>
              </a:rPr>
              <a:t>PHUCAPNHANVIEN · theo nhân viên/kỳ</a:t>
            </a:r>
            <a:endParaRPr sz="12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3365500" y="1993900"/>
            <a:ext cx="26035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556000" y="21590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500" b="1">
                <a:solidFill>
                  <a:srgbClr val="102136"/>
                </a:solidFill>
                <a:latin typeface="Segoe UI" panose="020B0502040204020203"/>
              </a:rPr>
              <a:t>KHẤU TRỪ</a:t>
            </a:r>
            <a:endParaRPr sz="15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6000" y="28448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>
                <a:solidFill>
                  <a:srgbClr val="51647A"/>
                </a:solidFill>
                <a:latin typeface="Segoe UI" panose="020B0502040204020203"/>
              </a:rPr>
              <a:t>KHAUTRUNHANVIEN · theo nhân viên/kỳ</a:t>
            </a:r>
            <a:endParaRPr sz="12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223000" y="1993900"/>
            <a:ext cx="26035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413500" y="21590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500" b="1">
                <a:solidFill>
                  <a:srgbClr val="102136"/>
                </a:solidFill>
                <a:latin typeface="Segoe UI" panose="020B0502040204020203"/>
              </a:rPr>
              <a:t>KHÓA NGOẠI</a:t>
            </a:r>
            <a:endParaRPr sz="15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13500" y="28448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>
                <a:solidFill>
                  <a:srgbClr val="51647A"/>
                </a:solidFill>
                <a:latin typeface="Segoe UI" panose="020B0502040204020203"/>
              </a:rPr>
              <a:t>Liên kết đến nhân viên</a:t>
            </a:r>
            <a:endParaRPr sz="12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9080500" y="1993900"/>
            <a:ext cx="2603500" cy="1320800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271000" y="21590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500" b="1">
                <a:solidFill>
                  <a:srgbClr val="102136"/>
                </a:solidFill>
                <a:latin typeface="Segoe UI" panose="020B0502040204020203"/>
              </a:rPr>
              <a:t>RÀNG BUỘC</a:t>
            </a:r>
            <a:endParaRPr sz="15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71000" y="28448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>
                <a:solidFill>
                  <a:srgbClr val="51647A"/>
                </a:solidFill>
                <a:latin typeface="Segoe UI" panose="020B0502040204020203"/>
              </a:rPr>
              <a:t>CHECK tiền / tháng / năm</a:t>
            </a:r>
            <a:endParaRPr sz="1200">
              <a:solidFill>
                <a:srgbClr val="51647A"/>
              </a:solidFill>
              <a:latin typeface="Segoe UI" panose="020B0502040204020203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162300" y="2654300"/>
            <a:ext cx="152400" cy="0"/>
          </a:xfrm>
          <a:prstGeom prst="line">
            <a:avLst/>
          </a:prstGeom>
          <a:ln w="21590">
            <a:solidFill>
              <a:srgbClr val="5164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019800" y="2654300"/>
            <a:ext cx="152400" cy="0"/>
          </a:xfrm>
          <a:prstGeom prst="line">
            <a:avLst/>
          </a:prstGeom>
          <a:ln w="21590">
            <a:solidFill>
              <a:srgbClr val="5164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877300" y="2654300"/>
            <a:ext cx="152400" cy="0"/>
          </a:xfrm>
          <a:prstGeom prst="line">
            <a:avLst/>
          </a:prstGeom>
          <a:ln w="21590">
            <a:solidFill>
              <a:srgbClr val="5164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/>
          <p:cNvSpPr/>
          <p:nvPr/>
        </p:nvSpPr>
        <p:spPr>
          <a:xfrm>
            <a:off x="508000" y="3543300"/>
            <a:ext cx="11176000" cy="1054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0" y="3721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900" b="1">
                <a:solidFill>
                  <a:srgbClr val="102136"/>
                </a:solidFill>
                <a:latin typeface="Segoe UI" panose="020B0502040204020203"/>
              </a:rPr>
              <a:t>Hai bảng: PHUCAPNHANVIEN và KHAUTRUNHANVIEN</a:t>
            </a:r>
            <a:endParaRPr sz="19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2000" y="4165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700" b="1">
                <a:solidFill>
                  <a:srgbClr val="0F766E"/>
                </a:solidFill>
                <a:latin typeface="Segoe UI" panose="020B0502040204020203"/>
              </a:rPr>
              <a:t>Ràng buộc CHECK kiểm soát miền giá trị; khóa ngoại liên kết nhân viên và dữ liệu liên quan.</a:t>
            </a:r>
            <a:endParaRPr sz="17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508000" y="4838700"/>
            <a:ext cx="11176000" cy="1282700"/>
          </a:xfrm>
          <a:prstGeom prst="roundRect">
            <a:avLst>
              <a:gd name="adj" fmla="val 10000"/>
            </a:avLst>
          </a:prstGeom>
          <a:solidFill>
            <a:srgbClr val="EDF3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49300" y="5003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100" b="1">
                <a:solidFill>
                  <a:srgbClr val="2563EB"/>
                </a:solidFill>
                <a:latin typeface="Segoe UI" panose="020B0502040204020203"/>
              </a:rPr>
              <a:t>QUY TẮC THIẾT KẾ</a:t>
            </a:r>
            <a:endParaRPr sz="1100" b="1">
              <a:solidFill>
                <a:srgbClr val="2563EB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9300" y="53721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>
                <a:solidFill>
                  <a:srgbClr val="102136"/>
                </a:solidFill>
                <a:latin typeface="Segoe UI" panose="020B0502040204020203"/>
              </a:rPr>
              <a:t>Không có UNIQUE theo tên khoản</a:t>
            </a:r>
            <a:endParaRPr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40800" y="53213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2500" b="1">
                <a:solidFill>
                  <a:srgbClr val="0F766E"/>
                </a:solidFill>
                <a:latin typeface="Segoe UI" panose="020B0502040204020203"/>
              </a:rPr>
              <a:t>NHÂN VIÊN + KỲ</a:t>
            </a:r>
            <a:endParaRPr sz="25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9300" y="5816600"/>
            <a:ext cx="1064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000">
                <a:solidFill>
                  <a:srgbClr val="51647A"/>
                </a:solidFill>
                <a:latin typeface="Segoe UI" panose="020B0502040204020203"/>
              </a:rPr>
              <a:t>Kiểm tra cấu trúc và tên constraint theo DDL SQL hiện hành.</a:t>
            </a:r>
            <a:endParaRPr sz="1000">
              <a:solidFill>
                <a:srgbClr val="51647A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508000" y="330200"/>
            <a:ext cx="1638300" cy="304800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393700"/>
            <a:ext cx="1409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000" b="1">
                <a:solidFill>
                  <a:srgbClr val="0F766E"/>
                </a:solidFill>
                <a:latin typeface="Segoe UI" panose="020B0502040204020203"/>
              </a:rPr>
              <a:t>TV3 · PHỤ CẤP &amp; KHẤU TRỪ</a:t>
            </a:r>
            <a:endParaRPr sz="10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838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2800" b="1">
                <a:solidFill>
                  <a:srgbClr val="102136"/>
                </a:solidFill>
                <a:latin typeface="Segoe UI" panose="020B0502040204020203"/>
              </a:rPr>
              <a:t>Tổng hợp, khóa kỳ đã chốt và xóa kỳ nháp</a:t>
            </a:r>
            <a:endParaRPr sz="28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14097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>
                <a:solidFill>
                  <a:srgbClr val="51647A"/>
                </a:solidFill>
                <a:latin typeface="Segoe UI" panose="020B0502040204020203"/>
              </a:rPr>
              <a:t>Function / View · trigger bảo vệ kỳ · sp_XoaKyLuongChuaChot · index</a:t>
            </a:r>
            <a:endParaRPr sz="12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DE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8000" y="6591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000">
                <a:solidFill>
                  <a:srgbClr val="51647A"/>
                </a:solidFill>
                <a:latin typeface="Segoe UI" panose="020B0502040204020203"/>
              </a:rPr>
              <a:t>Trần Tiến Đạt  ·  MSSV 24110198  ·  Nhóm 06</a:t>
            </a:r>
            <a:endParaRPr sz="10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63300" y="6540500"/>
            <a:ext cx="52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300" b="1">
                <a:solidFill>
                  <a:srgbClr val="0F766E"/>
                </a:solidFill>
                <a:latin typeface="Segoe UI" panose="020B0502040204020203"/>
              </a:rPr>
              <a:t>8</a:t>
            </a:r>
            <a:endParaRPr sz="13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8000" y="2057400"/>
            <a:ext cx="20828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85800" y="2184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 b="1">
                <a:solidFill>
                  <a:srgbClr val="0F766E"/>
                </a:solidFill>
                <a:latin typeface="Segoe UI" panose="020B0502040204020203"/>
              </a:rPr>
              <a:t>1</a:t>
            </a:r>
            <a:endParaRPr sz="12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5781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400" b="1">
                <a:solidFill>
                  <a:srgbClr val="102136"/>
                </a:solidFill>
                <a:latin typeface="Segoe UI" panose="020B0502040204020203"/>
              </a:rPr>
              <a:t>FUNCTION / VIEW</a:t>
            </a:r>
            <a:endParaRPr sz="1400" b="1">
              <a:solidFill>
                <a:srgbClr val="102136"/>
              </a:solidFill>
              <a:latin typeface="Segoe UI" panose="020B0502040204020203"/>
            </a:endParaRPr>
          </a:p>
          <a:p>
            <a:endParaRPr sz="140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16200" y="2654300"/>
            <a:ext cx="127000" cy="0"/>
          </a:xfrm>
          <a:prstGeom prst="line">
            <a:avLst/>
          </a:prstGeom>
          <a:ln w="21590">
            <a:solidFill>
              <a:srgbClr val="5164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/>
          <p:cNvSpPr/>
          <p:nvPr/>
        </p:nvSpPr>
        <p:spPr>
          <a:xfrm>
            <a:off x="2781300" y="2057400"/>
            <a:ext cx="20828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59100" y="2184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 b="1">
                <a:solidFill>
                  <a:srgbClr val="0F766E"/>
                </a:solidFill>
                <a:latin typeface="Segoe UI" panose="020B0502040204020203"/>
              </a:rPr>
              <a:t>2</a:t>
            </a:r>
            <a:endParaRPr sz="12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9100" y="25781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400" b="1">
                <a:solidFill>
                  <a:srgbClr val="102136"/>
                </a:solidFill>
                <a:latin typeface="Segoe UI" panose="020B0502040204020203"/>
              </a:rPr>
              <a:t>TỔNG HỢP
THEO KỲ</a:t>
            </a:r>
            <a:endParaRPr sz="1400" b="1">
              <a:solidFill>
                <a:srgbClr val="102136"/>
              </a:solidFill>
              <a:latin typeface="Segoe UI" panose="020B0502040204020203"/>
            </a:endParaRPr>
          </a:p>
          <a:p>
            <a:endParaRPr sz="1400"/>
          </a:p>
        </p:txBody>
      </p:sp>
      <p:cxnSp>
        <p:nvCxnSpPr>
          <p:cNvPr id="16" name="Straight Connector 15"/>
          <p:cNvCxnSpPr/>
          <p:nvPr/>
        </p:nvCxnSpPr>
        <p:spPr>
          <a:xfrm>
            <a:off x="4889500" y="2654300"/>
            <a:ext cx="127000" cy="0"/>
          </a:xfrm>
          <a:prstGeom prst="line">
            <a:avLst/>
          </a:prstGeom>
          <a:ln w="21590">
            <a:solidFill>
              <a:srgbClr val="5164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/>
          <p:cNvSpPr/>
          <p:nvPr/>
        </p:nvSpPr>
        <p:spPr>
          <a:xfrm>
            <a:off x="5054600" y="2057400"/>
            <a:ext cx="20828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232400" y="2184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 b="1">
                <a:solidFill>
                  <a:srgbClr val="0F766E"/>
                </a:solidFill>
                <a:latin typeface="Segoe UI" panose="020B0502040204020203"/>
              </a:rPr>
              <a:t>3</a:t>
            </a:r>
            <a:endParaRPr sz="12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32400" y="25781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400" b="1">
                <a:solidFill>
                  <a:srgbClr val="102136"/>
                </a:solidFill>
                <a:latin typeface="Segoe UI" panose="020B0502040204020203"/>
              </a:rPr>
              <a:t>TRIGGER
CHẶN KỲ ĐÃ CHỐT</a:t>
            </a:r>
            <a:endParaRPr sz="1400" b="1">
              <a:solidFill>
                <a:srgbClr val="102136"/>
              </a:solidFill>
              <a:latin typeface="Segoe UI" panose="020B0502040204020203"/>
            </a:endParaRPr>
          </a:p>
          <a:p>
            <a:endParaRPr sz="1400"/>
          </a:p>
        </p:txBody>
      </p:sp>
      <p:cxnSp>
        <p:nvCxnSpPr>
          <p:cNvPr id="20" name="Straight Connector 19"/>
          <p:cNvCxnSpPr/>
          <p:nvPr/>
        </p:nvCxnSpPr>
        <p:spPr>
          <a:xfrm>
            <a:off x="7162800" y="2654300"/>
            <a:ext cx="127000" cy="0"/>
          </a:xfrm>
          <a:prstGeom prst="line">
            <a:avLst/>
          </a:prstGeom>
          <a:ln w="21590">
            <a:solidFill>
              <a:srgbClr val="5164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/>
          <p:cNvSpPr/>
          <p:nvPr/>
        </p:nvSpPr>
        <p:spPr>
          <a:xfrm>
            <a:off x="7327900" y="2057400"/>
            <a:ext cx="20828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505700" y="2184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 b="1">
                <a:solidFill>
                  <a:srgbClr val="0F766E"/>
                </a:solidFill>
                <a:latin typeface="Segoe UI" panose="020B0502040204020203"/>
              </a:rPr>
              <a:t>4</a:t>
            </a:r>
            <a:endParaRPr sz="12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05700" y="25781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400" b="1">
                <a:solidFill>
                  <a:srgbClr val="102136"/>
                </a:solidFill>
                <a:latin typeface="Segoe UI" panose="020B0502040204020203"/>
              </a:rPr>
              <a:t>XÓA KỲ NHÁP
TRONG TRANSACTION</a:t>
            </a:r>
            <a:endParaRPr sz="1400" b="1">
              <a:solidFill>
                <a:srgbClr val="102136"/>
              </a:solidFill>
              <a:latin typeface="Segoe UI" panose="020B0502040204020203"/>
            </a:endParaRPr>
          </a:p>
          <a:p>
            <a:endParaRPr sz="1400"/>
          </a:p>
        </p:txBody>
      </p:sp>
      <p:cxnSp>
        <p:nvCxnSpPr>
          <p:cNvPr id="24" name="Straight Connector 23"/>
          <p:cNvCxnSpPr/>
          <p:nvPr/>
        </p:nvCxnSpPr>
        <p:spPr>
          <a:xfrm>
            <a:off x="9436100" y="2654300"/>
            <a:ext cx="127000" cy="0"/>
          </a:xfrm>
          <a:prstGeom prst="line">
            <a:avLst/>
          </a:prstGeom>
          <a:ln w="21590">
            <a:solidFill>
              <a:srgbClr val="5164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/>
          <p:cNvSpPr/>
          <p:nvPr/>
        </p:nvSpPr>
        <p:spPr>
          <a:xfrm>
            <a:off x="9601200" y="2057400"/>
            <a:ext cx="2082800" cy="1168400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779000" y="2184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 b="1">
                <a:solidFill>
                  <a:srgbClr val="0F766E"/>
                </a:solidFill>
                <a:latin typeface="Segoe UI" panose="020B0502040204020203"/>
              </a:rPr>
              <a:t>5</a:t>
            </a:r>
            <a:endParaRPr sz="12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79000" y="25781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400" b="1">
                <a:solidFill>
                  <a:srgbClr val="102136"/>
                </a:solidFill>
                <a:latin typeface="Segoe UI" panose="020B0502040204020203"/>
              </a:rPr>
              <a:t>COMMIT</a:t>
            </a:r>
            <a:endParaRPr sz="14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508000" y="3429000"/>
            <a:ext cx="11176000" cy="5334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23900" y="3568700"/>
            <a:ext cx="1073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600" b="1">
                <a:solidFill>
                  <a:srgbClr val="B42318"/>
                </a:solidFill>
                <a:latin typeface="Segoe UI" panose="020B0502040204020203"/>
              </a:rPr>
              <a:t>Có lỗi → ROLLBACK: tránh xóa kỳ nháp dở dang</a:t>
            </a:r>
            <a:endParaRPr sz="1600" b="1">
              <a:solidFill>
                <a:srgbClr val="B42318"/>
              </a:solidFill>
              <a:latin typeface="Segoe UI" panose="020B0502040204020203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508000" y="4203700"/>
            <a:ext cx="5448300" cy="1803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/>
          <p:cNvSpPr/>
          <p:nvPr/>
        </p:nvSpPr>
        <p:spPr>
          <a:xfrm>
            <a:off x="6210300" y="4203700"/>
            <a:ext cx="5473700" cy="1803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36600" y="4406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 b="1">
                <a:solidFill>
                  <a:srgbClr val="0F766E"/>
                </a:solidFill>
                <a:latin typeface="Segoe UI" panose="020B0502040204020203"/>
              </a:rPr>
              <a:t>TỔNG HỢP &amp; TRA CỨU</a:t>
            </a:r>
            <a:endParaRPr sz="12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6600" y="4851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300">
                <a:solidFill>
                  <a:srgbClr val="102136"/>
                </a:solidFill>
                <a:latin typeface="Segoe UI" panose="020B0502040204020203"/>
              </a:rPr>
              <a:t>Function/View tổng hợp phụ cấp, khấu trừ
Lọc dữ liệu theo nhân viên và kỳ
Index hỗ trợ điều kiện lọc</a:t>
            </a:r>
            <a:endParaRPr sz="1300">
              <a:solidFill>
                <a:srgbClr val="102136"/>
              </a:solidFill>
              <a:latin typeface="Segoe UI" panose="020B0502040204020203"/>
            </a:endParaRPr>
          </a:p>
          <a:p>
            <a:endParaRPr sz="1300"/>
          </a:p>
          <a:p>
            <a:endParaRPr sz="1300"/>
          </a:p>
        </p:txBody>
      </p:sp>
      <p:sp>
        <p:nvSpPr>
          <p:cNvPr id="34" name="TextBox 33"/>
          <p:cNvSpPr txBox="1"/>
          <p:nvPr/>
        </p:nvSpPr>
        <p:spPr>
          <a:xfrm>
            <a:off x="6438900" y="44069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 b="1">
                <a:solidFill>
                  <a:srgbClr val="0F766E"/>
                </a:solidFill>
                <a:latin typeface="Segoe UI" panose="020B0502040204020203"/>
              </a:rPr>
              <a:t>BẢO VỆ DỮ LIỆU</a:t>
            </a:r>
            <a:endParaRPr sz="12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38900" y="48514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300">
                <a:solidFill>
                  <a:srgbClr val="102136"/>
                </a:solidFill>
                <a:latin typeface="Segoe UI" panose="020B0502040204020203"/>
              </a:rPr>
              <a:t>Trigger chặn thay đổi kỳ đã chốt
sp_XoaKyLuongChuaChot chỉ xử lý kỳ nháp
Thử nghiệm trên fixture QA, không dùng kỳ chính</a:t>
            </a:r>
            <a:endParaRPr sz="1300">
              <a:solidFill>
                <a:srgbClr val="102136"/>
              </a:solidFill>
              <a:latin typeface="Segoe UI" panose="020B0502040204020203"/>
            </a:endParaRPr>
          </a:p>
          <a:p>
            <a:endParaRPr sz="1300"/>
          </a:p>
          <a:p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508000" y="330200"/>
            <a:ext cx="1638300" cy="304800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393700"/>
            <a:ext cx="1409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000" b="1">
                <a:solidFill>
                  <a:srgbClr val="0F766E"/>
                </a:solidFill>
                <a:latin typeface="Segoe UI" panose="020B0502040204020203"/>
              </a:rPr>
              <a:t>TV3 · PHỤ CẤP &amp; KHẤU TRỪ</a:t>
            </a:r>
            <a:endParaRPr sz="10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838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2800" b="1">
                <a:solidFill>
                  <a:srgbClr val="102136"/>
                </a:solidFill>
                <a:latin typeface="Segoe UI" panose="020B0502040204020203"/>
              </a:rPr>
              <a:t>Giao diện lọc kỳ và minh chứng QA SQL</a:t>
            </a:r>
            <a:endParaRPr sz="28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14097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200">
                <a:solidFill>
                  <a:srgbClr val="51647A"/>
                </a:solidFill>
                <a:latin typeface="Segoe UI" panose="020B0502040204020203"/>
              </a:rPr>
              <a:t>Lọc tháng/năm → xác minh function, view, constraint và xóa kỳ</a:t>
            </a:r>
            <a:endParaRPr sz="12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DE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8000" y="65913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000">
                <a:solidFill>
                  <a:srgbClr val="51647A"/>
                </a:solidFill>
                <a:latin typeface="Segoe UI" panose="020B0502040204020203"/>
              </a:rPr>
              <a:t>Trần Tiến Đạt  ·  MSSV 24110198  ·  Nhóm 06</a:t>
            </a:r>
            <a:endParaRPr sz="10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63300" y="6540500"/>
            <a:ext cx="520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300" b="1">
                <a:solidFill>
                  <a:srgbClr val="0F766E"/>
                </a:solidFill>
                <a:latin typeface="Segoe UI" panose="020B0502040204020203"/>
              </a:rPr>
              <a:t>9</a:t>
            </a:r>
            <a:endParaRPr sz="13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8000" y="2019300"/>
            <a:ext cx="11176000" cy="63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6600" y="2222500"/>
            <a:ext cx="1073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b="1">
                <a:solidFill>
                  <a:srgbClr val="102136"/>
                </a:solidFill>
                <a:latin typeface="Segoe UI" panose="020B0502040204020203"/>
              </a:rPr>
              <a:t>GIAO DIỆN TV3   →   LỌC THEO THÁNG / NĂM</a:t>
            </a:r>
            <a:endParaRPr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508000" y="2946400"/>
            <a:ext cx="3543300" cy="1549400"/>
          </a:xfrm>
          <a:prstGeom prst="roundRect">
            <a:avLst>
              <a:gd name="adj" fmla="val 10000"/>
            </a:avLst>
          </a:prstGeom>
          <a:solidFill>
            <a:srgbClr val="E6F4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36600" y="3149600"/>
            <a:ext cx="3086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100" b="1">
                <a:solidFill>
                  <a:srgbClr val="0F766E"/>
                </a:solidFill>
                <a:latin typeface="Segoe UI" panose="020B0502040204020203"/>
              </a:rPr>
              <a:t>GIAO DIỆN</a:t>
            </a:r>
            <a:endParaRPr sz="11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6600" y="3581400"/>
            <a:ext cx="3086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2900" b="1">
                <a:solidFill>
                  <a:srgbClr val="0F766E"/>
                </a:solidFill>
                <a:latin typeface="Segoe UI" panose="020B0502040204020203"/>
              </a:rPr>
              <a:t>BỘ LỌC KỲ</a:t>
            </a:r>
            <a:endParaRPr sz="2900" b="1">
              <a:solidFill>
                <a:srgbClr val="0F766E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6600" y="4165600"/>
            <a:ext cx="3086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100">
                <a:solidFill>
                  <a:srgbClr val="51647A"/>
                </a:solidFill>
                <a:latin typeface="Segoe UI" panose="020B0502040204020203"/>
              </a:rPr>
              <a:t>Tháng / Năm</a:t>
            </a:r>
            <a:endParaRPr sz="11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4279900" y="2946400"/>
            <a:ext cx="7404100" cy="1549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21200" y="314960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100" b="1">
                <a:solidFill>
                  <a:srgbClr val="2563EB"/>
                </a:solidFill>
                <a:latin typeface="Segoe UI" panose="020B0502040204020203"/>
              </a:rPr>
              <a:t>BENCHMARK INDEX · LOGICAL READS</a:t>
            </a:r>
            <a:endParaRPr sz="1100" b="1">
              <a:solidFill>
                <a:srgbClr val="2563EB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1200" y="35433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3100" b="1">
                <a:solidFill>
                  <a:srgbClr val="102136"/>
                </a:solidFill>
                <a:latin typeface="Segoe UI" panose="020B0502040204020203"/>
              </a:rPr>
              <a:t>642  →  2</a:t>
            </a:r>
            <a:endParaRPr sz="3100" b="1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45500" y="36195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500">
                <a:solidFill>
                  <a:srgbClr val="51647A"/>
                </a:solidFill>
                <a:latin typeface="Segoe UI" panose="020B0502040204020203"/>
              </a:rPr>
              <a:t>Fixture riêng · 30.000 dòng</a:t>
            </a:r>
            <a:endParaRPr sz="15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200" y="4165600"/>
            <a:ext cx="692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100">
                <a:solidFill>
                  <a:srgbClr val="51647A"/>
                </a:solidFill>
                <a:latin typeface="Segoe UI" panose="020B0502040204020203"/>
              </a:rPr>
              <a:t>Benchmark TV3 · đối chiếu cùng truy vấn và actual plan</a:t>
            </a:r>
            <a:endParaRPr sz="1100">
              <a:solidFill>
                <a:srgbClr val="51647A"/>
              </a:solidFill>
              <a:latin typeface="Segoe UI" panose="020B0502040204020203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508000" y="4749800"/>
            <a:ext cx="11176000" cy="1219200"/>
          </a:xfrm>
          <a:prstGeom prst="roundRect">
            <a:avLst>
              <a:gd name="adj" fmla="val 10000"/>
            </a:avLst>
          </a:prstGeom>
          <a:solidFill>
            <a:srgbClr val="EDF3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36600" y="49403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100" b="1">
                <a:solidFill>
                  <a:srgbClr val="2563EB"/>
                </a:solidFill>
                <a:latin typeface="Segoe UI" panose="020B0502040204020203"/>
              </a:rPr>
              <a:t>MINH CHỨNG QA SQL</a:t>
            </a:r>
            <a:endParaRPr sz="1100" b="1">
              <a:solidFill>
                <a:srgbClr val="2563EB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6600" y="5308600"/>
            <a:ext cx="1062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300">
                <a:solidFill>
                  <a:srgbClr val="102136"/>
                </a:solidFill>
                <a:latin typeface="Segoe UI" panose="020B0502040204020203"/>
              </a:rPr>
              <a:t>Xác minh function/view, constraint và procedure xóa kỳ nháp qua log kiểm thử.</a:t>
            </a:r>
            <a:endParaRPr sz="1300">
              <a:solidFill>
                <a:srgbClr val="102136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6600" y="5727700"/>
            <a:ext cx="10629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sz="1100">
                <a:solidFill>
                  <a:srgbClr val="51647A"/>
                </a:solidFill>
                <a:latin typeface="Segoe UI" panose="020B0502040204020203"/>
              </a:rPr>
              <a:t>Benchmark dùng fixture riêng; số đo chỉ áp dụng cho truy vấn/môi trường đã đo.</a:t>
            </a:r>
            <a:endParaRPr sz="1100">
              <a:solidFill>
                <a:srgbClr val="51647A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1703</Words>
  <Application>WPS Presentation</Application>
  <PresentationFormat>Custom</PresentationFormat>
  <Paragraphs>118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Segoe UI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Vinh Nguyễn</dc:creator>
  <cp:lastModifiedBy>10A14.07 Tiến Đạt</cp:lastModifiedBy>
  <cp:revision>4</cp:revision>
  <dcterms:created xsi:type="dcterms:W3CDTF">2026-10-10T12:56:00Z</dcterms:created>
  <dcterms:modified xsi:type="dcterms:W3CDTF">2026-10-14T14:00:35Z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44C4DC99C40245C0AFDFCD10FC643DF4_13</vt:lpwstr>
  </property>
  <property fmtid="{D5CDD505-2E9C-101B-9397-08002B2CF9AE}" pid="3" name="KSOProductBuildVer">
    <vt:lpwstr>1033-12.1.0.29162</vt:lpwstr>
  </property>
</Properties>
</file>