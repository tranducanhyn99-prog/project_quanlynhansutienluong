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tableStyles" Target="tableStyles.xml"/><Relationship Id="rId8" Type="http://schemas.openxmlformats.org/officeDocument/2006/relationships/viewProps" Target="viewProps.xml"/><Relationship Id="rId7" Type="http://schemas.openxmlformats.org/officeDocument/2006/relationships/presProps" Target="presProps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FAE7DE-997B-4B57-895B-A6B4C184BC14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6D606E-37A5-43F7-897C-0CE614F6E66D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/>
              <a:t>Slide 7 — Dữ liệu phụ cấp và khấu trừ</a:t>
            </a:r>
            <a:endParaRPr lang="en-US" altLang="en-US"/>
          </a:p>
          <a:p>
            <a:r>
              <a:rPr lang="" altLang="en-US"/>
              <a:t>Ý </a:t>
            </a:r>
            <a:r>
              <a:rPr lang="en-US" altLang="en-US"/>
              <a:t>chính trên slide: Hai bảng theo nhân viên và kỳ; khóa ngoại; CHECK tiền/tháng/n</a:t>
            </a:r>
            <a:r>
              <a:rPr lang="" altLang="en-US"/>
              <a:t>ă</a:t>
            </a:r>
            <a:r>
              <a:rPr lang="en-US" altLang="en-US"/>
              <a:t>m; không có quy tắc UNIQUE theo tên khoản.</a:t>
            </a:r>
            <a:endParaRPr lang="en-US" altLang="en-US"/>
          </a:p>
          <a:p>
            <a:endParaRPr lang="en-US" altLang="en-US"/>
          </a:p>
          <a:p>
            <a:r>
              <a:rPr lang="en-US" altLang="en-US"/>
              <a:t>Lời nói (40 giây):</a:t>
            </a:r>
            <a:endParaRPr lang="en-US" altLang="en-US"/>
          </a:p>
          <a:p>
            <a:endParaRPr lang="en-US" altLang="en-US"/>
          </a:p>
          <a:p>
            <a:r>
              <a:rPr lang="en-US" altLang="en-US"/>
              <a:t>“Phần của em là phụ cấp và khấu trừ theo từng nhân viên trong từng kỳ l</a:t>
            </a:r>
            <a:r>
              <a:rPr lang="" altLang="en-US"/>
              <a:t>ư</a:t>
            </a:r>
            <a:r>
              <a:rPr lang="en-US" altLang="en-US"/>
              <a:t>ơng. Hai bảng l</a:t>
            </a:r>
            <a:r>
              <a:rPr lang="" altLang="en-US"/>
              <a:t>ư</a:t>
            </a:r>
            <a:r>
              <a:rPr lang="en-US" altLang="en-US"/>
              <a:t>u khoản phát sinh riêng, liên kết nhân viên bằng khóa ngoại nên không tạo dữ liệu mồ côi. CHECK chặn số tiền âm, tháng ngoài 1 </a:t>
            </a:r>
            <a:r>
              <a:rPr lang="" altLang="en-US"/>
              <a:t>đ</a:t>
            </a:r>
            <a:r>
              <a:rPr lang="en-US" altLang="en-US"/>
              <a:t>ến 12 và n</a:t>
            </a:r>
            <a:r>
              <a:rPr lang="" altLang="en-US"/>
              <a:t>ă</a:t>
            </a:r>
            <a:r>
              <a:rPr lang="en-US" altLang="en-US"/>
              <a:t>m tr</a:t>
            </a:r>
            <a:r>
              <a:rPr lang="" altLang="en-US"/>
              <a:t>ư</a:t>
            </a:r>
            <a:r>
              <a:rPr lang="en-US" altLang="en-US"/>
              <a:t>ớc 2020. Một nhân viên có thể có nhiều khoản cùng kỳ; tên khoản không phải khóa duy nhất. Dữ liệu này là </a:t>
            </a:r>
            <a:r>
              <a:rPr lang="" altLang="en-US"/>
              <a:t>đ</a:t>
            </a:r>
            <a:r>
              <a:rPr lang="en-US" altLang="en-US"/>
              <a:t>ầu vào </a:t>
            </a:r>
            <a:r>
              <a:rPr lang="" altLang="en-US"/>
              <a:t>đ</a:t>
            </a:r>
            <a:r>
              <a:rPr lang="en-US" altLang="en-US"/>
              <a:t>ể tính thực nhận: tiền công cộng tổng phụ cấp rồi trừ tổng khấu trừ.”</a:t>
            </a:r>
            <a:endParaRPr lang="en-US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6D606E-37A5-43F7-897C-0CE614F6E66D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/>
              <a:t>Slide 8 — Tổng hợp và bảo vệ kỳ l</a:t>
            </a:r>
            <a:r>
              <a:rPr lang="" altLang="en-US"/>
              <a:t>ư</a:t>
            </a:r>
            <a:r>
              <a:rPr lang="en-US" altLang="en-US"/>
              <a:t>ơng</a:t>
            </a:r>
            <a:endParaRPr lang="en-US" altLang="en-US"/>
          </a:p>
          <a:p>
            <a:r>
              <a:rPr lang="" altLang="en-US"/>
              <a:t>Ý </a:t>
            </a:r>
            <a:r>
              <a:rPr lang="en-US" altLang="en-US"/>
              <a:t>chính trên slide: Function/View tổng hợp; trigger chặn kỳ </a:t>
            </a:r>
            <a:r>
              <a:rPr lang="" altLang="en-US"/>
              <a:t>đ</a:t>
            </a:r>
            <a:r>
              <a:rPr lang="en-US" altLang="en-US"/>
              <a:t>ã chốt; procedure xóa kỳ nháp trong transaction; index phục vụ lọc.</a:t>
            </a:r>
            <a:endParaRPr lang="en-US" altLang="en-US"/>
          </a:p>
          <a:p>
            <a:endParaRPr lang="en-US" altLang="en-US"/>
          </a:p>
          <a:p>
            <a:r>
              <a:rPr lang="en-US" altLang="en-US"/>
              <a:t>Lời nói (45 giây):</a:t>
            </a:r>
            <a:endParaRPr lang="en-US" altLang="en-US"/>
          </a:p>
          <a:p>
            <a:endParaRPr lang="en-US" altLang="en-US"/>
          </a:p>
          <a:p>
            <a:r>
              <a:rPr lang="en-US" altLang="en-US"/>
              <a:t>“fn_TongKhauTru trả tổng khấu trừ của một nhân viên trong một tháng, còn vw_TongPhuCapThang gom số khoản và tổng tiền </a:t>
            </a:r>
            <a:r>
              <a:rPr lang="" altLang="en-US"/>
              <a:t>đ</a:t>
            </a:r>
            <a:r>
              <a:rPr lang="en-US" altLang="en-US"/>
              <a:t>ể tra cứu. Khi kỳ </a:t>
            </a:r>
            <a:r>
              <a:rPr lang="" altLang="en-US"/>
              <a:t>đ</a:t>
            </a:r>
            <a:r>
              <a:rPr lang="en-US" altLang="en-US"/>
              <a:t>ã chốt, trigger ở module bảo mật khóa dòng kỳ cha bằng UPDLOCK, HOLDLOCK và kiểm tra cả dữ liệu c</a:t>
            </a:r>
            <a:r>
              <a:rPr lang="" altLang="en-US"/>
              <a:t>ũ </a:t>
            </a:r>
            <a:r>
              <a:rPr lang="en-US" altLang="en-US"/>
              <a:t>lẫn mới, nên sửa, xóa hoặc chuyển khoản sang kỳ chốt </a:t>
            </a:r>
            <a:r>
              <a:rPr lang="" altLang="en-US"/>
              <a:t>đ</a:t>
            </a:r>
            <a:r>
              <a:rPr lang="en-US" altLang="en-US"/>
              <a:t>ều bị từ chối. Khi xóa kỳ nháp, sp_XoaKyLuongChuaChot mở transaction, khóa kỳ, xóa chi tiết tr</a:t>
            </a:r>
            <a:r>
              <a:rPr lang="" altLang="en-US"/>
              <a:t>ư</a:t>
            </a:r>
            <a:r>
              <a:rPr lang="en-US" altLang="en-US"/>
              <a:t>ớc bảng l</a:t>
            </a:r>
            <a:r>
              <a:rPr lang="" altLang="en-US"/>
              <a:t>ư</a:t>
            </a:r>
            <a:r>
              <a:rPr lang="en-US" altLang="en-US"/>
              <a:t>ơng và rollback nếu có lỗi. Index phụ cấp hỗ trợ lọc theo nhân viên và kỳ.”</a:t>
            </a:r>
            <a:endParaRPr lang="en-US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6D606E-37A5-43F7-897C-0CE614F6E66D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/>
              <a:t>Slide 9 — Giao diện và minh chứng</a:t>
            </a:r>
            <a:endParaRPr lang="en-US" altLang="en-US"/>
          </a:p>
          <a:p>
            <a:r>
              <a:rPr lang="" altLang="en-US"/>
              <a:t>Ý </a:t>
            </a:r>
            <a:r>
              <a:rPr lang="en-US" altLang="en-US"/>
              <a:t>chính trên slide: Giao diện lọc theo tháng/n</a:t>
            </a:r>
            <a:r>
              <a:rPr lang="" altLang="en-US"/>
              <a:t>ă</a:t>
            </a:r>
            <a:r>
              <a:rPr lang="en-US" altLang="en-US"/>
              <a:t>m; QA SQL xác nhận function/view, constraint và xóa kỳ; benchmark fixture riêng.</a:t>
            </a:r>
            <a:endParaRPr lang="en-US" altLang="en-US"/>
          </a:p>
          <a:p>
            <a:endParaRPr lang="en-US" altLang="en-US"/>
          </a:p>
          <a:p>
            <a:r>
              <a:rPr lang="en-US" altLang="en-US"/>
              <a:t>Lời nói (35 giây):</a:t>
            </a:r>
            <a:endParaRPr lang="en-US" altLang="en-US"/>
          </a:p>
          <a:p>
            <a:endParaRPr lang="en-US" altLang="en-US"/>
          </a:p>
          <a:p>
            <a:r>
              <a:rPr lang="en-US" altLang="en-US"/>
              <a:t>“Trên giao diện, ng</a:t>
            </a:r>
            <a:r>
              <a:rPr lang="" altLang="en-US"/>
              <a:t>ư</a:t>
            </a:r>
            <a:r>
              <a:rPr lang="en-US" altLang="en-US"/>
              <a:t>ời dùng chọn kỳ, xem hai danh sách và tổng hợp phụ cấp. HR và Payroll </a:t>
            </a:r>
            <a:r>
              <a:rPr lang="" altLang="en-US"/>
              <a:t>đư</a:t>
            </a:r>
            <a:r>
              <a:rPr lang="en-US" altLang="en-US"/>
              <a:t>ợc thao tác phụ cấp, khấu trừ theo quyền; xóa kỳ chỉ dành cho Admin hoặc Payroll. Bộ kiểm thử SQL TV3 chạy ngày 13/10/2026 (l</a:t>
            </a:r>
            <a:r>
              <a:rPr lang="" altLang="en-US"/>
              <a:t>ư</a:t>
            </a:r>
            <a:r>
              <a:rPr lang="en-US" altLang="en-US"/>
              <a:t>u tại Minh_chung/Log_SQLPlan/test_module_phucap_khautru_TV3.log) </a:t>
            </a:r>
            <a:r>
              <a:rPr lang="" altLang="en-US"/>
              <a:t>đ</a:t>
            </a:r>
            <a:r>
              <a:rPr lang="en-US" altLang="en-US"/>
              <a:t>ã xác nhận PASS 4 cụm: function/view, chặn CHECK tiền âm và tháng sai, xóa kỳ nháp 5/2020, từ chối kỳ </a:t>
            </a:r>
            <a:r>
              <a:rPr lang="" altLang="en-US"/>
              <a:t>đ</a:t>
            </a:r>
            <a:r>
              <a:rPr lang="en-US" altLang="en-US"/>
              <a:t>ã chốt 6/2020 và cleanup fixture. Benchmark 30 nghìn dòng trên bảng tạm #PHUCAP_BENCHMARK l</a:t>
            </a:r>
            <a:r>
              <a:rPr lang="" altLang="en-US"/>
              <a:t>ư</a:t>
            </a:r>
            <a:r>
              <a:rPr lang="en-US" altLang="en-US"/>
              <a:t>ợt chạy ngày 13/10/2026 (l</a:t>
            </a:r>
            <a:r>
              <a:rPr lang="" altLang="en-US"/>
              <a:t>ư</a:t>
            </a:r>
            <a:r>
              <a:rPr lang="en-US" altLang="en-US"/>
              <a:t>u tại Minh_chung/Log_SQLPlan/benchmark_test_benchmark_index_TV3.log và TV3_ActualPlan.sqlplan) ghi nhận giảm từ 642 logical reads xuống còn 2 logical reads sau khi tạo index; </a:t>
            </a:r>
            <a:r>
              <a:rPr lang="" altLang="en-US"/>
              <a:t>đ</a:t>
            </a:r>
            <a:r>
              <a:rPr lang="en-US" altLang="en-US"/>
              <a:t>ây là phép </a:t>
            </a:r>
            <a:r>
              <a:rPr lang="" altLang="en-US"/>
              <a:t>đ</a:t>
            </a:r>
            <a:r>
              <a:rPr lang="en-US" altLang="en-US"/>
              <a:t>o trên fixture riêng, không phải cam kết cho mọi máy. Các ảnh tại Minh_chung/Screenshots/ chỉ dùng làm t</a:t>
            </a:r>
            <a:r>
              <a:rPr lang="" altLang="en-US"/>
              <a:t>ư </a:t>
            </a:r>
            <a:r>
              <a:rPr lang="en-US" altLang="en-US"/>
              <a:t>liệu minh họa lịch sử. Em xin chuyển phần tính l</a:t>
            </a:r>
            <a:r>
              <a:rPr lang="" altLang="en-US"/>
              <a:t>ư</a:t>
            </a:r>
            <a:r>
              <a:rPr lang="en-US" altLang="en-US"/>
              <a:t>ơng cho TV4.”</a:t>
            </a:r>
            <a:endParaRPr lang="en-US" altLang="en-US"/>
          </a:p>
          <a:p>
            <a:endParaRPr lang="en-US" altLang="en-US"/>
          </a:p>
          <a:p>
            <a:r>
              <a:rPr lang="" altLang="en-US"/>
              <a:t>Đư</a:t>
            </a:r>
            <a:r>
              <a:rPr lang="en-US" altLang="en-US"/>
              <a:t>ờng dẫn file bằng chứng cho ng</a:t>
            </a:r>
            <a:r>
              <a:rPr lang="" altLang="en-US"/>
              <a:t>ư</a:t>
            </a:r>
            <a:r>
              <a:rPr lang="en-US" altLang="en-US"/>
              <a:t>ời ghép deck (l</a:t>
            </a:r>
            <a:r>
              <a:rPr lang="" altLang="en-US"/>
              <a:t>ư</a:t>
            </a:r>
            <a:r>
              <a:rPr lang="en-US" altLang="en-US"/>
              <a:t>ợt chạy 13/10/2026):</a:t>
            </a:r>
            <a:endParaRPr lang="en-US" altLang="en-US"/>
          </a:p>
          <a:p>
            <a:r>
              <a:rPr lang="en-US" altLang="en-US"/>
              <a:t>- Log kiểm thử module (13/10/2026): Bo_nop_TV3_TranTienDat/Minh_chung/Log_SQLPlan/test_module_phucap_khautru_TV3.log</a:t>
            </a:r>
            <a:endParaRPr lang="en-US" altLang="en-US"/>
          </a:p>
          <a:p>
            <a:r>
              <a:rPr lang="en-US" altLang="en-US"/>
              <a:t>- Log benchmark (13/10/2026): Bo_nop_TV3_TranTienDat/Minh_chung/Log_SQLPlan/benchmark_test_benchmark_index_TV3.log</a:t>
            </a:r>
            <a:endParaRPr lang="en-US" altLang="en-US"/>
          </a:p>
          <a:p>
            <a:r>
              <a:rPr lang="en-US" altLang="en-US"/>
              <a:t>- Actual Execution Plan (13/10/2026): Bo_nop_TV3_TranTienDat/Minh_chung/Log_SQLPlan/TV3_ActualPlan.sqlplan</a:t>
            </a:r>
            <a:endParaRPr lang="en-US" altLang="en-US"/>
          </a:p>
          <a:p>
            <a:r>
              <a:rPr lang="en-US" altLang="en-US"/>
              <a:t>- Ảnh minh họa lịch sử (30/09–06/10/2026): Bo_nop_TV3_TranTienDat/Minh_chung/Screenshots/</a:t>
            </a:r>
            <a:endParaRPr lang="en-US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6D606E-37A5-43F7-897C-0CE614F6E66D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CCB8E-D86C-44D0-9CB3-E1263AF6249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DB8F3-ED00-4956-BF5E-E6AA85E727E1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CCB8E-D86C-44D0-9CB3-E1263AF6249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DB8F3-ED00-4956-BF5E-E6AA85E727E1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CCB8E-D86C-44D0-9CB3-E1263AF6249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DB8F3-ED00-4956-BF5E-E6AA85E727E1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CCB8E-D86C-44D0-9CB3-E1263AF6249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DB8F3-ED00-4956-BF5E-E6AA85E727E1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CCB8E-D86C-44D0-9CB3-E1263AF62499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DB8F3-ED00-4956-BF5E-E6AA85E727E1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CCB8E-D86C-44D0-9CB3-E1263AF62499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DB8F3-ED00-4956-BF5E-E6AA85E727E1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CCB8E-D86C-44D0-9CB3-E1263AF62499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DB8F3-ED00-4956-BF5E-E6AA85E727E1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CCB8E-D86C-44D0-9CB3-E1263AF6249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DB8F3-ED00-4956-BF5E-E6AA85E727E1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CCB8E-D86C-44D0-9CB3-E1263AF6249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DB8F3-ED00-4956-BF5E-E6AA85E727E1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CCB8E-D86C-44D0-9CB3-E1263AF6249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DB8F3-ED00-4956-BF5E-E6AA85E727E1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CCB8E-D86C-44D0-9CB3-E1263AF6249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DB8F3-ED00-4956-BF5E-E6AA85E727E1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6CCB8E-D86C-44D0-9CB3-E1263AF6249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EDB8F3-ED00-4956-BF5E-E6AA85E727E1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/>
          <p:cNvSpPr/>
          <p:nvPr/>
        </p:nvSpPr>
        <p:spPr>
          <a:xfrm>
            <a:off x="508000" y="330200"/>
            <a:ext cx="1638300" cy="304800"/>
          </a:xfrm>
          <a:prstGeom prst="roundRect">
            <a:avLst>
              <a:gd name="adj" fmla="val 10000"/>
            </a:avLst>
          </a:prstGeom>
          <a:solidFill>
            <a:srgbClr val="E6F4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35000" y="393700"/>
            <a:ext cx="14097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1000" b="1">
                <a:solidFill>
                  <a:srgbClr val="0F766E"/>
                </a:solidFill>
                <a:latin typeface="Segoe UI" panose="020B0502040204020203"/>
              </a:rPr>
              <a:t>TV3 · PHỤ CẤP &amp; KHẤU TRỪ</a:t>
            </a:r>
            <a:endParaRPr sz="1000" b="1">
              <a:solidFill>
                <a:srgbClr val="0F766E"/>
              </a:solidFill>
              <a:latin typeface="Segoe UI" panose="020B0502040204020203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8000" y="838200"/>
            <a:ext cx="11176000" cy="40259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2800" b="1">
                <a:solidFill>
                  <a:srgbClr val="102136"/>
                </a:solidFill>
                <a:latin typeface="Segoe UI" panose="020B0502040204020203"/>
              </a:rPr>
              <a:t>Dữ liệu theo nhân viên và kỳ · khóa ngoại · CHECK dữ liệu tiền/tháng/năm</a:t>
            </a:r>
            <a:endParaRPr sz="2800" b="1">
              <a:solidFill>
                <a:srgbClr val="102136"/>
              </a:solidFill>
              <a:latin typeface="Segoe UI" panose="020B0502040204020203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8000" y="1701800"/>
            <a:ext cx="1117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1200">
                <a:solidFill>
                  <a:srgbClr val="51647A"/>
                </a:solidFill>
                <a:latin typeface="Segoe UI" panose="020B0502040204020203"/>
              </a:rPr>
              <a:t>Dữ liệu nhân viên → khoản phụ cấp/khấu trừ → tổng hợp cho tính lương</a:t>
            </a:r>
            <a:endParaRPr sz="1200">
              <a:solidFill>
                <a:srgbClr val="51647A"/>
              </a:solidFill>
              <a:latin typeface="Segoe UI" panose="020B0502040204020203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08000" y="6426200"/>
            <a:ext cx="11176000" cy="12700"/>
          </a:xfrm>
          <a:prstGeom prst="rect">
            <a:avLst/>
          </a:prstGeom>
          <a:solidFill>
            <a:srgbClr val="DDE5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508000" y="6591300"/>
            <a:ext cx="952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1000">
                <a:solidFill>
                  <a:srgbClr val="51647A"/>
                </a:solidFill>
                <a:latin typeface="Segoe UI" panose="020B0502040204020203"/>
              </a:rPr>
              <a:t>Trần Tiến Đạt  ·  MSSV 24110198  ·  Nhóm 06</a:t>
            </a:r>
            <a:endParaRPr sz="1000">
              <a:solidFill>
                <a:srgbClr val="51647A"/>
              </a:solidFill>
              <a:latin typeface="Segoe UI" panose="020B0502040204020203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163300" y="6540500"/>
            <a:ext cx="5207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1300" b="1">
                <a:solidFill>
                  <a:srgbClr val="0F766E"/>
                </a:solidFill>
                <a:latin typeface="Segoe UI" panose="020B0502040204020203"/>
              </a:rPr>
              <a:t>7</a:t>
            </a:r>
            <a:endParaRPr sz="1300" b="1">
              <a:solidFill>
                <a:srgbClr val="0F766E"/>
              </a:solidFill>
              <a:latin typeface="Segoe UI" panose="020B0502040204020203"/>
            </a:endParaRPr>
          </a:p>
        </p:txBody>
      </p:sp>
      <p:sp>
        <p:nvSpPr>
          <p:cNvPr id="9" name="Rectangle: Rounded Corners 8"/>
          <p:cNvSpPr/>
          <p:nvPr/>
        </p:nvSpPr>
        <p:spPr>
          <a:xfrm>
            <a:off x="508000" y="1993900"/>
            <a:ext cx="2603500" cy="1320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98500" y="2159000"/>
            <a:ext cx="2222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1500" b="1">
                <a:solidFill>
                  <a:srgbClr val="102136"/>
                </a:solidFill>
                <a:latin typeface="Segoe UI" panose="020B0502040204020203"/>
              </a:rPr>
              <a:t>PHỤ CẤP</a:t>
            </a:r>
            <a:endParaRPr sz="1500" b="1">
              <a:solidFill>
                <a:srgbClr val="102136"/>
              </a:solidFill>
              <a:latin typeface="Segoe UI" panose="020B0502040204020203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98500" y="2844800"/>
            <a:ext cx="2222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1200">
                <a:solidFill>
                  <a:srgbClr val="51647A"/>
                </a:solidFill>
                <a:latin typeface="Segoe UI" panose="020B0502040204020203"/>
              </a:rPr>
              <a:t>PHUCAPNHANVIEN · theo nhân viên/kỳ</a:t>
            </a:r>
            <a:endParaRPr sz="1200">
              <a:solidFill>
                <a:srgbClr val="51647A"/>
              </a:solidFill>
              <a:latin typeface="Segoe UI" panose="020B0502040204020203"/>
            </a:endParaRPr>
          </a:p>
        </p:txBody>
      </p:sp>
      <p:sp>
        <p:nvSpPr>
          <p:cNvPr id="12" name="Rectangle: Rounded Corners 11"/>
          <p:cNvSpPr/>
          <p:nvPr/>
        </p:nvSpPr>
        <p:spPr>
          <a:xfrm>
            <a:off x="3365500" y="1993900"/>
            <a:ext cx="2603500" cy="1320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3556000" y="2159000"/>
            <a:ext cx="2222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1500" b="1">
                <a:solidFill>
                  <a:srgbClr val="102136"/>
                </a:solidFill>
                <a:latin typeface="Segoe UI" panose="020B0502040204020203"/>
              </a:rPr>
              <a:t>KHẤU TRỪ</a:t>
            </a:r>
            <a:endParaRPr sz="1500" b="1">
              <a:solidFill>
                <a:srgbClr val="102136"/>
              </a:solidFill>
              <a:latin typeface="Segoe UI" panose="020B05020402040202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556000" y="2844800"/>
            <a:ext cx="2222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1200">
                <a:solidFill>
                  <a:srgbClr val="51647A"/>
                </a:solidFill>
                <a:latin typeface="Segoe UI" panose="020B0502040204020203"/>
              </a:rPr>
              <a:t>KHAUTRUNHANVIEN · theo nhân viên/kỳ</a:t>
            </a:r>
            <a:endParaRPr sz="1200">
              <a:solidFill>
                <a:srgbClr val="51647A"/>
              </a:solidFill>
              <a:latin typeface="Segoe UI" panose="020B0502040204020203"/>
            </a:endParaRPr>
          </a:p>
        </p:txBody>
      </p:sp>
      <p:sp>
        <p:nvSpPr>
          <p:cNvPr id="15" name="Rectangle: Rounded Corners 14"/>
          <p:cNvSpPr/>
          <p:nvPr/>
        </p:nvSpPr>
        <p:spPr>
          <a:xfrm>
            <a:off x="6223000" y="1993900"/>
            <a:ext cx="2603500" cy="1320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6413500" y="2159000"/>
            <a:ext cx="2222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1500" b="1">
                <a:solidFill>
                  <a:srgbClr val="102136"/>
                </a:solidFill>
                <a:latin typeface="Segoe UI" panose="020B0502040204020203"/>
              </a:rPr>
              <a:t>KHÓA NGOẠI</a:t>
            </a:r>
            <a:endParaRPr sz="1500" b="1">
              <a:solidFill>
                <a:srgbClr val="102136"/>
              </a:solidFill>
              <a:latin typeface="Segoe UI" panose="020B0502040204020203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13500" y="2844800"/>
            <a:ext cx="2222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1200">
                <a:solidFill>
                  <a:srgbClr val="51647A"/>
                </a:solidFill>
                <a:latin typeface="Segoe UI" panose="020B0502040204020203"/>
              </a:rPr>
              <a:t>Liên kết đến nhân viên</a:t>
            </a:r>
            <a:endParaRPr sz="1200">
              <a:solidFill>
                <a:srgbClr val="51647A"/>
              </a:solidFill>
              <a:latin typeface="Segoe UI" panose="020B0502040204020203"/>
            </a:endParaRPr>
          </a:p>
        </p:txBody>
      </p:sp>
      <p:sp>
        <p:nvSpPr>
          <p:cNvPr id="18" name="Rectangle: Rounded Corners 17"/>
          <p:cNvSpPr/>
          <p:nvPr/>
        </p:nvSpPr>
        <p:spPr>
          <a:xfrm>
            <a:off x="9080500" y="1993900"/>
            <a:ext cx="2603500" cy="1320800"/>
          </a:xfrm>
          <a:prstGeom prst="roundRect">
            <a:avLst>
              <a:gd name="adj" fmla="val 10000"/>
            </a:avLst>
          </a:prstGeom>
          <a:solidFill>
            <a:srgbClr val="E6F4EF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9271000" y="2159000"/>
            <a:ext cx="2222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1500" b="1">
                <a:solidFill>
                  <a:srgbClr val="102136"/>
                </a:solidFill>
                <a:latin typeface="Segoe UI" panose="020B0502040204020203"/>
              </a:rPr>
              <a:t>RÀNG BUỘC</a:t>
            </a:r>
            <a:endParaRPr sz="1500" b="1">
              <a:solidFill>
                <a:srgbClr val="102136"/>
              </a:solidFill>
              <a:latin typeface="Segoe UI" panose="020B0502040204020203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271000" y="2844800"/>
            <a:ext cx="2222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1200">
                <a:solidFill>
                  <a:srgbClr val="51647A"/>
                </a:solidFill>
                <a:latin typeface="Segoe UI" panose="020B0502040204020203"/>
              </a:rPr>
              <a:t>CHECK tiền / tháng / năm</a:t>
            </a:r>
            <a:endParaRPr sz="1200">
              <a:solidFill>
                <a:srgbClr val="51647A"/>
              </a:solidFill>
              <a:latin typeface="Segoe UI" panose="020B0502040204020203"/>
            </a:endParaRPr>
          </a:p>
        </p:txBody>
      </p:sp>
      <p:cxnSp>
        <p:nvCxnSpPr>
          <p:cNvPr id="21" name="Straight Connector 20"/>
          <p:cNvCxnSpPr/>
          <p:nvPr/>
        </p:nvCxnSpPr>
        <p:spPr>
          <a:xfrm>
            <a:off x="3162300" y="2654300"/>
            <a:ext cx="152400" cy="0"/>
          </a:xfrm>
          <a:prstGeom prst="line">
            <a:avLst/>
          </a:prstGeom>
          <a:ln w="21590">
            <a:solidFill>
              <a:srgbClr val="51647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>
            <a:off x="6019800" y="2654300"/>
            <a:ext cx="152400" cy="0"/>
          </a:xfrm>
          <a:prstGeom prst="line">
            <a:avLst/>
          </a:prstGeom>
          <a:ln w="21590">
            <a:solidFill>
              <a:srgbClr val="51647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>
            <a:off x="8877300" y="2654300"/>
            <a:ext cx="152400" cy="0"/>
          </a:xfrm>
          <a:prstGeom prst="line">
            <a:avLst/>
          </a:prstGeom>
          <a:ln w="21590">
            <a:solidFill>
              <a:srgbClr val="51647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: Rounded Corners 23"/>
          <p:cNvSpPr/>
          <p:nvPr/>
        </p:nvSpPr>
        <p:spPr>
          <a:xfrm>
            <a:off x="508000" y="3543300"/>
            <a:ext cx="11176000" cy="10541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762000" y="3721100"/>
            <a:ext cx="1066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1900" b="1">
                <a:solidFill>
                  <a:srgbClr val="102136"/>
                </a:solidFill>
                <a:latin typeface="Segoe UI" panose="020B0502040204020203"/>
              </a:rPr>
              <a:t>Hai bảng: PHUCAPNHANVIEN và KHAUTRUNHANVIEN</a:t>
            </a:r>
            <a:endParaRPr sz="1900" b="1">
              <a:solidFill>
                <a:srgbClr val="102136"/>
              </a:solidFill>
              <a:latin typeface="Segoe UI" panose="020B0502040204020203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62000" y="4165600"/>
            <a:ext cx="1066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1700" b="1">
                <a:solidFill>
                  <a:srgbClr val="0F766E"/>
                </a:solidFill>
                <a:latin typeface="Segoe UI" panose="020B0502040204020203"/>
              </a:rPr>
              <a:t>Ràng buộc CHECK kiểm soát miền giá trị; khóa ngoại liên kết nhân viên và dữ liệu liên quan.</a:t>
            </a:r>
            <a:endParaRPr sz="1700" b="1">
              <a:solidFill>
                <a:srgbClr val="0F766E"/>
              </a:solidFill>
              <a:latin typeface="Segoe UI" panose="020B0502040204020203"/>
            </a:endParaRPr>
          </a:p>
        </p:txBody>
      </p:sp>
      <p:sp>
        <p:nvSpPr>
          <p:cNvPr id="27" name="Rectangle: Rounded Corners 26"/>
          <p:cNvSpPr/>
          <p:nvPr/>
        </p:nvSpPr>
        <p:spPr>
          <a:xfrm>
            <a:off x="508000" y="4838700"/>
            <a:ext cx="11176000" cy="1282700"/>
          </a:xfrm>
          <a:prstGeom prst="roundRect">
            <a:avLst>
              <a:gd name="adj" fmla="val 10000"/>
            </a:avLst>
          </a:prstGeom>
          <a:solidFill>
            <a:srgbClr val="EDF3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749300" y="5003800"/>
            <a:ext cx="889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1100" b="1">
                <a:solidFill>
                  <a:srgbClr val="2563EB"/>
                </a:solidFill>
                <a:latin typeface="Segoe UI" panose="020B0502040204020203"/>
              </a:rPr>
              <a:t>QUY TẮC THIẾT KẾ</a:t>
            </a:r>
            <a:endParaRPr sz="1100" b="1">
              <a:solidFill>
                <a:srgbClr val="2563EB"/>
              </a:solidFill>
              <a:latin typeface="Segoe UI" panose="020B0502040204020203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749300" y="5372100"/>
            <a:ext cx="7747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>
                <a:solidFill>
                  <a:srgbClr val="102136"/>
                </a:solidFill>
                <a:latin typeface="Segoe UI" panose="020B0502040204020203"/>
              </a:rPr>
              <a:t>Không có UNIQUE theo tên khoản</a:t>
            </a:r>
            <a:endParaRPr>
              <a:solidFill>
                <a:srgbClr val="102136"/>
              </a:solidFill>
              <a:latin typeface="Segoe UI" panose="020B0502040204020203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940800" y="5321300"/>
            <a:ext cx="2438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2500" b="1">
                <a:solidFill>
                  <a:srgbClr val="0F766E"/>
                </a:solidFill>
                <a:latin typeface="Segoe UI" panose="020B0502040204020203"/>
              </a:rPr>
              <a:t>NHÂN VIÊN + KỲ</a:t>
            </a:r>
            <a:endParaRPr sz="2500" b="1">
              <a:solidFill>
                <a:srgbClr val="0F766E"/>
              </a:solidFill>
              <a:latin typeface="Segoe UI" panose="020B0502040204020203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49300" y="5816600"/>
            <a:ext cx="10642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1000">
                <a:solidFill>
                  <a:srgbClr val="51647A"/>
                </a:solidFill>
                <a:latin typeface="Segoe UI" panose="020B0502040204020203"/>
              </a:rPr>
              <a:t>Kiểm tra cấu trúc và tên constraint theo DDL SQL hiện hành.</a:t>
            </a:r>
            <a:endParaRPr sz="1000">
              <a:solidFill>
                <a:srgbClr val="51647A"/>
              </a:solidFill>
              <a:latin typeface="Segoe UI" panose="020B0502040204020203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/>
          <p:cNvSpPr/>
          <p:nvPr/>
        </p:nvSpPr>
        <p:spPr>
          <a:xfrm>
            <a:off x="508000" y="330200"/>
            <a:ext cx="1638300" cy="304800"/>
          </a:xfrm>
          <a:prstGeom prst="roundRect">
            <a:avLst>
              <a:gd name="adj" fmla="val 10000"/>
            </a:avLst>
          </a:prstGeom>
          <a:solidFill>
            <a:srgbClr val="E6F4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35000" y="393700"/>
            <a:ext cx="14097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1000" b="1">
                <a:solidFill>
                  <a:srgbClr val="0F766E"/>
                </a:solidFill>
                <a:latin typeface="Segoe UI" panose="020B0502040204020203"/>
              </a:rPr>
              <a:t>TV3 · PHỤ CẤP &amp; KHẤU TRỪ</a:t>
            </a:r>
            <a:endParaRPr sz="1000" b="1">
              <a:solidFill>
                <a:srgbClr val="0F766E"/>
              </a:solidFill>
              <a:latin typeface="Segoe UI" panose="020B0502040204020203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8000" y="838200"/>
            <a:ext cx="1117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2800" b="1">
                <a:solidFill>
                  <a:srgbClr val="102136"/>
                </a:solidFill>
                <a:latin typeface="Segoe UI" panose="020B0502040204020203"/>
              </a:rPr>
              <a:t>Tổng hợp, khóa kỳ đã chốt và xóa kỳ nháp</a:t>
            </a:r>
            <a:endParaRPr sz="2800" b="1">
              <a:solidFill>
                <a:srgbClr val="102136"/>
              </a:solidFill>
              <a:latin typeface="Segoe UI" panose="020B0502040204020203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8000" y="1409700"/>
            <a:ext cx="1117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1200">
                <a:solidFill>
                  <a:srgbClr val="51647A"/>
                </a:solidFill>
                <a:latin typeface="Segoe UI" panose="020B0502040204020203"/>
              </a:rPr>
              <a:t>Function / View · trigger bảo vệ kỳ · sp_XoaKyLuongChuaChot · index</a:t>
            </a:r>
            <a:endParaRPr sz="1200">
              <a:solidFill>
                <a:srgbClr val="51647A"/>
              </a:solidFill>
              <a:latin typeface="Segoe UI" panose="020B0502040204020203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08000" y="6426200"/>
            <a:ext cx="11176000" cy="12700"/>
          </a:xfrm>
          <a:prstGeom prst="rect">
            <a:avLst/>
          </a:prstGeom>
          <a:solidFill>
            <a:srgbClr val="DDE5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508000" y="6591300"/>
            <a:ext cx="952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1000">
                <a:solidFill>
                  <a:srgbClr val="51647A"/>
                </a:solidFill>
                <a:latin typeface="Segoe UI" panose="020B0502040204020203"/>
              </a:rPr>
              <a:t>Trần Tiến Đạt  ·  MSSV 24110198  ·  Nhóm 06</a:t>
            </a:r>
            <a:endParaRPr sz="1000">
              <a:solidFill>
                <a:srgbClr val="51647A"/>
              </a:solidFill>
              <a:latin typeface="Segoe UI" panose="020B0502040204020203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163300" y="6540500"/>
            <a:ext cx="5207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1300" b="1">
                <a:solidFill>
                  <a:srgbClr val="0F766E"/>
                </a:solidFill>
                <a:latin typeface="Segoe UI" panose="020B0502040204020203"/>
              </a:rPr>
              <a:t>8</a:t>
            </a:r>
            <a:endParaRPr sz="1300" b="1">
              <a:solidFill>
                <a:srgbClr val="0F766E"/>
              </a:solidFill>
              <a:latin typeface="Segoe UI" panose="020B0502040204020203"/>
            </a:endParaRPr>
          </a:p>
        </p:txBody>
      </p:sp>
      <p:sp>
        <p:nvSpPr>
          <p:cNvPr id="9" name="Rectangle: Rounded Corners 8"/>
          <p:cNvSpPr/>
          <p:nvPr/>
        </p:nvSpPr>
        <p:spPr>
          <a:xfrm>
            <a:off x="508000" y="2057400"/>
            <a:ext cx="2082800" cy="1168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85800" y="2184400"/>
            <a:ext cx="304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1200" b="1">
                <a:solidFill>
                  <a:srgbClr val="0F766E"/>
                </a:solidFill>
                <a:latin typeface="Segoe UI" panose="020B0502040204020203"/>
              </a:rPr>
              <a:t>1</a:t>
            </a:r>
            <a:endParaRPr sz="1200" b="1">
              <a:solidFill>
                <a:srgbClr val="0F766E"/>
              </a:solidFill>
              <a:latin typeface="Segoe UI" panose="020B0502040204020203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85800" y="2578100"/>
            <a:ext cx="1727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1400" b="1">
                <a:solidFill>
                  <a:srgbClr val="102136"/>
                </a:solidFill>
                <a:latin typeface="Segoe UI" panose="020B0502040204020203"/>
              </a:rPr>
              <a:t>FUNCTION / VIEW</a:t>
            </a:r>
            <a:endParaRPr sz="1400" b="1">
              <a:solidFill>
                <a:srgbClr val="102136"/>
              </a:solidFill>
              <a:latin typeface="Segoe UI" panose="020B0502040204020203"/>
            </a:endParaRPr>
          </a:p>
          <a:p>
            <a:endParaRPr sz="1400"/>
          </a:p>
        </p:txBody>
      </p:sp>
      <p:cxnSp>
        <p:nvCxnSpPr>
          <p:cNvPr id="12" name="Straight Connector 11"/>
          <p:cNvCxnSpPr/>
          <p:nvPr/>
        </p:nvCxnSpPr>
        <p:spPr>
          <a:xfrm>
            <a:off x="2616200" y="2654300"/>
            <a:ext cx="127000" cy="0"/>
          </a:xfrm>
          <a:prstGeom prst="line">
            <a:avLst/>
          </a:prstGeom>
          <a:ln w="21590">
            <a:solidFill>
              <a:srgbClr val="51647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/>
          <p:cNvSpPr/>
          <p:nvPr/>
        </p:nvSpPr>
        <p:spPr>
          <a:xfrm>
            <a:off x="2781300" y="2057400"/>
            <a:ext cx="2082800" cy="1168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959100" y="2184400"/>
            <a:ext cx="304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1200" b="1">
                <a:solidFill>
                  <a:srgbClr val="0F766E"/>
                </a:solidFill>
                <a:latin typeface="Segoe UI" panose="020B0502040204020203"/>
              </a:rPr>
              <a:t>2</a:t>
            </a:r>
            <a:endParaRPr sz="1200" b="1">
              <a:solidFill>
                <a:srgbClr val="0F766E"/>
              </a:solidFill>
              <a:latin typeface="Segoe UI" panose="020B0502040204020203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959100" y="2578100"/>
            <a:ext cx="1727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1400" b="1">
                <a:solidFill>
                  <a:srgbClr val="102136"/>
                </a:solidFill>
                <a:latin typeface="Segoe UI" panose="020B0502040204020203"/>
              </a:rPr>
              <a:t>TỔNG HỢP
THEO KỲ</a:t>
            </a:r>
            <a:endParaRPr sz="1400" b="1">
              <a:solidFill>
                <a:srgbClr val="102136"/>
              </a:solidFill>
              <a:latin typeface="Segoe UI" panose="020B0502040204020203"/>
            </a:endParaRPr>
          </a:p>
          <a:p>
            <a:endParaRPr sz="1400"/>
          </a:p>
        </p:txBody>
      </p:sp>
      <p:cxnSp>
        <p:nvCxnSpPr>
          <p:cNvPr id="16" name="Straight Connector 15"/>
          <p:cNvCxnSpPr/>
          <p:nvPr/>
        </p:nvCxnSpPr>
        <p:spPr>
          <a:xfrm>
            <a:off x="4889500" y="2654300"/>
            <a:ext cx="127000" cy="0"/>
          </a:xfrm>
          <a:prstGeom prst="line">
            <a:avLst/>
          </a:prstGeom>
          <a:ln w="21590">
            <a:solidFill>
              <a:srgbClr val="51647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/>
          <p:cNvSpPr/>
          <p:nvPr/>
        </p:nvSpPr>
        <p:spPr>
          <a:xfrm>
            <a:off x="5054600" y="2057400"/>
            <a:ext cx="2082800" cy="1168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5232400" y="2184400"/>
            <a:ext cx="304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1200" b="1">
                <a:solidFill>
                  <a:srgbClr val="0F766E"/>
                </a:solidFill>
                <a:latin typeface="Segoe UI" panose="020B0502040204020203"/>
              </a:rPr>
              <a:t>3</a:t>
            </a:r>
            <a:endParaRPr sz="1200" b="1">
              <a:solidFill>
                <a:srgbClr val="0F766E"/>
              </a:solidFill>
              <a:latin typeface="Segoe UI" panose="020B0502040204020203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232400" y="2578100"/>
            <a:ext cx="1727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1400" b="1">
                <a:solidFill>
                  <a:srgbClr val="102136"/>
                </a:solidFill>
                <a:latin typeface="Segoe UI" panose="020B0502040204020203"/>
              </a:rPr>
              <a:t>TRIGGER
CHẶN KỲ ĐÃ CHỐT</a:t>
            </a:r>
            <a:endParaRPr sz="1400" b="1">
              <a:solidFill>
                <a:srgbClr val="102136"/>
              </a:solidFill>
              <a:latin typeface="Segoe UI" panose="020B0502040204020203"/>
            </a:endParaRPr>
          </a:p>
          <a:p>
            <a:endParaRPr sz="1400"/>
          </a:p>
        </p:txBody>
      </p:sp>
      <p:cxnSp>
        <p:nvCxnSpPr>
          <p:cNvPr id="20" name="Straight Connector 19"/>
          <p:cNvCxnSpPr/>
          <p:nvPr/>
        </p:nvCxnSpPr>
        <p:spPr>
          <a:xfrm>
            <a:off x="7162800" y="2654300"/>
            <a:ext cx="127000" cy="0"/>
          </a:xfrm>
          <a:prstGeom prst="line">
            <a:avLst/>
          </a:prstGeom>
          <a:ln w="21590">
            <a:solidFill>
              <a:srgbClr val="51647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: Rounded Corners 20"/>
          <p:cNvSpPr/>
          <p:nvPr/>
        </p:nvSpPr>
        <p:spPr>
          <a:xfrm>
            <a:off x="7327900" y="2057400"/>
            <a:ext cx="2082800" cy="1168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7505700" y="2184400"/>
            <a:ext cx="304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1200" b="1">
                <a:solidFill>
                  <a:srgbClr val="0F766E"/>
                </a:solidFill>
                <a:latin typeface="Segoe UI" panose="020B0502040204020203"/>
              </a:rPr>
              <a:t>4</a:t>
            </a:r>
            <a:endParaRPr sz="1200" b="1">
              <a:solidFill>
                <a:srgbClr val="0F766E"/>
              </a:solidFill>
              <a:latin typeface="Segoe UI" panose="020B0502040204020203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505700" y="2578100"/>
            <a:ext cx="1727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1400" b="1">
                <a:solidFill>
                  <a:srgbClr val="102136"/>
                </a:solidFill>
                <a:latin typeface="Segoe UI" panose="020B0502040204020203"/>
              </a:rPr>
              <a:t>XÓA KỲ NHÁP
TRONG TRANSACTION</a:t>
            </a:r>
            <a:endParaRPr sz="1400" b="1">
              <a:solidFill>
                <a:srgbClr val="102136"/>
              </a:solidFill>
              <a:latin typeface="Segoe UI" panose="020B0502040204020203"/>
            </a:endParaRPr>
          </a:p>
          <a:p>
            <a:endParaRPr sz="1400"/>
          </a:p>
        </p:txBody>
      </p:sp>
      <p:cxnSp>
        <p:nvCxnSpPr>
          <p:cNvPr id="24" name="Straight Connector 23"/>
          <p:cNvCxnSpPr/>
          <p:nvPr/>
        </p:nvCxnSpPr>
        <p:spPr>
          <a:xfrm>
            <a:off x="9436100" y="2654300"/>
            <a:ext cx="127000" cy="0"/>
          </a:xfrm>
          <a:prstGeom prst="line">
            <a:avLst/>
          </a:prstGeom>
          <a:ln w="21590">
            <a:solidFill>
              <a:srgbClr val="51647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: Rounded Corners 24"/>
          <p:cNvSpPr/>
          <p:nvPr/>
        </p:nvSpPr>
        <p:spPr>
          <a:xfrm>
            <a:off x="9601200" y="2057400"/>
            <a:ext cx="2082800" cy="1168400"/>
          </a:xfrm>
          <a:prstGeom prst="roundRect">
            <a:avLst>
              <a:gd name="adj" fmla="val 10000"/>
            </a:avLst>
          </a:prstGeom>
          <a:solidFill>
            <a:srgbClr val="E6F4EF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9779000" y="2184400"/>
            <a:ext cx="304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1200" b="1">
                <a:solidFill>
                  <a:srgbClr val="0F766E"/>
                </a:solidFill>
                <a:latin typeface="Segoe UI" panose="020B0502040204020203"/>
              </a:rPr>
              <a:t>5</a:t>
            </a:r>
            <a:endParaRPr sz="1200" b="1">
              <a:solidFill>
                <a:srgbClr val="0F766E"/>
              </a:solidFill>
              <a:latin typeface="Segoe UI" panose="020B0502040204020203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9779000" y="2578100"/>
            <a:ext cx="1727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1400" b="1">
                <a:solidFill>
                  <a:srgbClr val="102136"/>
                </a:solidFill>
                <a:latin typeface="Segoe UI" panose="020B0502040204020203"/>
              </a:rPr>
              <a:t>COMMIT</a:t>
            </a:r>
            <a:endParaRPr sz="1400" b="1">
              <a:solidFill>
                <a:srgbClr val="102136"/>
              </a:solidFill>
              <a:latin typeface="Segoe UI" panose="020B0502040204020203"/>
            </a:endParaRPr>
          </a:p>
        </p:txBody>
      </p:sp>
      <p:sp>
        <p:nvSpPr>
          <p:cNvPr id="28" name="Rectangle: Rounded Corners 27"/>
          <p:cNvSpPr/>
          <p:nvPr/>
        </p:nvSpPr>
        <p:spPr>
          <a:xfrm>
            <a:off x="508000" y="3429000"/>
            <a:ext cx="11176000" cy="533400"/>
          </a:xfrm>
          <a:prstGeom prst="roundRect">
            <a:avLst>
              <a:gd name="adj" fmla="val 10000"/>
            </a:avLst>
          </a:prstGeom>
          <a:solidFill>
            <a:srgbClr val="FFF0E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723900" y="3568700"/>
            <a:ext cx="10731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1600" b="1">
                <a:solidFill>
                  <a:srgbClr val="B42318"/>
                </a:solidFill>
                <a:latin typeface="Segoe UI" panose="020B0502040204020203"/>
              </a:rPr>
              <a:t>Có lỗi → ROLLBACK: tránh xóa kỳ nháp dở dang</a:t>
            </a:r>
            <a:endParaRPr sz="1600" b="1">
              <a:solidFill>
                <a:srgbClr val="B42318"/>
              </a:solidFill>
              <a:latin typeface="Segoe UI" panose="020B0502040204020203"/>
            </a:endParaRPr>
          </a:p>
        </p:txBody>
      </p:sp>
      <p:sp>
        <p:nvSpPr>
          <p:cNvPr id="30" name="Rectangle: Rounded Corners 29"/>
          <p:cNvSpPr/>
          <p:nvPr/>
        </p:nvSpPr>
        <p:spPr>
          <a:xfrm>
            <a:off x="508000" y="4203700"/>
            <a:ext cx="5448300" cy="1803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: Rounded Corners 30"/>
          <p:cNvSpPr/>
          <p:nvPr/>
        </p:nvSpPr>
        <p:spPr>
          <a:xfrm>
            <a:off x="6210300" y="4203700"/>
            <a:ext cx="5473700" cy="1803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736600" y="440690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1200" b="1">
                <a:solidFill>
                  <a:srgbClr val="0F766E"/>
                </a:solidFill>
                <a:latin typeface="Segoe UI" panose="020B0502040204020203"/>
              </a:rPr>
              <a:t>TỔNG HỢP &amp; TRA CỨU</a:t>
            </a:r>
            <a:endParaRPr sz="1200" b="1">
              <a:solidFill>
                <a:srgbClr val="0F766E"/>
              </a:solidFill>
              <a:latin typeface="Segoe UI" panose="020B0502040204020203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736600" y="485140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1300">
                <a:solidFill>
                  <a:srgbClr val="102136"/>
                </a:solidFill>
                <a:latin typeface="Segoe UI" panose="020B0502040204020203"/>
              </a:rPr>
              <a:t>Function/View tổng hợp phụ cấp, khấu trừ
Lọc dữ liệu theo nhân viên và kỳ
Index hỗ trợ điều kiện lọc</a:t>
            </a:r>
            <a:endParaRPr sz="1300">
              <a:solidFill>
                <a:srgbClr val="102136"/>
              </a:solidFill>
              <a:latin typeface="Segoe UI" panose="020B0502040204020203"/>
            </a:endParaRPr>
          </a:p>
          <a:p>
            <a:endParaRPr sz="1300"/>
          </a:p>
          <a:p>
            <a:endParaRPr sz="1300"/>
          </a:p>
        </p:txBody>
      </p:sp>
      <p:sp>
        <p:nvSpPr>
          <p:cNvPr id="34" name="TextBox 33"/>
          <p:cNvSpPr txBox="1"/>
          <p:nvPr/>
        </p:nvSpPr>
        <p:spPr>
          <a:xfrm>
            <a:off x="6438900" y="4406900"/>
            <a:ext cx="49403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1200" b="1">
                <a:solidFill>
                  <a:srgbClr val="0F766E"/>
                </a:solidFill>
                <a:latin typeface="Segoe UI" panose="020B0502040204020203"/>
              </a:rPr>
              <a:t>BẢO VỆ DỮ LIỆU</a:t>
            </a:r>
            <a:endParaRPr sz="1200" b="1">
              <a:solidFill>
                <a:srgbClr val="0F766E"/>
              </a:solidFill>
              <a:latin typeface="Segoe UI" panose="020B0502040204020203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438900" y="4851400"/>
            <a:ext cx="49403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1300">
                <a:solidFill>
                  <a:srgbClr val="102136"/>
                </a:solidFill>
                <a:latin typeface="Segoe UI" panose="020B0502040204020203"/>
              </a:rPr>
              <a:t>Trigger chặn thay đổi kỳ đã chốt
sp_XoaKyLuongChuaChot chỉ xử lý kỳ nháp
Thử nghiệm trên fixture QA, không dùng kỳ chính</a:t>
            </a:r>
            <a:endParaRPr sz="1300">
              <a:solidFill>
                <a:srgbClr val="102136"/>
              </a:solidFill>
              <a:latin typeface="Segoe UI" panose="020B0502040204020203"/>
            </a:endParaRPr>
          </a:p>
          <a:p>
            <a:endParaRPr sz="1300"/>
          </a:p>
          <a:p>
            <a:endParaRPr sz="13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/>
          <p:cNvSpPr/>
          <p:nvPr/>
        </p:nvSpPr>
        <p:spPr>
          <a:xfrm>
            <a:off x="508000" y="330200"/>
            <a:ext cx="1638300" cy="304800"/>
          </a:xfrm>
          <a:prstGeom prst="roundRect">
            <a:avLst>
              <a:gd name="adj" fmla="val 10000"/>
            </a:avLst>
          </a:prstGeom>
          <a:solidFill>
            <a:srgbClr val="E6F4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35000" y="393700"/>
            <a:ext cx="14097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1000" b="1">
                <a:solidFill>
                  <a:srgbClr val="0F766E"/>
                </a:solidFill>
                <a:latin typeface="Segoe UI" panose="020B0502040204020203"/>
              </a:rPr>
              <a:t>TV3 · PHỤ CẤP &amp; KHẤU TRỪ</a:t>
            </a:r>
            <a:endParaRPr sz="1000" b="1">
              <a:solidFill>
                <a:srgbClr val="0F766E"/>
              </a:solidFill>
              <a:latin typeface="Segoe UI" panose="020B0502040204020203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8000" y="838200"/>
            <a:ext cx="1117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2800" b="1">
                <a:solidFill>
                  <a:srgbClr val="102136"/>
                </a:solidFill>
                <a:latin typeface="Segoe UI" panose="020B0502040204020203"/>
              </a:rPr>
              <a:t>Giao diện lọc kỳ và minh chứng QA SQL</a:t>
            </a:r>
            <a:endParaRPr sz="2800" b="1">
              <a:solidFill>
                <a:srgbClr val="102136"/>
              </a:solidFill>
              <a:latin typeface="Segoe UI" panose="020B0502040204020203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8000" y="1409700"/>
            <a:ext cx="1117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1200">
                <a:solidFill>
                  <a:srgbClr val="51647A"/>
                </a:solidFill>
                <a:latin typeface="Segoe UI" panose="020B0502040204020203"/>
              </a:rPr>
              <a:t>Lọc tháng/năm → xác minh function, view, constraint và xóa kỳ</a:t>
            </a:r>
            <a:endParaRPr sz="1200">
              <a:solidFill>
                <a:srgbClr val="51647A"/>
              </a:solidFill>
              <a:latin typeface="Segoe UI" panose="020B0502040204020203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08000" y="6426200"/>
            <a:ext cx="11176000" cy="12700"/>
          </a:xfrm>
          <a:prstGeom prst="rect">
            <a:avLst/>
          </a:prstGeom>
          <a:solidFill>
            <a:srgbClr val="DDE5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508000" y="6591300"/>
            <a:ext cx="952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1000">
                <a:solidFill>
                  <a:srgbClr val="51647A"/>
                </a:solidFill>
                <a:latin typeface="Segoe UI" panose="020B0502040204020203"/>
              </a:rPr>
              <a:t>Trần Tiến Đạt  ·  MSSV 24110198  ·  Nhóm 06</a:t>
            </a:r>
            <a:endParaRPr sz="1000">
              <a:solidFill>
                <a:srgbClr val="51647A"/>
              </a:solidFill>
              <a:latin typeface="Segoe UI" panose="020B0502040204020203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163300" y="6540500"/>
            <a:ext cx="5207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1300" b="1">
                <a:solidFill>
                  <a:srgbClr val="0F766E"/>
                </a:solidFill>
                <a:latin typeface="Segoe UI" panose="020B0502040204020203"/>
              </a:rPr>
              <a:t>9</a:t>
            </a:r>
            <a:endParaRPr sz="1300" b="1">
              <a:solidFill>
                <a:srgbClr val="0F766E"/>
              </a:solidFill>
              <a:latin typeface="Segoe UI" panose="020B0502040204020203"/>
            </a:endParaRPr>
          </a:p>
        </p:txBody>
      </p:sp>
      <p:sp>
        <p:nvSpPr>
          <p:cNvPr id="9" name="Rectangle: Rounded Corners 8"/>
          <p:cNvSpPr/>
          <p:nvPr/>
        </p:nvSpPr>
        <p:spPr>
          <a:xfrm>
            <a:off x="508000" y="2019300"/>
            <a:ext cx="11176000" cy="635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736600" y="2222500"/>
            <a:ext cx="10731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b="1">
                <a:solidFill>
                  <a:srgbClr val="102136"/>
                </a:solidFill>
                <a:latin typeface="Segoe UI" panose="020B0502040204020203"/>
              </a:rPr>
              <a:t>GIAO DIỆN TV3   →   LỌC THEO THÁNG / NĂM</a:t>
            </a:r>
            <a:endParaRPr b="1">
              <a:solidFill>
                <a:srgbClr val="102136"/>
              </a:solidFill>
              <a:latin typeface="Segoe UI" panose="020B0502040204020203"/>
            </a:endParaRPr>
          </a:p>
        </p:txBody>
      </p:sp>
      <p:sp>
        <p:nvSpPr>
          <p:cNvPr id="11" name="Rectangle: Rounded Corners 10"/>
          <p:cNvSpPr/>
          <p:nvPr/>
        </p:nvSpPr>
        <p:spPr>
          <a:xfrm>
            <a:off x="508000" y="2946400"/>
            <a:ext cx="3543300" cy="1549400"/>
          </a:xfrm>
          <a:prstGeom prst="roundRect">
            <a:avLst>
              <a:gd name="adj" fmla="val 10000"/>
            </a:avLst>
          </a:prstGeom>
          <a:solidFill>
            <a:srgbClr val="E6F4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736600" y="3149600"/>
            <a:ext cx="30861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1100" b="1">
                <a:solidFill>
                  <a:srgbClr val="0F766E"/>
                </a:solidFill>
                <a:latin typeface="Segoe UI" panose="020B0502040204020203"/>
              </a:rPr>
              <a:t>GIAO DIỆN</a:t>
            </a:r>
            <a:endParaRPr sz="1100" b="1">
              <a:solidFill>
                <a:srgbClr val="0F766E"/>
              </a:solidFill>
              <a:latin typeface="Segoe UI" panose="020B0502040204020203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36600" y="3581400"/>
            <a:ext cx="30861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2900" b="1">
                <a:solidFill>
                  <a:srgbClr val="0F766E"/>
                </a:solidFill>
                <a:latin typeface="Segoe UI" panose="020B0502040204020203"/>
              </a:rPr>
              <a:t>BỘ LỌC KỲ</a:t>
            </a:r>
            <a:endParaRPr sz="2900" b="1">
              <a:solidFill>
                <a:srgbClr val="0F766E"/>
              </a:solidFill>
              <a:latin typeface="Segoe UI" panose="020B05020402040202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36600" y="4165600"/>
            <a:ext cx="30861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1100">
                <a:solidFill>
                  <a:srgbClr val="51647A"/>
                </a:solidFill>
                <a:latin typeface="Segoe UI" panose="020B0502040204020203"/>
              </a:rPr>
              <a:t>Tháng / Năm</a:t>
            </a:r>
            <a:endParaRPr sz="1100">
              <a:solidFill>
                <a:srgbClr val="51647A"/>
              </a:solidFill>
              <a:latin typeface="Segoe UI" panose="020B0502040204020203"/>
            </a:endParaRPr>
          </a:p>
        </p:txBody>
      </p:sp>
      <p:sp>
        <p:nvSpPr>
          <p:cNvPr id="15" name="Rectangle: Rounded Corners 14"/>
          <p:cNvSpPr/>
          <p:nvPr/>
        </p:nvSpPr>
        <p:spPr>
          <a:xfrm>
            <a:off x="4279900" y="2946400"/>
            <a:ext cx="7404100" cy="1549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521200" y="3149600"/>
            <a:ext cx="6934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1100" b="1">
                <a:solidFill>
                  <a:srgbClr val="2563EB"/>
                </a:solidFill>
                <a:latin typeface="Segoe UI" panose="020B0502040204020203"/>
              </a:rPr>
              <a:t>BENCHMARK INDEX · LOGICAL READS</a:t>
            </a:r>
            <a:endParaRPr sz="1100" b="1">
              <a:solidFill>
                <a:srgbClr val="2563EB"/>
              </a:solidFill>
              <a:latin typeface="Segoe UI" panose="020B0502040204020203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521200" y="35433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3100" b="1">
                <a:solidFill>
                  <a:srgbClr val="102136"/>
                </a:solidFill>
                <a:latin typeface="Segoe UI" panose="020B0502040204020203"/>
              </a:rPr>
              <a:t>642  →  2</a:t>
            </a:r>
            <a:endParaRPr sz="3100" b="1">
              <a:solidFill>
                <a:srgbClr val="102136"/>
              </a:solidFill>
              <a:latin typeface="Segoe UI" panose="020B0502040204020203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445500" y="3619500"/>
            <a:ext cx="3022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1500">
                <a:solidFill>
                  <a:srgbClr val="51647A"/>
                </a:solidFill>
                <a:latin typeface="Segoe UI" panose="020B0502040204020203"/>
              </a:rPr>
              <a:t>Fixture riêng · 30.000 dòng</a:t>
            </a:r>
            <a:endParaRPr sz="1500">
              <a:solidFill>
                <a:srgbClr val="51647A"/>
              </a:solidFill>
              <a:latin typeface="Segoe UI" panose="020B0502040204020203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521200" y="4165600"/>
            <a:ext cx="6921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1100">
                <a:solidFill>
                  <a:srgbClr val="51647A"/>
                </a:solidFill>
                <a:latin typeface="Segoe UI" panose="020B0502040204020203"/>
              </a:rPr>
              <a:t>Benchmark TV3 · đối chiếu cùng truy vấn và actual plan</a:t>
            </a:r>
            <a:endParaRPr sz="1100">
              <a:solidFill>
                <a:srgbClr val="51647A"/>
              </a:solidFill>
              <a:latin typeface="Segoe UI" panose="020B0502040204020203"/>
            </a:endParaRPr>
          </a:p>
        </p:txBody>
      </p:sp>
      <p:sp>
        <p:nvSpPr>
          <p:cNvPr id="20" name="Rectangle: Rounded Corners 19"/>
          <p:cNvSpPr/>
          <p:nvPr/>
        </p:nvSpPr>
        <p:spPr>
          <a:xfrm>
            <a:off x="508000" y="4749800"/>
            <a:ext cx="11176000" cy="1219200"/>
          </a:xfrm>
          <a:prstGeom prst="roundRect">
            <a:avLst>
              <a:gd name="adj" fmla="val 10000"/>
            </a:avLst>
          </a:prstGeom>
          <a:solidFill>
            <a:srgbClr val="EDF3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736600" y="4940300"/>
            <a:ext cx="1066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1100" b="1">
                <a:solidFill>
                  <a:srgbClr val="2563EB"/>
                </a:solidFill>
                <a:latin typeface="Segoe UI" panose="020B0502040204020203"/>
              </a:rPr>
              <a:t>MINH CHỨNG QA SQL</a:t>
            </a:r>
            <a:endParaRPr sz="1100" b="1">
              <a:solidFill>
                <a:srgbClr val="2563EB"/>
              </a:solidFill>
              <a:latin typeface="Segoe UI" panose="020B0502040204020203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36600" y="5308600"/>
            <a:ext cx="10629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1300">
                <a:solidFill>
                  <a:srgbClr val="102136"/>
                </a:solidFill>
                <a:latin typeface="Segoe UI" panose="020B0502040204020203"/>
              </a:rPr>
              <a:t>Xác minh function/view, constraint và procedure xóa kỳ nháp qua log kiểm thử.</a:t>
            </a:r>
            <a:endParaRPr sz="1300">
              <a:solidFill>
                <a:srgbClr val="102136"/>
              </a:solidFill>
              <a:latin typeface="Segoe UI" panose="020B0502040204020203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36600" y="5727700"/>
            <a:ext cx="10629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sz="1100">
                <a:solidFill>
                  <a:srgbClr val="51647A"/>
                </a:solidFill>
                <a:latin typeface="Segoe UI" panose="020B0502040204020203"/>
              </a:rPr>
              <a:t>Benchmark dùng fixture riêng; số đo chỉ áp dụng cho truy vấn/môi trường đã đo.</a:t>
            </a:r>
            <a:endParaRPr sz="1100">
              <a:solidFill>
                <a:srgbClr val="51647A"/>
              </a:solidFill>
              <a:latin typeface="Segoe UI" panose="020B0502040204020203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1703</Words>
  <Application>WPS Presentation</Application>
  <PresentationFormat>Custom</PresentationFormat>
  <Paragraphs>118</Paragraphs>
  <Slides>3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4" baseType="lpstr">
      <vt:lpstr>Arial</vt:lpstr>
      <vt:lpstr>SimSun</vt:lpstr>
      <vt:lpstr>Wingdings</vt:lpstr>
      <vt:lpstr>Segoe UI</vt:lpstr>
      <vt:lpstr>Aptos</vt:lpstr>
      <vt:lpstr>Segoe UI</vt:lpstr>
      <vt:lpstr>Microsoft YaHei</vt:lpstr>
      <vt:lpstr>Arial Unicode MS</vt:lpstr>
      <vt:lpstr>Aptos Display</vt:lpstr>
      <vt:lpstr>Segoe UI Variable Display</vt:lpstr>
      <vt:lpstr>Office Theme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Vinh Nguyễn</dc:creator>
  <cp:lastModifiedBy>10A14.07 Tiến Đạt</cp:lastModifiedBy>
  <cp:revision>5</cp:revision>
  <dcterms:created xsi:type="dcterms:W3CDTF">2026-10-10T12:56:00Z</dcterms:created>
  <dcterms:modified xsi:type="dcterms:W3CDTF">2026-10-14T16:23:23Z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44C4DC99C40245C0AFDFCD10FC643DF4_13</vt:lpwstr>
  </property>
  <property fmtid="{D5CDD505-2E9C-101B-9397-08002B2CF9AE}" pid="3" name="KSOProductBuildVer">
    <vt:lpwstr>1033-12.1.0.29162</vt:lpwstr>
  </property>
</Properties>
</file>