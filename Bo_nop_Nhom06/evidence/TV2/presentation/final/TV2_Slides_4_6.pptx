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66FB-52FB-4428-9B06-D3D365DE8936}"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89A198-9E86-4664-9F15-53185496C10F}" type="slidenum">
              <a:rPr lang="en-US" smtClean="0"/>
              <a:t>‹#›</a:t>
            </a:fld>
            <a:endParaRPr lang="en-US"/>
          </a:p>
        </p:txBody>
      </p:sp>
    </p:spTree>
    <p:extLst>
      <p:ext uri="{BB962C8B-B14F-4D97-AF65-F5344CB8AC3E}">
        <p14:creationId xmlns:p14="http://schemas.microsoft.com/office/powerpoint/2010/main" val="1826071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Em là Phạm Minh Quân, phụ trách phân hệ Chấm công. Vì chấm công là nguồn dữ liệu đầu vào trực tiếp để tính lương, nhóm áp dụng chiến lược kiểm soát nhiều tầng, chốt chặn vững chắc ngay tại CSDL chứ không chỉ dựa vào giao diện.</a:t>
            </a:r>
          </a:p>
          <a:p>
            <a:endParaRPr lang="vi-VN"/>
          </a:p>
          <a:p>
            <a:r>
              <a:rPr lang="vi-VN"/>
              <a:t>Bảng CHAMCONG được chuẩn hóa 3NF với khóa chính tự sinh. Các quy tắc nghiệp vụ được ánh xạ trực tiếp thành các vật thể CSDL: tính duy nhất 'một nhân viên – một ngày đúng một bản ghi' do ràng buộc UNIQUE bảo đảm; ngày chấm công không vượt quá hiện tại, và trạng thái công chỉ nhận đúng 4 giá trị nghiệp vụ CO_MAT, DI_TRE, VE_SOM, VANG đều do CHECK constraint kiểm soát. Trên giao diện, 4 mã kỹ thuật này được nạp trực tiếp và hiển thị nguyên bản; khi trình bày người thuyết trình giải thích nghĩa tiếng Việt tương ứng. Riêng các quy tắc so sánh giữa hai cột — giờ ra phải sau giờ vào (được kiểm thử tại ca TC-CC-07) — hoặc cần kiểm tra trạng thái bảng khác — nhân viên phải đang làm việc (ca TC-CC-06) — được thực thi bởi Stored Procedure kết hợp 2 Trigger AFTER.</a:t>
            </a:r>
          </a:p>
          <a:p>
            <a:endParaRPr lang="vi-VN"/>
          </a:p>
          <a:p>
            <a:r>
              <a:rPr lang="vi-VN"/>
              <a:t>Nhờ mô hình phòng thủ đa tầng Service -&gt; Procedure -&gt; Constraint -&gt; Trigger, các quy tắc nghiệp vụ cốt lõi luôn được chốt chặn cưỡng bức tại CSDL kể cả khi có câu lệnh ghi ngoài ứng dụng vi phạm điều kiện. Các câu lệnh SQL trực tiếp hợp lệ vẫn được thực thi bình thường, và cơ chế này bảo vệ theo phạm vi ràng buộc cụ thể chứ không bảo vệ tuyệt đối trước can thiệp đặc quyền mức quản trị viên (DBA).</a:t>
            </a:r>
            <a:endParaRPr lang="en-US"/>
          </a:p>
        </p:txBody>
      </p:sp>
      <p:sp>
        <p:nvSpPr>
          <p:cNvPr id="4" name="Slide Number Placeholder 3"/>
          <p:cNvSpPr>
            <a:spLocks noGrp="1"/>
          </p:cNvSpPr>
          <p:nvPr>
            <p:ph type="sldNum" sz="quarter" idx="5"/>
          </p:nvPr>
        </p:nvSpPr>
        <p:spPr/>
        <p:txBody>
          <a:bodyPr/>
          <a:lstStyle/>
          <a:p>
            <a:fld id="{4E89A198-9E86-4664-9F15-53185496C10F}" type="slidenum">
              <a:rPr lang="en-US" smtClean="0"/>
              <a:t>1</a:t>
            </a:fld>
            <a:endParaRPr lang="en-US"/>
          </a:p>
        </p:txBody>
      </p:sp>
    </p:spTree>
    <p:extLst>
      <p:ext uri="{BB962C8B-B14F-4D97-AF65-F5344CB8AC3E}">
        <p14:creationId xmlns:p14="http://schemas.microsoft.com/office/powerpoint/2010/main" val="2052989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các đối tượng xử lý: thủ tục sp_GhiNhanChamCong thực hiện 7 bước tiền kiểm tra nghiêm ngặt trước khi ghi và trả mã chấm công qua tham số OUTPUT. Thủ tục cố ý không tự mở transaction nội bộ, nhường quyền điều phối giao dịch cho tầng Java. Hai trigger AFTER của phân hệ kiểm tra giờ (TC-CC-07) và trạng thái nhân viên (TC-CC-06), áp dụng set-based cho mọi đường ghi. Khi kỳ lương đã chốt, trigger ở module 05 của bạn Trần Đức Anh sẽ khóa bảng lương bằng UPDLOCK và HOLDLOCK, hợp tập kỳ của cả inserted và deleted để chặn mọi hành vi thêm, sửa, xóa hay chuyển ngày vào kỳ đã khóa.</a:t>
            </a:r>
          </a:p>
          <a:p>
            <a:endParaRPr lang="vi-VN"/>
          </a:p>
          <a:p>
            <a:r>
              <a:rPr lang="vi-VN"/>
              <a:t>Đặc biệt, nghiệp vụ điểm danh hàng loạt được xử lý theo nguyên tắc All-or-Nothing: Service mở duy nhất một connection, tắt auto-commit, lặp gọi thủ tục cho từng dòng; nếu toàn bộ hợp lệ thì commit (TC-CC-08), nhưng chỉ cần một dòng vi phạm thì rollback toàn bộ lô (TC-CC-09) — 0 bản ghi rác nào được lưu lại. Toàn bộ logic này đã đạt 21/21 PASS trong test suite tự động.</a:t>
            </a:r>
            <a:endParaRPr lang="en-US"/>
          </a:p>
        </p:txBody>
      </p:sp>
      <p:sp>
        <p:nvSpPr>
          <p:cNvPr id="4" name="Slide Number Placeholder 3"/>
          <p:cNvSpPr>
            <a:spLocks noGrp="1"/>
          </p:cNvSpPr>
          <p:nvPr>
            <p:ph type="sldNum" sz="quarter" idx="5"/>
          </p:nvPr>
        </p:nvSpPr>
        <p:spPr/>
        <p:txBody>
          <a:bodyPr/>
          <a:lstStyle/>
          <a:p>
            <a:fld id="{4E89A198-9E86-4664-9F15-53185496C10F}" type="slidenum">
              <a:rPr lang="en-US" smtClean="0"/>
              <a:t>2</a:t>
            </a:fld>
            <a:endParaRPr lang="en-US"/>
          </a:p>
        </p:txBody>
      </p:sp>
    </p:spTree>
    <p:extLst>
      <p:ext uri="{BB962C8B-B14F-4D97-AF65-F5344CB8AC3E}">
        <p14:creationId xmlns:p14="http://schemas.microsoft.com/office/powerpoint/2010/main" val="856648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Dữ liệu công được tổng hợp đa chiều qua view vw_TongHopChamCongThang: tính số ngày đi làm, đi trễ, về sớm, vắng và tổng giờ làm của từng nhân sự; tab Tổng hợp trên ứng dụng đọc trực tiếp view này. Cảnh báo NULL elimination phát sinh từ COUNT(CASE...) không có ELSE theo chuẩn ANSI SQL.</a:t>
            </a:r>
          </a:p>
          <a:p>
            <a:endParaRPr lang="vi-VN"/>
          </a:p>
          <a:p>
            <a:r>
              <a:rPr lang="vi-VN"/>
              <a:t>Để tối ưu hóa truy vấn chi tiết và tổng hợp, em thiết kế covering index với mệnh đề INCLUDE giờ vào, giờ ra, trạng thái. Thử nghiệm trên bảng tạm cách ly 30.000 dòng có forced INDEX hint cho thấy: baseline có seek từ UNIQUE constraint nhưng chịu Key Lookup từng dòng về Clustered Index; khi có covering index, kế hoạch chuyển sang Pure Index Seek. Số lượt đọc logic giảm mạnh từ 574 trang xuống chỉ còn 5 trang — cắt giảm 99.1289% lượt đọc logic theo Messages (từ 522 xuống 5, giảm 99.0421% theo XML plan operator counters), giảm thiểu truy xuất bộ đệm buffer pool. Con số 574 phản ánh buffer pool page reads của Storage Engine, còn 522 là operator counters trong XML; nguyên nhân kỹ thuật cụ thể của độ chênh 52 trang là UNKNOWN. Đây là phép đo so sánh logical reads trên warm cache, không tuyên bố về cắt giảm đọc đĩa vật lý và không phải cam kết latency môi trường sản xuất.</a:t>
            </a:r>
          </a:p>
          <a:p>
            <a:endParaRPr lang="vi-VN"/>
          </a:p>
          <a:p>
            <a:r>
              <a:rPr lang="vi-VN"/>
              <a:t>Về kết nối phân hệ: hàm fn_TongPhuCap do em phụ trách tại module 03 giúp tổng hợp phụ cấp cho thủ tục tính lương của TV4; còn ngày công, TV4 đếm trực tiếp bảng CHAMCONG trong giao dịch có khóa HOLDLOCK mà không thông qua fn_TinhSoNgayCong của TV1. Em xin chuyển phần trình bày cho bạn Trần Tiến Đạt với phân hệ Phụ cấp và Khấu trừ.</a:t>
            </a:r>
            <a:endParaRPr lang="en-US"/>
          </a:p>
        </p:txBody>
      </p:sp>
      <p:sp>
        <p:nvSpPr>
          <p:cNvPr id="4" name="Slide Number Placeholder 3"/>
          <p:cNvSpPr>
            <a:spLocks noGrp="1"/>
          </p:cNvSpPr>
          <p:nvPr>
            <p:ph type="sldNum" sz="quarter" idx="5"/>
          </p:nvPr>
        </p:nvSpPr>
        <p:spPr/>
        <p:txBody>
          <a:bodyPr/>
          <a:lstStyle/>
          <a:p>
            <a:fld id="{4E89A198-9E86-4664-9F15-53185496C10F}" type="slidenum">
              <a:rPr lang="en-US" smtClean="0"/>
              <a:t>3</a:t>
            </a:fld>
            <a:endParaRPr lang="en-US"/>
          </a:p>
        </p:txBody>
      </p:sp>
    </p:spTree>
    <p:extLst>
      <p:ext uri="{BB962C8B-B14F-4D97-AF65-F5344CB8AC3E}">
        <p14:creationId xmlns:p14="http://schemas.microsoft.com/office/powerpoint/2010/main" val="701740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FA4B5-6C9E-1DCF-E6DB-E963F9FAF8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389194-6083-88D4-9289-D4140546D2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0DF4E1-EDEE-7A2C-A886-9C736AF93A3B}"/>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5" name="Footer Placeholder 4">
            <a:extLst>
              <a:ext uri="{FF2B5EF4-FFF2-40B4-BE49-F238E27FC236}">
                <a16:creationId xmlns:a16="http://schemas.microsoft.com/office/drawing/2014/main" id="{BC0669EA-38D6-448E-7479-4D05798212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EE612-150A-8E45-0AEB-1C30B63E6C0C}"/>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520549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247A6-88DE-0DDB-DBB3-5F670DEF36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DEF26E-BB8F-8CF2-5351-D3A6C1B75E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03D8F0-90DD-6A04-C48A-82E508527BBF}"/>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5" name="Footer Placeholder 4">
            <a:extLst>
              <a:ext uri="{FF2B5EF4-FFF2-40B4-BE49-F238E27FC236}">
                <a16:creationId xmlns:a16="http://schemas.microsoft.com/office/drawing/2014/main" id="{22F34C1F-6CAB-4453-6D09-BBEA40BFB9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75962-AEB2-586B-8886-C4BC5DE7B319}"/>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2347011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03F64-DABA-ECF9-AF00-F7FD30ED8A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CF5752-9AC2-0015-3058-213B0481A3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13495E-7BC3-6324-1B88-BB1B01E8AE8D}"/>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5" name="Footer Placeholder 4">
            <a:extLst>
              <a:ext uri="{FF2B5EF4-FFF2-40B4-BE49-F238E27FC236}">
                <a16:creationId xmlns:a16="http://schemas.microsoft.com/office/drawing/2014/main" id="{A0343413-321D-3DE8-7447-C47A4D361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A6216-E0A6-15CD-94E1-B6E11AC31093}"/>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1514695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4872-E5B6-CBD0-58A1-C7CC969228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AC196E-5BC2-2238-4728-097CB73EEE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C41BEE-EBF0-1F28-28A5-66DCB26DAC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0D1D4E-5BF3-CF8B-3149-8201EAC2D0A3}"/>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6" name="Footer Placeholder 5">
            <a:extLst>
              <a:ext uri="{FF2B5EF4-FFF2-40B4-BE49-F238E27FC236}">
                <a16:creationId xmlns:a16="http://schemas.microsoft.com/office/drawing/2014/main" id="{EAE3A418-CCEF-06DE-040D-24BE937E21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198B70-D283-8BC4-C88D-FEBA9E11D97C}"/>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4196911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E4099-EF58-03E2-89D9-CBEED7267B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74805C-D6A5-7AD4-6AB8-EF2E4D77AD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3ADA5F-953B-9DCF-C08A-0471D8D8FA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E923C0-1954-711F-4D63-8529F192DF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03D1D5-E3E0-153D-BD10-DE0A8F97B3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F57002-5B41-CBCC-0F0F-AE77B3FC61D3}"/>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8" name="Footer Placeholder 7">
            <a:extLst>
              <a:ext uri="{FF2B5EF4-FFF2-40B4-BE49-F238E27FC236}">
                <a16:creationId xmlns:a16="http://schemas.microsoft.com/office/drawing/2014/main" id="{B8522713-6168-19B2-AB19-CBFE96FEDB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2373FA-775B-73C4-E7E0-EAF6DA3F9836}"/>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1109024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B47C-80ED-6931-D175-08471602A4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5A7352-C968-15A8-051F-D780DC24FA0A}"/>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4" name="Footer Placeholder 3">
            <a:extLst>
              <a:ext uri="{FF2B5EF4-FFF2-40B4-BE49-F238E27FC236}">
                <a16:creationId xmlns:a16="http://schemas.microsoft.com/office/drawing/2014/main" id="{D61657A0-8986-6CD8-92A1-C4462A4914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F1E1A8-286C-503B-3852-9BF9E3D52BDB}"/>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19778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837A2E-1ACD-0E80-8FBA-16FCD7117710}"/>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3" name="Footer Placeholder 2">
            <a:extLst>
              <a:ext uri="{FF2B5EF4-FFF2-40B4-BE49-F238E27FC236}">
                <a16:creationId xmlns:a16="http://schemas.microsoft.com/office/drawing/2014/main" id="{B668D33F-4E77-29F6-FD42-A51159C8EE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2A21E2-6575-DE36-0351-9C216B4A8F08}"/>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2594506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E32A1-9314-021D-6AAF-1D7332520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90E45A-5EEE-46D9-2031-158E086AD5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76DBEE-3A3F-1B53-95C5-9A71D82F4B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B67579-7C5E-8B5F-10F1-4CCA582D8A42}"/>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6" name="Footer Placeholder 5">
            <a:extLst>
              <a:ext uri="{FF2B5EF4-FFF2-40B4-BE49-F238E27FC236}">
                <a16:creationId xmlns:a16="http://schemas.microsoft.com/office/drawing/2014/main" id="{36A18751-F9BE-2F33-866A-C6AC2FD51C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C77C00-7AA9-F654-9E02-93E2C505C6F5}"/>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3343625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038C-284A-57EA-EF18-1A27CE694E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7F619B-1C32-943E-29C8-932FC165CED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797123-B9B3-5581-9D9A-72A2E8E9A4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490FA8-6667-577C-667B-79A25222473B}"/>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6" name="Footer Placeholder 5">
            <a:extLst>
              <a:ext uri="{FF2B5EF4-FFF2-40B4-BE49-F238E27FC236}">
                <a16:creationId xmlns:a16="http://schemas.microsoft.com/office/drawing/2014/main" id="{A722E402-3E08-7D83-EB60-3CF3F25F89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2D510-0B4D-0229-A2CA-561F57A8A954}"/>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833475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5E76-FE56-DE7D-DC3C-E06728E06C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999159-EE9A-11F0-34AF-B590E028BE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D981F6-677D-C62E-982B-8AB68CBA0EB4}"/>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5" name="Footer Placeholder 4">
            <a:extLst>
              <a:ext uri="{FF2B5EF4-FFF2-40B4-BE49-F238E27FC236}">
                <a16:creationId xmlns:a16="http://schemas.microsoft.com/office/drawing/2014/main" id="{5AE3F18E-B597-F544-6073-633CD24174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FFEAB-6D4C-9E0F-712D-6ADEEEEB2760}"/>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1522249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85B78B-AD3B-7A9D-2052-325AD4E5B9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B25BED-B323-F3ED-F7EC-79CA3724AA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9091F-9E91-0702-3FBB-676BBDB407F1}"/>
              </a:ext>
            </a:extLst>
          </p:cNvPr>
          <p:cNvSpPr>
            <a:spLocks noGrp="1"/>
          </p:cNvSpPr>
          <p:nvPr>
            <p:ph type="dt" sz="half" idx="10"/>
          </p:nvPr>
        </p:nvSpPr>
        <p:spPr/>
        <p:txBody>
          <a:bodyPr/>
          <a:lstStyle/>
          <a:p>
            <a:fld id="{DAB680BD-FA93-402F-B943-4C265F7DAC30}" type="datetimeFigureOut">
              <a:rPr lang="en-US" smtClean="0"/>
              <a:t>10/13/2026</a:t>
            </a:fld>
            <a:endParaRPr lang="en-US"/>
          </a:p>
        </p:txBody>
      </p:sp>
      <p:sp>
        <p:nvSpPr>
          <p:cNvPr id="5" name="Footer Placeholder 4">
            <a:extLst>
              <a:ext uri="{FF2B5EF4-FFF2-40B4-BE49-F238E27FC236}">
                <a16:creationId xmlns:a16="http://schemas.microsoft.com/office/drawing/2014/main" id="{11D62620-E1CC-05D2-6BAB-B799BE1A98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3A08C-1DA6-B61B-3051-F532E3B9D68B}"/>
              </a:ext>
            </a:extLst>
          </p:cNvPr>
          <p:cNvSpPr>
            <a:spLocks noGrp="1"/>
          </p:cNvSpPr>
          <p:nvPr>
            <p:ph type="sldNum" sz="quarter" idx="12"/>
          </p:nvPr>
        </p:nvSpPr>
        <p:spPr/>
        <p:txBody>
          <a:bodyPr/>
          <a:lstStyle/>
          <a:p>
            <a:fld id="{6AF9E206-A053-45E7-AAAA-981C2BED393E}" type="slidenum">
              <a:rPr lang="en-US" smtClean="0"/>
              <a:t>‹#›</a:t>
            </a:fld>
            <a:endParaRPr lang="en-US"/>
          </a:p>
        </p:txBody>
      </p:sp>
    </p:spTree>
    <p:extLst>
      <p:ext uri="{BB962C8B-B14F-4D97-AF65-F5344CB8AC3E}">
        <p14:creationId xmlns:p14="http://schemas.microsoft.com/office/powerpoint/2010/main" val="3514990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36C25F-189A-8AE7-FE04-770C1D70CC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43404A-D278-430B-7023-B5938050FF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630AE-B147-D431-9580-37F8599C70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680BD-FA93-402F-B943-4C265F7DAC30}" type="datetimeFigureOut">
              <a:rPr lang="en-US" smtClean="0"/>
              <a:t>10/13/2026</a:t>
            </a:fld>
            <a:endParaRPr lang="en-US"/>
          </a:p>
        </p:txBody>
      </p:sp>
      <p:sp>
        <p:nvSpPr>
          <p:cNvPr id="5" name="Footer Placeholder 4">
            <a:extLst>
              <a:ext uri="{FF2B5EF4-FFF2-40B4-BE49-F238E27FC236}">
                <a16:creationId xmlns:a16="http://schemas.microsoft.com/office/drawing/2014/main" id="{FB5E7BA2-2387-EEE6-9381-2ADC0F6326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7C97CB2-C72B-002F-A6D5-BBF2674E00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F9E206-A053-45E7-AAAA-981C2BED393E}" type="slidenum">
              <a:rPr lang="en-US" smtClean="0"/>
              <a:t>‹#›</a:t>
            </a:fld>
            <a:endParaRPr lang="en-US"/>
          </a:p>
        </p:txBody>
      </p:sp>
    </p:spTree>
    <p:extLst>
      <p:ext uri="{BB962C8B-B14F-4D97-AF65-F5344CB8AC3E}">
        <p14:creationId xmlns:p14="http://schemas.microsoft.com/office/powerpoint/2010/main" val="3950066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50EF9B-234E-D8B0-63D0-C2DC3F5D85E8}"/>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26A20A-AE69-26FB-B836-417859799B03}"/>
              </a:ext>
            </a:extLst>
          </p:cNvPr>
          <p:cNvSpPr/>
          <p:nvPr/>
        </p:nvSpPr>
        <p:spPr>
          <a:xfrm>
            <a:off x="0" y="0"/>
            <a:ext cx="12192000" cy="889000"/>
          </a:xfrm>
          <a:prstGeom prst="rect">
            <a:avLst/>
          </a:prstGeom>
          <a:solidFill>
            <a:srgbClr val="1E2D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3CFA829-70EB-81AD-C7E8-783C0F336392}"/>
              </a:ext>
            </a:extLst>
          </p:cNvPr>
          <p:cNvSpPr txBox="1"/>
          <p:nvPr/>
        </p:nvSpPr>
        <p:spPr>
          <a:xfrm>
            <a:off x="381000" y="127000"/>
            <a:ext cx="11430000" cy="400110"/>
          </a:xfrm>
          <a:prstGeom prst="rect">
            <a:avLst/>
          </a:prstGeom>
          <a:noFill/>
        </p:spPr>
        <p:txBody>
          <a:bodyPr vert="horz" rtlCol="0">
            <a:spAutoFit/>
          </a:bodyPr>
          <a:lstStyle/>
          <a:p>
            <a:r>
              <a:rPr lang="vi-VN" sz="2000" b="1">
                <a:solidFill>
                  <a:srgbClr val="FFFFFF"/>
                </a:solidFill>
                <a:latin typeface="Segoe UI" panose="020B0502040204020203" pitchFamily="34" charset="0"/>
              </a:rPr>
              <a:t>SLIDE 4: NGHIỆP VỤ CHẤM CÔNG VÀ RÀNG BUỘC CƠ SỞ DỮ LIỆU</a:t>
            </a:r>
            <a:endParaRPr lang="en-US" sz="20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E302199D-7B2D-BFB7-3590-9A0A4642A888}"/>
              </a:ext>
            </a:extLst>
          </p:cNvPr>
          <p:cNvSpPr txBox="1"/>
          <p:nvPr/>
        </p:nvSpPr>
        <p:spPr>
          <a:xfrm>
            <a:off x="381000" y="533400"/>
            <a:ext cx="11430000" cy="261610"/>
          </a:xfrm>
          <a:prstGeom prst="rect">
            <a:avLst/>
          </a:prstGeom>
          <a:noFill/>
        </p:spPr>
        <p:txBody>
          <a:bodyPr vert="horz" rtlCol="0">
            <a:spAutoFit/>
          </a:bodyPr>
          <a:lstStyle/>
          <a:p>
            <a:r>
              <a:rPr lang="en-US" sz="1100">
                <a:solidFill>
                  <a:srgbClr val="CCCCCC"/>
                </a:solidFill>
                <a:latin typeface="Segoe UI" panose="020B0502040204020203" pitchFamily="34" charset="0"/>
              </a:rPr>
              <a:t>Phạm Minh Quân (TV2 — MSSV: 24110311) | Kiến trúc kiểm soát đa tầng (Multi-tier Defense)</a:t>
            </a:r>
          </a:p>
        </p:txBody>
      </p:sp>
      <p:sp>
        <p:nvSpPr>
          <p:cNvPr id="6" name="Rectangle 5">
            <a:extLst>
              <a:ext uri="{FF2B5EF4-FFF2-40B4-BE49-F238E27FC236}">
                <a16:creationId xmlns:a16="http://schemas.microsoft.com/office/drawing/2014/main" id="{0880950D-4EA0-BE52-82CC-B0C11F6E7E01}"/>
              </a:ext>
            </a:extLst>
          </p:cNvPr>
          <p:cNvSpPr/>
          <p:nvPr/>
        </p:nvSpPr>
        <p:spPr>
          <a:xfrm>
            <a:off x="381000" y="1079500"/>
            <a:ext cx="5461000" cy="5397500"/>
          </a:xfrm>
          <a:prstGeom prst="rect">
            <a:avLst/>
          </a:prstGeom>
          <a:solidFill>
            <a:srgbClr val="FAF7F5"/>
          </a:solidFill>
          <a:ln>
            <a:solidFill>
              <a:srgbClr val="DED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211FF4A-0450-19E0-5BB1-F953A953AD28}"/>
              </a:ext>
            </a:extLst>
          </p:cNvPr>
          <p:cNvSpPr txBox="1"/>
          <p:nvPr/>
        </p:nvSpPr>
        <p:spPr>
          <a:xfrm>
            <a:off x="508000" y="1206500"/>
            <a:ext cx="5207000" cy="3308598"/>
          </a:xfrm>
          <a:prstGeom prst="rect">
            <a:avLst/>
          </a:prstGeom>
          <a:noFill/>
        </p:spPr>
        <p:txBody>
          <a:bodyPr vert="horz" wrap="square" rtlCol="0">
            <a:spAutoFit/>
          </a:bodyPr>
          <a:lstStyle/>
          <a:p>
            <a:r>
              <a:rPr lang="vi-VN" sz="1100">
                <a:solidFill>
                  <a:srgbClr val="222222"/>
                </a:solidFill>
                <a:latin typeface="Segoe UI" panose="020B0502040204020203" pitchFamily="34" charset="0"/>
              </a:rPr>
              <a:t>BẢNG dbo.CHAMCONG (CHUẨN HÓA 3NF) &amp; RÀNG BUỘC VẬT THỂ</a:t>
            </a:r>
          </a:p>
          <a:p>
            <a:endParaRPr lang="vi-VN" sz="1100">
              <a:solidFill>
                <a:srgbClr val="222222"/>
              </a:solidFill>
              <a:latin typeface="Segoe UI" panose="020B0502040204020203" pitchFamily="34" charset="0"/>
            </a:endParaRPr>
          </a:p>
          <a:p>
            <a:r>
              <a:rPr lang="vi-VN" sz="1100">
                <a:solidFill>
                  <a:srgbClr val="222222"/>
                </a:solidFill>
                <a:latin typeface="Segoe UI" panose="020B0502040204020203" pitchFamily="34" charset="0"/>
              </a:rPr>
              <a:t>• MaChamCong: INT IDENTITY(1,1) NOT NULL [PK_CHAMCONG - CLUSTERED]</a:t>
            </a:r>
          </a:p>
          <a:p>
            <a:r>
              <a:rPr lang="vi-VN" sz="1100">
                <a:solidFill>
                  <a:srgbClr val="222222"/>
                </a:solidFill>
                <a:latin typeface="Segoe UI" panose="020B0502040204020203" pitchFamily="34" charset="0"/>
              </a:rPr>
              <a:t>• MaNV: INT NOT NULL [FK_CHAMCONG_NHANVIEN -&gt; dbo.NHANVIEN(MaNV)]</a:t>
            </a:r>
          </a:p>
          <a:p>
            <a:r>
              <a:rPr lang="vi-VN" sz="1100">
                <a:solidFill>
                  <a:srgbClr val="222222"/>
                </a:solidFill>
                <a:latin typeface="Segoe UI" panose="020B0502040204020203" pitchFamily="34" charset="0"/>
              </a:rPr>
              <a:t>• NgayChamCong: DATE NOT NULL [CHK_CHAMCONG_Ngay &lt;= CAST(GETDATE() AS DATE)]</a:t>
            </a:r>
          </a:p>
          <a:p>
            <a:r>
              <a:rPr lang="vi-VN" sz="1100">
                <a:solidFill>
                  <a:srgbClr val="222222"/>
                </a:solidFill>
                <a:latin typeface="Segoe UI" panose="020B0502040204020203" pitchFamily="34" charset="0"/>
              </a:rPr>
              <a:t>• GioVao: TIME(0) NOT NULL (Định dạng chuẩn, SP + Trigger kiểm soát)</a:t>
            </a:r>
          </a:p>
          <a:p>
            <a:r>
              <a:rPr lang="vi-VN" sz="1100">
                <a:solidFill>
                  <a:srgbClr val="222222"/>
                </a:solidFill>
                <a:latin typeface="Segoe UI" panose="020B0502040204020203" pitchFamily="34" charset="0"/>
              </a:rPr>
              <a:t>• GioRa: TIME(0) NULL (Cho phép chưa checkout; Trigger kiểm tra GioRa &gt; GioVao)</a:t>
            </a:r>
          </a:p>
          <a:p>
            <a:r>
              <a:rPr lang="vi-VN" sz="1100">
                <a:solidFill>
                  <a:srgbClr val="222222"/>
                </a:solidFill>
                <a:latin typeface="Segoe UI" panose="020B0502040204020203" pitchFamily="34" charset="0"/>
              </a:rPr>
              <a:t>• TrangThai: NVARCHAR(20) NOT NULL [DEFAULT N'CO_MAT']</a:t>
            </a:r>
          </a:p>
          <a:p>
            <a:r>
              <a:rPr lang="vi-VN" sz="1100">
                <a:solidFill>
                  <a:srgbClr val="222222"/>
                </a:solidFill>
                <a:latin typeface="Segoe UI" panose="020B0502040204020203" pitchFamily="34" charset="0"/>
              </a:rPr>
              <a:t>   Ràng buộc CHECK: CHK_CHAMCONG_TrangThai gồm 4 mã nghiệp vụ:</a:t>
            </a:r>
          </a:p>
          <a:p>
            <a:r>
              <a:rPr lang="vi-VN" sz="1100">
                <a:solidFill>
                  <a:srgbClr val="222222"/>
                </a:solidFill>
                <a:latin typeface="Segoe UI" panose="020B0502040204020203" pitchFamily="34" charset="0"/>
              </a:rPr>
              <a:t>   CO_MAT / DI_TRE / VE_SOM / VANG</a:t>
            </a:r>
          </a:p>
          <a:p>
            <a:r>
              <a:rPr lang="vi-VN" sz="1100">
                <a:solidFill>
                  <a:srgbClr val="222222"/>
                </a:solidFill>
                <a:latin typeface="Segoe UI" panose="020B0502040204020203" pitchFamily="34" charset="0"/>
              </a:rPr>
              <a:t>   (UI nạp trực tiếp mã kỹ thuật; thuyết trình giải thích nghĩa tiếng Việt)</a:t>
            </a:r>
          </a:p>
          <a:p>
            <a:r>
              <a:rPr lang="vi-VN" sz="1100">
                <a:solidFill>
                  <a:srgbClr val="222222"/>
                </a:solidFill>
                <a:latin typeface="Segoe UI" panose="020B0502040204020203" pitchFamily="34" charset="0"/>
              </a:rPr>
              <a:t>• GhiChu: NVARCHAR(255) NULL (Ghi chú bổ sung tối đa 255 ký tự)</a:t>
            </a:r>
          </a:p>
          <a:p>
            <a:r>
              <a:rPr lang="vi-VN" sz="1100">
                <a:solidFill>
                  <a:srgbClr val="222222"/>
                </a:solidFill>
                <a:latin typeface="Segoe UI" panose="020B0502040204020203" pitchFamily="34" charset="0"/>
              </a:rPr>
              <a:t>• (MaNV, NgayChamCong): [UQ_CHAMCONG_MaNV_Ngay - UNIQUE NONCLUSTERED]</a:t>
            </a:r>
          </a:p>
          <a:p>
            <a:endParaRPr lang="vi-VN" sz="1100">
              <a:solidFill>
                <a:srgbClr val="222222"/>
              </a:solidFill>
              <a:latin typeface="Segoe UI" panose="020B0502040204020203" pitchFamily="34" charset="0"/>
            </a:endParaRPr>
          </a:p>
          <a:p>
            <a:r>
              <a:rPr lang="vi-VN" sz="1100">
                <a:solidFill>
                  <a:srgbClr val="222222"/>
                </a:solidFill>
                <a:latin typeface="Segoe UI" panose="020B0502040204020203" pitchFamily="34" charset="0"/>
              </a:rPr>
              <a:t>Căn cứ xác thực: Script 02_Module_ChamCong_TV2.sql &amp; TV2_live_schema_inspection.log</a:t>
            </a:r>
            <a:endParaRPr lang="en-US" sz="1100">
              <a:solidFill>
                <a:srgbClr val="222222"/>
              </a:solidFill>
              <a:latin typeface="Segoe UI" panose="020B0502040204020203" pitchFamily="34" charset="0"/>
            </a:endParaRPr>
          </a:p>
        </p:txBody>
      </p:sp>
      <p:sp>
        <p:nvSpPr>
          <p:cNvPr id="8" name="Rectangle 7">
            <a:extLst>
              <a:ext uri="{FF2B5EF4-FFF2-40B4-BE49-F238E27FC236}">
                <a16:creationId xmlns:a16="http://schemas.microsoft.com/office/drawing/2014/main" id="{E71DA79B-F98F-B506-6272-3B5412511F5B}"/>
              </a:ext>
            </a:extLst>
          </p:cNvPr>
          <p:cNvSpPr/>
          <p:nvPr/>
        </p:nvSpPr>
        <p:spPr>
          <a:xfrm>
            <a:off x="6096000" y="1079500"/>
            <a:ext cx="5715000" cy="5397500"/>
          </a:xfrm>
          <a:prstGeom prst="rect">
            <a:avLst/>
          </a:prstGeom>
          <a:solidFill>
            <a:srgbClr val="FAF7F5"/>
          </a:solidFill>
          <a:ln>
            <a:solidFill>
              <a:srgbClr val="DED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D2983E0-9264-5EB3-0E65-112474ED5EC4}"/>
              </a:ext>
            </a:extLst>
          </p:cNvPr>
          <p:cNvSpPr txBox="1"/>
          <p:nvPr/>
        </p:nvSpPr>
        <p:spPr>
          <a:xfrm>
            <a:off x="6223000" y="1206500"/>
            <a:ext cx="5461000" cy="3323987"/>
          </a:xfrm>
          <a:prstGeom prst="rect">
            <a:avLst/>
          </a:prstGeom>
          <a:noFill/>
        </p:spPr>
        <p:txBody>
          <a:bodyPr vert="horz" wrap="square" rtlCol="0">
            <a:spAutoFit/>
          </a:bodyPr>
          <a:lstStyle/>
          <a:p>
            <a:r>
              <a:rPr lang="vi-VN" sz="1050">
                <a:solidFill>
                  <a:srgbClr val="222222"/>
                </a:solidFill>
                <a:latin typeface="Segoe UI" panose="020B0502040204020203" pitchFamily="34" charset="0"/>
              </a:rPr>
              <a:t>ÁNH XẠ QUY TẮC NGHIỆP VỤ &amp; PHÒNG THỦ ĐA TẦNG</a:t>
            </a:r>
          </a:p>
          <a:p>
            <a:endParaRPr lang="vi-VN" sz="1050">
              <a:solidFill>
                <a:srgbClr val="222222"/>
              </a:solidFill>
              <a:latin typeface="Segoe UI" panose="020B0502040204020203" pitchFamily="34" charset="0"/>
            </a:endParaRPr>
          </a:p>
          <a:p>
            <a:r>
              <a:rPr lang="vi-VN" sz="1050">
                <a:solidFill>
                  <a:srgbClr val="222222"/>
                </a:solidFill>
                <a:latin typeface="Segoe UI" panose="020B0502040204020203" pitchFamily="34" charset="0"/>
              </a:rPr>
              <a:t>1. BR-CC-01 (1 NV - 1 Ngày duy nhất 1 bản ghi công):</a:t>
            </a:r>
          </a:p>
          <a:p>
            <a:r>
              <a:rPr lang="vi-VN" sz="1050">
                <a:solidFill>
                  <a:srgbClr val="222222"/>
                </a:solidFill>
                <a:latin typeface="Segoe UI" panose="020B0502040204020203" pitchFamily="34" charset="0"/>
              </a:rPr>
              <a:t>   -&gt; Chốt chặn CSDL: UQ_CHAMCONG_MaNV_Ngay + tiền kiểm tra SP.</a:t>
            </a:r>
          </a:p>
          <a:p>
            <a:r>
              <a:rPr lang="vi-VN" sz="1050">
                <a:solidFill>
                  <a:srgbClr val="222222"/>
                </a:solidFill>
                <a:latin typeface="Segoe UI" panose="020B0502040204020203" pitchFamily="34" charset="0"/>
              </a:rPr>
              <a:t>2. BR-CC-02 (GioRa &gt; GioVao khi GioRa có giá trị):</a:t>
            </a:r>
          </a:p>
          <a:p>
            <a:r>
              <a:rPr lang="vi-VN" sz="1050">
                <a:solidFill>
                  <a:srgbClr val="222222"/>
                </a:solidFill>
                <a:latin typeface="Segoe UI" panose="020B0502040204020203" pitchFamily="34" charset="0"/>
              </a:rPr>
              <a:t>   -&gt; sp_GhiNhanChamCong + trg_ChamCong_KiemTraGio (TC-CC-07 PASS).</a:t>
            </a:r>
          </a:p>
          <a:p>
            <a:r>
              <a:rPr lang="vi-VN" sz="1050">
                <a:solidFill>
                  <a:srgbClr val="222222"/>
                </a:solidFill>
                <a:latin typeface="Segoe UI" panose="020B0502040204020203" pitchFamily="34" charset="0"/>
              </a:rPr>
              <a:t>3. BR-CC-03 (Chỉ nhân viên DANG_LAM_VIEC mới được chấm công):</a:t>
            </a:r>
          </a:p>
          <a:p>
            <a:r>
              <a:rPr lang="vi-VN" sz="1050">
                <a:solidFill>
                  <a:srgbClr val="222222"/>
                </a:solidFill>
                <a:latin typeface="Segoe UI" panose="020B0502040204020203" pitchFamily="34" charset="0"/>
              </a:rPr>
              <a:t>   -&gt; SP validate sớm + trg_ChamCong_KiemTraNhanVien (TC-CC-06 PASS).</a:t>
            </a:r>
          </a:p>
          <a:p>
            <a:r>
              <a:rPr lang="vi-VN" sz="1050">
                <a:solidFill>
                  <a:srgbClr val="222222"/>
                </a:solidFill>
                <a:latin typeface="Segoe UI" panose="020B0502040204020203" pitchFamily="34" charset="0"/>
              </a:rPr>
              <a:t>4. BR-CC-04 (Ngày công không vượt quá ngày hiện tại):</a:t>
            </a:r>
          </a:p>
          <a:p>
            <a:r>
              <a:rPr lang="vi-VN" sz="1050">
                <a:solidFill>
                  <a:srgbClr val="222222"/>
                </a:solidFill>
                <a:latin typeface="Segoe UI" panose="020B0502040204020203" pitchFamily="34" charset="0"/>
              </a:rPr>
              <a:t>   -&gt; CHK_CHAMCONG_Ngay + tiền kiểm tra trong Stored Procedure.</a:t>
            </a:r>
          </a:p>
          <a:p>
            <a:r>
              <a:rPr lang="vi-VN" sz="1050">
                <a:solidFill>
                  <a:srgbClr val="222222"/>
                </a:solidFill>
                <a:latin typeface="Segoe UI" panose="020B0502040204020203" pitchFamily="34" charset="0"/>
              </a:rPr>
              <a:t>5. BR-CC-05 (Trạng thái công thuộc 4 giá trị định sẵn):</a:t>
            </a:r>
          </a:p>
          <a:p>
            <a:r>
              <a:rPr lang="vi-VN" sz="1050">
                <a:solidFill>
                  <a:srgbClr val="222222"/>
                </a:solidFill>
                <a:latin typeface="Segoe UI" panose="020B0502040204020203" pitchFamily="34" charset="0"/>
              </a:rPr>
              <a:t>   -&gt; CHK_CHAMCONG_TrangThai bảo đảm toàn vẹn miền giá trị.</a:t>
            </a:r>
          </a:p>
          <a:p>
            <a:endParaRPr lang="vi-VN" sz="1050">
              <a:solidFill>
                <a:srgbClr val="222222"/>
              </a:solidFill>
              <a:latin typeface="Segoe UI" panose="020B0502040204020203" pitchFamily="34" charset="0"/>
            </a:endParaRPr>
          </a:p>
          <a:p>
            <a:r>
              <a:rPr lang="vi-VN" sz="1050">
                <a:solidFill>
                  <a:srgbClr val="222222"/>
                </a:solidFill>
                <a:latin typeface="Segoe UI" panose="020B0502040204020203" pitchFamily="34" charset="0"/>
              </a:rPr>
              <a:t>MÔ HÌNH PHÒNG THỦ ĐA TẦNG (MULTI-TIER DEFENSE):</a:t>
            </a:r>
          </a:p>
          <a:p>
            <a:r>
              <a:rPr lang="vi-VN" sz="1050">
                <a:solidFill>
                  <a:srgbClr val="222222"/>
                </a:solidFill>
                <a:latin typeface="Segoe UI" panose="020B0502040204020203" pitchFamily="34" charset="0"/>
              </a:rPr>
              <a:t>UI Form -&gt; Java Service (validateChamCong) -&gt; sp_GhiNhanChamCong (7 bước) -&gt; Constraint &amp; Trigger CSDL.</a:t>
            </a:r>
          </a:p>
          <a:p>
            <a:r>
              <a:rPr lang="vi-VN" sz="1050">
                <a:solidFill>
                  <a:srgbClr val="222222"/>
                </a:solidFill>
                <a:latin typeface="Segoe UI" panose="020B0502040204020203" pitchFamily="34" charset="0"/>
              </a:rPr>
              <a:t>Ý nghĩa kỹ thuật: Ràng buộc CHECK, UNIQUE, FK và Trigger bảo đảm thực thi đúng các điều kiện toàn vẹn cụ thể ngay cả khi ghi bằng SQL ngoài app; câu lệnh SQL trực tiếp hợp lệ vẫn thực thi bình thường; cơ chế này bảo vệ theo phạm vi ràng buộc đã định nghĩa và không thay thế hoàn toàn quyền quản trị của DBA cấp cao.</a:t>
            </a:r>
            <a:endParaRPr lang="en-US" sz="1050">
              <a:solidFill>
                <a:srgbClr val="222222"/>
              </a:solidFill>
              <a:latin typeface="Segoe UI" panose="020B0502040204020203" pitchFamily="34" charset="0"/>
            </a:endParaRPr>
          </a:p>
        </p:txBody>
      </p:sp>
    </p:spTree>
    <p:extLst>
      <p:ext uri="{BB962C8B-B14F-4D97-AF65-F5344CB8AC3E}">
        <p14:creationId xmlns:p14="http://schemas.microsoft.com/office/powerpoint/2010/main" val="671074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D5D759-2533-6054-A961-D7EF3A351455}"/>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247151E-59BF-6BA3-94A0-1FD83438DCA1}"/>
              </a:ext>
            </a:extLst>
          </p:cNvPr>
          <p:cNvSpPr/>
          <p:nvPr/>
        </p:nvSpPr>
        <p:spPr>
          <a:xfrm>
            <a:off x="0" y="0"/>
            <a:ext cx="12192000" cy="889000"/>
          </a:xfrm>
          <a:prstGeom prst="rect">
            <a:avLst/>
          </a:prstGeom>
          <a:solidFill>
            <a:srgbClr val="1E2D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ED5D856-47CD-FDE7-46A9-742D50D7D74C}"/>
              </a:ext>
            </a:extLst>
          </p:cNvPr>
          <p:cNvSpPr txBox="1"/>
          <p:nvPr/>
        </p:nvSpPr>
        <p:spPr>
          <a:xfrm>
            <a:off x="381000" y="127000"/>
            <a:ext cx="11430000" cy="400110"/>
          </a:xfrm>
          <a:prstGeom prst="rect">
            <a:avLst/>
          </a:prstGeom>
          <a:noFill/>
        </p:spPr>
        <p:txBody>
          <a:bodyPr vert="horz" rtlCol="0">
            <a:spAutoFit/>
          </a:bodyPr>
          <a:lstStyle/>
          <a:p>
            <a:r>
              <a:rPr lang="en-US" sz="2000" b="1">
                <a:solidFill>
                  <a:srgbClr val="FFFFFF"/>
                </a:solidFill>
                <a:latin typeface="Segoe UI" panose="020B0502040204020203" pitchFamily="34" charset="0"/>
              </a:rPr>
              <a:t>SLIDE 5: STORED PROCEDURE, TRIGGER VÀ GIAO DỊCH NHẬP LÔ</a:t>
            </a:r>
          </a:p>
        </p:txBody>
      </p:sp>
      <p:sp>
        <p:nvSpPr>
          <p:cNvPr id="5" name="TextBox 4">
            <a:extLst>
              <a:ext uri="{FF2B5EF4-FFF2-40B4-BE49-F238E27FC236}">
                <a16:creationId xmlns:a16="http://schemas.microsoft.com/office/drawing/2014/main" id="{C7C44243-0C0F-4BD7-C56B-003AC198C29D}"/>
              </a:ext>
            </a:extLst>
          </p:cNvPr>
          <p:cNvSpPr txBox="1"/>
          <p:nvPr/>
        </p:nvSpPr>
        <p:spPr>
          <a:xfrm>
            <a:off x="381000" y="533400"/>
            <a:ext cx="11430000" cy="261610"/>
          </a:xfrm>
          <a:prstGeom prst="rect">
            <a:avLst/>
          </a:prstGeom>
          <a:noFill/>
        </p:spPr>
        <p:txBody>
          <a:bodyPr vert="horz" rtlCol="0">
            <a:spAutoFit/>
          </a:bodyPr>
          <a:lstStyle/>
          <a:p>
            <a:r>
              <a:rPr lang="en-US" sz="1100">
                <a:solidFill>
                  <a:srgbClr val="CCCCCC"/>
                </a:solidFill>
                <a:latin typeface="Segoe UI" panose="020B0502040204020203" pitchFamily="34" charset="0"/>
              </a:rPr>
              <a:t>Phạm Minh Quân (TV2 — MSSV: 24110311) | Toàn vẹn giao dịch All-or-Nothing</a:t>
            </a:r>
          </a:p>
        </p:txBody>
      </p:sp>
      <p:sp>
        <p:nvSpPr>
          <p:cNvPr id="6" name="Rectangle 5">
            <a:extLst>
              <a:ext uri="{FF2B5EF4-FFF2-40B4-BE49-F238E27FC236}">
                <a16:creationId xmlns:a16="http://schemas.microsoft.com/office/drawing/2014/main" id="{45E2E142-0CFF-B791-545A-D097EAFF18CA}"/>
              </a:ext>
            </a:extLst>
          </p:cNvPr>
          <p:cNvSpPr/>
          <p:nvPr/>
        </p:nvSpPr>
        <p:spPr>
          <a:xfrm>
            <a:off x="381000" y="1079500"/>
            <a:ext cx="5461000" cy="5397500"/>
          </a:xfrm>
          <a:prstGeom prst="rect">
            <a:avLst/>
          </a:prstGeom>
          <a:solidFill>
            <a:srgbClr val="FAF7F5"/>
          </a:solidFill>
          <a:ln>
            <a:solidFill>
              <a:srgbClr val="DED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5FF390E-3E1F-3409-4A2F-E7D0CA2589A0}"/>
              </a:ext>
            </a:extLst>
          </p:cNvPr>
          <p:cNvSpPr txBox="1"/>
          <p:nvPr/>
        </p:nvSpPr>
        <p:spPr>
          <a:xfrm>
            <a:off x="508000" y="1206500"/>
            <a:ext cx="5207000" cy="3816429"/>
          </a:xfrm>
          <a:prstGeom prst="rect">
            <a:avLst/>
          </a:prstGeom>
          <a:noFill/>
        </p:spPr>
        <p:txBody>
          <a:bodyPr vert="horz" wrap="square" rtlCol="0">
            <a:spAutoFit/>
          </a:bodyPr>
          <a:lstStyle/>
          <a:p>
            <a:r>
              <a:rPr lang="vi-VN" sz="1100">
                <a:solidFill>
                  <a:srgbClr val="222222"/>
                </a:solidFill>
                <a:latin typeface="Segoe UI" panose="020B0502040204020203" pitchFamily="34" charset="0"/>
              </a:rPr>
              <a:t>STORED PROCEDURE &amp; BA TRIGGER BẢO VỆ CÔNG</a:t>
            </a:r>
          </a:p>
          <a:p>
            <a:endParaRPr lang="vi-VN" sz="1100">
              <a:solidFill>
                <a:srgbClr val="222222"/>
              </a:solidFill>
              <a:latin typeface="Segoe UI" panose="020B0502040204020203" pitchFamily="34" charset="0"/>
            </a:endParaRPr>
          </a:p>
          <a:p>
            <a:r>
              <a:rPr lang="vi-VN" sz="1100">
                <a:solidFill>
                  <a:srgbClr val="222222"/>
                </a:solidFill>
                <a:latin typeface="Segoe UI" panose="020B0502040204020203" pitchFamily="34" charset="0"/>
              </a:rPr>
              <a:t>1. dbo.sp_GhiNhanChamCong:</a:t>
            </a:r>
          </a:p>
          <a:p>
            <a:r>
              <a:rPr lang="vi-VN" sz="1100">
                <a:solidFill>
                  <a:srgbClr val="222222"/>
                </a:solidFill>
                <a:latin typeface="Segoe UI" panose="020B0502040204020203" pitchFamily="34" charset="0"/>
              </a:rPr>
              <a:t>• 6 tham số IN (@MaNV, @NgayChamCong, @GioVao, @GioRa, @TrangThai, @GhiChu)</a:t>
            </a:r>
          </a:p>
          <a:p>
            <a:r>
              <a:rPr lang="vi-VN" sz="1100">
                <a:solidFill>
                  <a:srgbClr val="222222"/>
                </a:solidFill>
                <a:latin typeface="Segoe UI" panose="020B0502040204020203" pitchFamily="34" charset="0"/>
              </a:rPr>
              <a:t>• 1 tham số OUT (@MaChamCong INT OUTPUT nhận SCOPE_IDENTITY())</a:t>
            </a:r>
          </a:p>
          <a:p>
            <a:r>
              <a:rPr lang="vi-VN" sz="1100">
                <a:solidFill>
                  <a:srgbClr val="222222"/>
                </a:solidFill>
                <a:latin typeface="Segoe UI" panose="020B0502040204020203" pitchFamily="34" charset="0"/>
              </a:rPr>
              <a:t>• 7 bước tiền kiểm tra: Tham số bắt buộc -&gt; Ngày &lt;= hiện tại -&gt; Miền trạng thái -&gt; Ghi chú &lt;= 255 -&gt; GioRa &gt; GioVao -&gt; NV DANG_LAM_VIEC -&gt; Chặn trùng lặp (MaNV, Ngay)</a:t>
            </a:r>
          </a:p>
          <a:p>
            <a:r>
              <a:rPr lang="vi-VN" sz="1100">
                <a:solidFill>
                  <a:srgbClr val="222222"/>
                </a:solidFill>
                <a:latin typeface="Segoe UI" panose="020B0502040204020203" pitchFamily="34" charset="0"/>
              </a:rPr>
              <a:t>• Thiết kế không sở hữu Transaction: SP không mở BEGIN TRAN nội bộ để nhường quyền điều phối nguyên tử (atomicity) cho caller Java Service.</a:t>
            </a:r>
          </a:p>
          <a:p>
            <a:endParaRPr lang="vi-VN" sz="1100">
              <a:solidFill>
                <a:srgbClr val="222222"/>
              </a:solidFill>
              <a:latin typeface="Segoe UI" panose="020B0502040204020203" pitchFamily="34" charset="0"/>
            </a:endParaRPr>
          </a:p>
          <a:p>
            <a:r>
              <a:rPr lang="vi-VN" sz="1100">
                <a:solidFill>
                  <a:srgbClr val="222222"/>
                </a:solidFill>
                <a:latin typeface="Segoe UI" panose="020B0502040204020203" pitchFamily="34" charset="0"/>
              </a:rPr>
              <a:t>2. Ba Trigger Bảo vệ Dữ liệu Công:</a:t>
            </a:r>
          </a:p>
          <a:p>
            <a:r>
              <a:rPr lang="vi-VN" sz="1100">
                <a:solidFill>
                  <a:srgbClr val="222222"/>
                </a:solidFill>
                <a:latin typeface="Segoe UI" panose="020B0502040204020203" pitchFamily="34" charset="0"/>
              </a:rPr>
              <a:t>• trg_ChamCong_KiemTraGio (TV2 - AFTER INSERT, UPDATE):</a:t>
            </a:r>
          </a:p>
          <a:p>
            <a:r>
              <a:rPr lang="vi-VN" sz="1100">
                <a:solidFill>
                  <a:srgbClr val="222222"/>
                </a:solidFill>
                <a:latin typeface="Segoe UI" panose="020B0502040204020203" pitchFamily="34" charset="0"/>
              </a:rPr>
              <a:t>   Quét set-based bảng inserted: GioRa &lt;= GioVao -&gt; RAISERROR 16 + ROLLBACK (TC-CC-07 PASS).</a:t>
            </a:r>
          </a:p>
          <a:p>
            <a:r>
              <a:rPr lang="vi-VN" sz="1100">
                <a:solidFill>
                  <a:srgbClr val="222222"/>
                </a:solidFill>
                <a:latin typeface="Segoe UI" panose="020B0502040204020203" pitchFamily="34" charset="0"/>
              </a:rPr>
              <a:t>• trg_ChamCong_KiemTraNhanVien (TV2 - AFTER INSERT, UPDATE):</a:t>
            </a:r>
          </a:p>
          <a:p>
            <a:r>
              <a:rPr lang="vi-VN" sz="1100">
                <a:solidFill>
                  <a:srgbClr val="222222"/>
                </a:solidFill>
                <a:latin typeface="Segoe UI" panose="020B0502040204020203" pitchFamily="34" charset="0"/>
              </a:rPr>
              <a:t>   JOIN inserted với NHANVIEN: trạng thái != DANG_LAM_VIEC -&gt; ROLLBACK (TC-CC-06 PASS).</a:t>
            </a:r>
          </a:p>
          <a:p>
            <a:r>
              <a:rPr lang="vi-VN" sz="1100">
                <a:solidFill>
                  <a:srgbClr val="222222"/>
                </a:solidFill>
                <a:latin typeface="Segoe UI" panose="020B0502040204020203" pitchFamily="34" charset="0"/>
              </a:rPr>
              <a:t>• trg_ChamCong_KhongSuaKhiDaChotLuong (TV5 - Module 05):</a:t>
            </a:r>
          </a:p>
          <a:p>
            <a:r>
              <a:rPr lang="vi-VN" sz="1100">
                <a:solidFill>
                  <a:srgbClr val="222222"/>
                </a:solidFill>
                <a:latin typeface="Segoe UI" panose="020B0502040204020203" pitchFamily="34" charset="0"/>
              </a:rPr>
              <a:t>   Khóa BANGLUONG bằng UPDLOCK, HOLDLOCK; UNION inserted + deleted -&gt; Chặn sửa khi kỳ lương đã chốt.</a:t>
            </a:r>
            <a:endParaRPr lang="en-US" sz="1100">
              <a:solidFill>
                <a:srgbClr val="222222"/>
              </a:solidFill>
              <a:latin typeface="Segoe UI" panose="020B0502040204020203" pitchFamily="34" charset="0"/>
            </a:endParaRPr>
          </a:p>
        </p:txBody>
      </p:sp>
      <p:sp>
        <p:nvSpPr>
          <p:cNvPr id="8" name="Rectangle 7">
            <a:extLst>
              <a:ext uri="{FF2B5EF4-FFF2-40B4-BE49-F238E27FC236}">
                <a16:creationId xmlns:a16="http://schemas.microsoft.com/office/drawing/2014/main" id="{A0D9DC20-1427-283A-D51A-72C956B2F724}"/>
              </a:ext>
            </a:extLst>
          </p:cNvPr>
          <p:cNvSpPr/>
          <p:nvPr/>
        </p:nvSpPr>
        <p:spPr>
          <a:xfrm>
            <a:off x="6096000" y="1079500"/>
            <a:ext cx="5715000" cy="5397500"/>
          </a:xfrm>
          <a:prstGeom prst="rect">
            <a:avLst/>
          </a:prstGeom>
          <a:solidFill>
            <a:srgbClr val="FAF7F5"/>
          </a:solidFill>
          <a:ln>
            <a:solidFill>
              <a:srgbClr val="DED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1442FC7-E27F-99EC-03DD-A96F758694F0}"/>
              </a:ext>
            </a:extLst>
          </p:cNvPr>
          <p:cNvSpPr txBox="1"/>
          <p:nvPr/>
        </p:nvSpPr>
        <p:spPr>
          <a:xfrm>
            <a:off x="6223000" y="1206500"/>
            <a:ext cx="5461000" cy="2970044"/>
          </a:xfrm>
          <a:prstGeom prst="rect">
            <a:avLst/>
          </a:prstGeom>
          <a:noFill/>
        </p:spPr>
        <p:txBody>
          <a:bodyPr vert="horz" wrap="square" rtlCol="0">
            <a:spAutoFit/>
          </a:bodyPr>
          <a:lstStyle/>
          <a:p>
            <a:r>
              <a:rPr lang="vi-VN" sz="1100">
                <a:solidFill>
                  <a:srgbClr val="222222"/>
                </a:solidFill>
                <a:latin typeface="Segoe UI" panose="020B0502040204020203" pitchFamily="34" charset="0"/>
              </a:rPr>
              <a:t>GIAO DỊCH NHẬP LÔ ALL-OR-NOTHING (ChamCongService)</a:t>
            </a:r>
          </a:p>
          <a:p>
            <a:endParaRPr lang="vi-VN" sz="1100">
              <a:solidFill>
                <a:srgbClr val="222222"/>
              </a:solidFill>
              <a:latin typeface="Segoe UI" panose="020B0502040204020203" pitchFamily="34" charset="0"/>
            </a:endParaRPr>
          </a:p>
          <a:p>
            <a:r>
              <a:rPr lang="vi-VN" sz="1100">
                <a:solidFill>
                  <a:srgbClr val="222222"/>
                </a:solidFill>
                <a:latin typeface="Segoe UI" panose="020B0502040204020203" pitchFamily="34" charset="0"/>
              </a:rPr>
              <a:t>Trình tự điều phối tại tầng ứng dụng (Java):</a:t>
            </a:r>
          </a:p>
          <a:p>
            <a:r>
              <a:rPr lang="vi-VN" sz="1100">
                <a:solidFill>
                  <a:srgbClr val="222222"/>
                </a:solidFill>
                <a:latin typeface="Segoe UI" panose="020B0502040204020203" pitchFamily="34" charset="0"/>
              </a:rPr>
              <a:t>1. validateChamCong toàn bộ danh sách ở tầng Java trước khi gửi request.</a:t>
            </a:r>
          </a:p>
          <a:p>
            <a:r>
              <a:rPr lang="vi-VN" sz="1100">
                <a:solidFill>
                  <a:srgbClr val="222222"/>
                </a:solidFill>
                <a:latin typeface="Segoe UI" panose="020B0502040204020203" pitchFamily="34" charset="0"/>
              </a:rPr>
              <a:t>2. Mở 1 Connection duy nhất; thiết lập conn.setAutoCommit(false).</a:t>
            </a:r>
          </a:p>
          <a:p>
            <a:r>
              <a:rPr lang="vi-VN" sz="1100">
                <a:solidFill>
                  <a:srgbClr val="222222"/>
                </a:solidFill>
                <a:latin typeface="Segoe UI" panose="020B0502040204020203" pitchFamily="34" charset="0"/>
              </a:rPr>
              <a:t>3. Lặp gọi ChamCongDAO.insertInTransaction(conn, cc) thực thi sp_GhiNhanChamCong trên cùng kết nối.</a:t>
            </a:r>
          </a:p>
          <a:p>
            <a:r>
              <a:rPr lang="vi-VN" sz="1100">
                <a:solidFill>
                  <a:srgbClr val="222222"/>
                </a:solidFill>
                <a:latin typeface="Segoe UI" panose="020B0502040204020203" pitchFamily="34" charset="0"/>
              </a:rPr>
              <a:t>4. Mọi dòng hợp lệ -&gt; conn.commit() ghi trọn vẹn lô (TC-CC-08 PASS).</a:t>
            </a:r>
          </a:p>
          <a:p>
            <a:r>
              <a:rPr lang="vi-VN" sz="1100">
                <a:solidFill>
                  <a:srgbClr val="222222"/>
                </a:solidFill>
                <a:latin typeface="Segoe UI" panose="020B0502040204020203" pitchFamily="34" charset="0"/>
              </a:rPr>
              <a:t>5. Bất kỳ dòng nào gặp lỗi (vi phạm ràng buộc/trigger) -&gt; khối catch gọi conn.rollback() hủy toàn bộ dòng đã chèn trước đó, bảo toàn 0 bản ghi rác (TC-CC-09 PASS).</a:t>
            </a:r>
          </a:p>
          <a:p>
            <a:r>
              <a:rPr lang="vi-VN" sz="1100">
                <a:solidFill>
                  <a:srgbClr val="222222"/>
                </a:solidFill>
                <a:latin typeface="Segoe UI" panose="020B0502040204020203" pitchFamily="34" charset="0"/>
              </a:rPr>
              <a:t>6. Khối finally bảo đảm luôn khôi phục conn.setAutoCommit(true).</a:t>
            </a:r>
          </a:p>
          <a:p>
            <a:endParaRPr lang="vi-VN" sz="1100">
              <a:solidFill>
                <a:srgbClr val="222222"/>
              </a:solidFill>
              <a:latin typeface="Segoe UI" panose="020B0502040204020203" pitchFamily="34" charset="0"/>
            </a:endParaRPr>
          </a:p>
          <a:p>
            <a:r>
              <a:rPr lang="vi-VN" sz="1100">
                <a:solidFill>
                  <a:srgbClr val="222222"/>
                </a:solidFill>
                <a:latin typeface="Segoe UI" panose="020B0502040204020203" pitchFamily="34" charset="0"/>
              </a:rPr>
              <a:t>Căn cứ kiểm chứng thực nghiệm:</a:t>
            </a:r>
          </a:p>
          <a:p>
            <a:r>
              <a:rPr lang="vi-VN" sz="1100">
                <a:solidFill>
                  <a:srgbClr val="222222"/>
                </a:solidFill>
                <a:latin typeface="Segoe UI" panose="020B0502040204020203" pitchFamily="34" charset="0"/>
              </a:rPr>
              <a:t>• Test suite tự động test_module_chamcong_TV2.log đạt 21/21 PASS.</a:t>
            </a:r>
          </a:p>
          <a:p>
            <a:r>
              <a:rPr lang="vi-VN" sz="1100">
                <a:solidFill>
                  <a:srgbClr val="222222"/>
                </a:solidFill>
                <a:latin typeface="Segoe UI" panose="020B0502040204020203" pitchFamily="34" charset="0"/>
              </a:rPr>
              <a:t>• Phân định trách nhiệm: Đã kiểm chứng tự động mức giao dịch CSDL; chưa demo tay trên giao diện GUI (đúng checklist an toàn).</a:t>
            </a:r>
            <a:endParaRPr lang="en-US" sz="1100">
              <a:solidFill>
                <a:srgbClr val="222222"/>
              </a:solidFill>
              <a:latin typeface="Segoe UI" panose="020B0502040204020203" pitchFamily="34" charset="0"/>
            </a:endParaRPr>
          </a:p>
        </p:txBody>
      </p:sp>
    </p:spTree>
    <p:extLst>
      <p:ext uri="{BB962C8B-B14F-4D97-AF65-F5344CB8AC3E}">
        <p14:creationId xmlns:p14="http://schemas.microsoft.com/office/powerpoint/2010/main" val="1874407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65278B-8458-4C69-EF41-8F6F90791A1D}"/>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7D0F27A-A72E-72E9-45FB-E67B92B0CB10}"/>
              </a:ext>
            </a:extLst>
          </p:cNvPr>
          <p:cNvSpPr/>
          <p:nvPr/>
        </p:nvSpPr>
        <p:spPr>
          <a:xfrm>
            <a:off x="0" y="0"/>
            <a:ext cx="12192000" cy="889000"/>
          </a:xfrm>
          <a:prstGeom prst="rect">
            <a:avLst/>
          </a:prstGeom>
          <a:solidFill>
            <a:srgbClr val="1E2D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706D98D-E47A-E3B2-C217-CB1B72E03CC8}"/>
              </a:ext>
            </a:extLst>
          </p:cNvPr>
          <p:cNvSpPr txBox="1"/>
          <p:nvPr/>
        </p:nvSpPr>
        <p:spPr>
          <a:xfrm>
            <a:off x="381000" y="127000"/>
            <a:ext cx="11430000" cy="400110"/>
          </a:xfrm>
          <a:prstGeom prst="rect">
            <a:avLst/>
          </a:prstGeom>
          <a:noFill/>
        </p:spPr>
        <p:txBody>
          <a:bodyPr vert="horz" rtlCol="0">
            <a:spAutoFit/>
          </a:bodyPr>
          <a:lstStyle/>
          <a:p>
            <a:r>
              <a:rPr lang="en-US" sz="2000" b="1">
                <a:solidFill>
                  <a:srgbClr val="FFFFFF"/>
                </a:solidFill>
                <a:latin typeface="Segoe UI" panose="020B0502040204020203" pitchFamily="34" charset="0"/>
              </a:rPr>
              <a:t>SLIDE 6: VIEW TỔNG HỢP, COVERING INDEX VÀ KẾT NỐI PHÂN HỆ</a:t>
            </a:r>
          </a:p>
        </p:txBody>
      </p:sp>
      <p:sp>
        <p:nvSpPr>
          <p:cNvPr id="5" name="TextBox 4">
            <a:extLst>
              <a:ext uri="{FF2B5EF4-FFF2-40B4-BE49-F238E27FC236}">
                <a16:creationId xmlns:a16="http://schemas.microsoft.com/office/drawing/2014/main" id="{76F35B1E-1CC5-3348-B6D6-41DE97C576B8}"/>
              </a:ext>
            </a:extLst>
          </p:cNvPr>
          <p:cNvSpPr txBox="1"/>
          <p:nvPr/>
        </p:nvSpPr>
        <p:spPr>
          <a:xfrm>
            <a:off x="381000" y="533400"/>
            <a:ext cx="11430000" cy="261610"/>
          </a:xfrm>
          <a:prstGeom prst="rect">
            <a:avLst/>
          </a:prstGeom>
          <a:noFill/>
        </p:spPr>
        <p:txBody>
          <a:bodyPr vert="horz" rtlCol="0">
            <a:spAutoFit/>
          </a:bodyPr>
          <a:lstStyle/>
          <a:p>
            <a:r>
              <a:rPr lang="en-US" sz="1100">
                <a:solidFill>
                  <a:srgbClr val="CCCCCC"/>
                </a:solidFill>
                <a:latin typeface="Segoe UI" panose="020B0502040204020203" pitchFamily="34" charset="0"/>
              </a:rPr>
              <a:t>Phạm Minh Quân (TV2 — MSSV: 24110311) | Cắt giảm 99.1289% Logical Reads</a:t>
            </a:r>
          </a:p>
        </p:txBody>
      </p:sp>
      <p:sp>
        <p:nvSpPr>
          <p:cNvPr id="6" name="Rectangle 5">
            <a:extLst>
              <a:ext uri="{FF2B5EF4-FFF2-40B4-BE49-F238E27FC236}">
                <a16:creationId xmlns:a16="http://schemas.microsoft.com/office/drawing/2014/main" id="{A7C27379-E8FC-C46C-EEC7-BA4B3CC3B70A}"/>
              </a:ext>
            </a:extLst>
          </p:cNvPr>
          <p:cNvSpPr/>
          <p:nvPr/>
        </p:nvSpPr>
        <p:spPr>
          <a:xfrm>
            <a:off x="381000" y="1079500"/>
            <a:ext cx="5461000" cy="5397500"/>
          </a:xfrm>
          <a:prstGeom prst="rect">
            <a:avLst/>
          </a:prstGeom>
          <a:solidFill>
            <a:srgbClr val="FAF7F5"/>
          </a:solidFill>
          <a:ln>
            <a:solidFill>
              <a:srgbClr val="DED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5996A23-9FF2-583E-E2F5-60E962B9A182}"/>
              </a:ext>
            </a:extLst>
          </p:cNvPr>
          <p:cNvSpPr txBox="1"/>
          <p:nvPr/>
        </p:nvSpPr>
        <p:spPr>
          <a:xfrm>
            <a:off x="508000" y="1206500"/>
            <a:ext cx="5207000" cy="3785652"/>
          </a:xfrm>
          <a:prstGeom prst="rect">
            <a:avLst/>
          </a:prstGeom>
          <a:noFill/>
        </p:spPr>
        <p:txBody>
          <a:bodyPr vert="horz" wrap="square" rtlCol="0">
            <a:spAutoFit/>
          </a:bodyPr>
          <a:lstStyle/>
          <a:p>
            <a:r>
              <a:rPr lang="vi-VN" sz="1000">
                <a:solidFill>
                  <a:srgbClr val="222222"/>
                </a:solidFill>
                <a:latin typeface="Segoe UI" panose="020B0502040204020203" pitchFamily="34" charset="0"/>
              </a:rPr>
              <a:t>ĐO LƯỜNG COVERING INDEX THỰC NGHIỆM (30.000 BẢN GHI)</a:t>
            </a:r>
          </a:p>
          <a:p>
            <a:endParaRPr lang="vi-VN" sz="1000">
              <a:solidFill>
                <a:srgbClr val="222222"/>
              </a:solidFill>
              <a:latin typeface="Segoe UI" panose="020B0502040204020203" pitchFamily="34" charset="0"/>
            </a:endParaRPr>
          </a:p>
          <a:p>
            <a:r>
              <a:rPr lang="vi-VN" sz="1000">
                <a:solidFill>
                  <a:srgbClr val="222222"/>
                </a:solidFill>
                <a:latin typeface="Segoe UI" panose="020B0502040204020203" pitchFamily="34" charset="0"/>
              </a:rPr>
              <a:t>Chỉ mục đo lường trên bảng tạm #CHAMCONG_BENCHMARK:</a:t>
            </a:r>
          </a:p>
          <a:p>
            <a:r>
              <a:rPr lang="vi-VN" sz="1000">
                <a:solidFill>
                  <a:srgbClr val="222222"/>
                </a:solidFill>
                <a:latin typeface="Segoe UI" panose="020B0502040204020203" pitchFamily="34" charset="0"/>
              </a:rPr>
              <a:t>• Baseline: UQ_Bench_MaNV_Ngay (Seek theo khóa + Key Lookup về Clustered)</a:t>
            </a:r>
          </a:p>
          <a:p>
            <a:r>
              <a:rPr lang="vi-VN" sz="1000">
                <a:solidFill>
                  <a:srgbClr val="222222"/>
                </a:solidFill>
                <a:latin typeface="Segoe UI" panose="020B0502040204020203" pitchFamily="34" charset="0"/>
              </a:rPr>
              <a:t>• Covering Index: IX_Bench_CHAMCONG_MaNV_Ngay</a:t>
            </a:r>
          </a:p>
          <a:p>
            <a:r>
              <a:rPr lang="vi-VN" sz="1000">
                <a:solidFill>
                  <a:srgbClr val="222222"/>
                </a:solidFill>
                <a:latin typeface="Segoe UI" panose="020B0502040204020203" pitchFamily="34" charset="0"/>
              </a:rPr>
              <a:t>   ON #CHAMCONG_BENCHMARK (MaNV, NgayChamCong)</a:t>
            </a:r>
          </a:p>
          <a:p>
            <a:r>
              <a:rPr lang="vi-VN" sz="1000">
                <a:solidFill>
                  <a:srgbClr val="222222"/>
                </a:solidFill>
                <a:latin typeface="Segoe UI" panose="020B0502040204020203" pitchFamily="34" charset="0"/>
              </a:rPr>
              <a:t>   INCLUDE (GioVao, GioRa, TrangThai) -&gt; Pure Index Seek (0 Key Lookup)</a:t>
            </a:r>
          </a:p>
          <a:p>
            <a:endParaRPr lang="vi-VN" sz="1000">
              <a:solidFill>
                <a:srgbClr val="222222"/>
              </a:solidFill>
              <a:latin typeface="Segoe UI" panose="020B0502040204020203" pitchFamily="34" charset="0"/>
            </a:endParaRPr>
          </a:p>
          <a:p>
            <a:r>
              <a:rPr lang="vi-VN" sz="1000">
                <a:solidFill>
                  <a:srgbClr val="222222"/>
                </a:solidFill>
                <a:latin typeface="Segoe UI" panose="020B0502040204020203" pitchFamily="34" charset="0"/>
              </a:rPr>
              <a:t>KẾT QUẢ ĐO CHÍNH THỨC (Run ID run_20261013_140800):</a:t>
            </a:r>
          </a:p>
          <a:p>
            <a:r>
              <a:rPr lang="vi-VN" sz="1000">
                <a:solidFill>
                  <a:srgbClr val="222222"/>
                </a:solidFill>
                <a:latin typeface="Segoe UI" panose="020B0502040204020203" pitchFamily="34" charset="0"/>
              </a:rPr>
              <a:t>• Truy vấn chi tiết (273 dòng):</a:t>
            </a:r>
          </a:p>
          <a:p>
            <a:r>
              <a:rPr lang="vi-VN" sz="1000">
                <a:solidFill>
                  <a:srgbClr val="222222"/>
                </a:solidFill>
                <a:latin typeface="Segoe UI" panose="020B0502040204020203" pitchFamily="34" charset="0"/>
              </a:rPr>
              <a:t>   - Logical Reads (Messages SET STATISTICS IO): 574 -&gt; 5 (GIẢM 99.1289%)</a:t>
            </a:r>
          </a:p>
          <a:p>
            <a:r>
              <a:rPr lang="vi-VN" sz="1000">
                <a:solidFill>
                  <a:srgbClr val="222222"/>
                </a:solidFill>
                <a:latin typeface="Segoe UI" panose="020B0502040204020203" pitchFamily="34" charset="0"/>
              </a:rPr>
              <a:t>   - Logical Reads (XML Plan RunTimeCounters): 522 -&gt; 5 (GIẢM 99.0421%)</a:t>
            </a:r>
          </a:p>
          <a:p>
            <a:r>
              <a:rPr lang="vi-VN" sz="1000">
                <a:solidFill>
                  <a:srgbClr val="222222"/>
                </a:solidFill>
                <a:latin typeface="Segoe UI" panose="020B0502040204020203" pitchFamily="34" charset="0"/>
              </a:rPr>
              <a:t>   - Thời gian (Messages): 31ms -&gt; 2ms (CPU 15ms -&gt; 0ms)</a:t>
            </a:r>
          </a:p>
          <a:p>
            <a:r>
              <a:rPr lang="vi-VN" sz="1000">
                <a:solidFill>
                  <a:srgbClr val="222222"/>
                </a:solidFill>
                <a:latin typeface="Segoe UI" panose="020B0502040204020203" pitchFamily="34" charset="0"/>
              </a:rPr>
              <a:t>   - XML QueryTimeStats: 0ms/0ms trước và sau</a:t>
            </a:r>
          </a:p>
          <a:p>
            <a:r>
              <a:rPr lang="vi-VN" sz="1000">
                <a:solidFill>
                  <a:srgbClr val="222222"/>
                </a:solidFill>
                <a:latin typeface="Segoe UI" panose="020B0502040204020203" pitchFamily="34" charset="0"/>
              </a:rPr>
              <a:t>• Truy vấn tổng hợp (9 dòng):</a:t>
            </a:r>
          </a:p>
          <a:p>
            <a:r>
              <a:rPr lang="vi-VN" sz="1000">
                <a:solidFill>
                  <a:srgbClr val="222222"/>
                </a:solidFill>
                <a:latin typeface="Segoe UI" panose="020B0502040204020203" pitchFamily="34" charset="0"/>
              </a:rPr>
              <a:t>   - Logical Reads (Messages SET STATISTICS IO): 574 -&gt; 5 (GIẢM 99.1289%)</a:t>
            </a:r>
          </a:p>
          <a:p>
            <a:r>
              <a:rPr lang="vi-VN" sz="1000">
                <a:solidFill>
                  <a:srgbClr val="222222"/>
                </a:solidFill>
                <a:latin typeface="Segoe UI" panose="020B0502040204020203" pitchFamily="34" charset="0"/>
              </a:rPr>
              <a:t>   - Logical Reads (XML Plan RunTimeCounters): 522 -&gt; 5 (GIẢM 99.0421%)</a:t>
            </a:r>
          </a:p>
          <a:p>
            <a:r>
              <a:rPr lang="vi-VN" sz="1000">
                <a:solidFill>
                  <a:srgbClr val="222222"/>
                </a:solidFill>
                <a:latin typeface="Segoe UI" panose="020B0502040204020203" pitchFamily="34" charset="0"/>
              </a:rPr>
              <a:t>   - XML QueryTimeStats: 1ms/1ms -&gt; 0ms/0ms (Messages không xuất dòng kết thúc)</a:t>
            </a:r>
          </a:p>
          <a:p>
            <a:endParaRPr lang="vi-VN" sz="1000">
              <a:solidFill>
                <a:srgbClr val="222222"/>
              </a:solidFill>
              <a:latin typeface="Segoe UI" panose="020B0502040204020203" pitchFamily="34" charset="0"/>
            </a:endParaRPr>
          </a:p>
          <a:p>
            <a:r>
              <a:rPr lang="vi-VN" sz="1000">
                <a:solidFill>
                  <a:srgbClr val="222222"/>
                </a:solidFill>
                <a:latin typeface="Segoe UI" panose="020B0502040204020203" pitchFamily="34" charset="0"/>
              </a:rPr>
              <a:t>Giải trình kỹ thuật khách quan:</a:t>
            </a:r>
          </a:p>
          <a:p>
            <a:r>
              <a:rPr lang="vi-VN" sz="1000">
                <a:solidFill>
                  <a:srgbClr val="222222"/>
                </a:solidFill>
                <a:latin typeface="Segoe UI" panose="020B0502040204020203" pitchFamily="34" charset="0"/>
              </a:rPr>
              <a:t>• 574 = Buffer pool page reads (Storage Engine); 522 = Operator runtime counter (XML). Độ chênh 52 trang có nguyên nhân kỹ thuật nội bộ UNKNOWN (không suy diễn b-tree). Cả 2 phương thức đều đo chính xác 5 logical reads khi có covering index. Không tuyên bố về cắt giảm đọc đĩa vật lý.</a:t>
            </a:r>
            <a:endParaRPr lang="en-US" sz="1000">
              <a:solidFill>
                <a:srgbClr val="222222"/>
              </a:solidFill>
              <a:latin typeface="Segoe UI" panose="020B0502040204020203" pitchFamily="34" charset="0"/>
            </a:endParaRPr>
          </a:p>
        </p:txBody>
      </p:sp>
      <p:sp>
        <p:nvSpPr>
          <p:cNvPr id="8" name="Rectangle 7">
            <a:extLst>
              <a:ext uri="{FF2B5EF4-FFF2-40B4-BE49-F238E27FC236}">
                <a16:creationId xmlns:a16="http://schemas.microsoft.com/office/drawing/2014/main" id="{7EE9878C-746A-EB22-8BF9-5F19C0AE9BEB}"/>
              </a:ext>
            </a:extLst>
          </p:cNvPr>
          <p:cNvSpPr/>
          <p:nvPr/>
        </p:nvSpPr>
        <p:spPr>
          <a:xfrm>
            <a:off x="6096000" y="1079500"/>
            <a:ext cx="5715000" cy="5397500"/>
          </a:xfrm>
          <a:prstGeom prst="rect">
            <a:avLst/>
          </a:prstGeom>
          <a:solidFill>
            <a:srgbClr val="FAF7F5"/>
          </a:solidFill>
          <a:ln>
            <a:solidFill>
              <a:srgbClr val="DED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A56271B-77CD-8B23-846C-6C44A6F09446}"/>
              </a:ext>
            </a:extLst>
          </p:cNvPr>
          <p:cNvSpPr txBox="1"/>
          <p:nvPr/>
        </p:nvSpPr>
        <p:spPr>
          <a:xfrm>
            <a:off x="6223000" y="1206500"/>
            <a:ext cx="5461000" cy="3170099"/>
          </a:xfrm>
          <a:prstGeom prst="rect">
            <a:avLst/>
          </a:prstGeom>
          <a:noFill/>
        </p:spPr>
        <p:txBody>
          <a:bodyPr vert="horz" wrap="square" rtlCol="0">
            <a:spAutoFit/>
          </a:bodyPr>
          <a:lstStyle/>
          <a:p>
            <a:r>
              <a:rPr lang="vi-VN" sz="1000">
                <a:solidFill>
                  <a:srgbClr val="222222"/>
                </a:solidFill>
                <a:latin typeface="Segoe UI" panose="020B0502040204020203" pitchFamily="34" charset="0"/>
              </a:rPr>
              <a:t>VIEW TỔNG HỢP &amp; PHỐI HỢP PHÂN HỆ (RUBRIC SỞ HỮU)</a:t>
            </a:r>
          </a:p>
          <a:p>
            <a:endParaRPr lang="vi-VN" sz="1000">
              <a:solidFill>
                <a:srgbClr val="222222"/>
              </a:solidFill>
              <a:latin typeface="Segoe UI" panose="020B0502040204020203" pitchFamily="34" charset="0"/>
            </a:endParaRPr>
          </a:p>
          <a:p>
            <a:r>
              <a:rPr lang="vi-VN" sz="1000">
                <a:solidFill>
                  <a:srgbClr val="222222"/>
                </a:solidFill>
                <a:latin typeface="Segoe UI" panose="020B0502040204020203" pitchFamily="34" charset="0"/>
              </a:rPr>
              <a:t>1. dbo.vw_TongHopChamCongThang:</a:t>
            </a:r>
          </a:p>
          <a:p>
            <a:r>
              <a:rPr lang="vi-VN" sz="1000">
                <a:solidFill>
                  <a:srgbClr val="222222"/>
                </a:solidFill>
                <a:latin typeface="Segoe UI" panose="020B0502040204020203" pitchFamily="34" charset="0"/>
              </a:rPr>
              <a:t>• 9 cột đầu ra, GROUP BY (MaNV, HoTen, Thang, Nam)</a:t>
            </a:r>
          </a:p>
          <a:p>
            <a:r>
              <a:rPr lang="vi-VN" sz="1000">
                <a:solidFill>
                  <a:srgbClr val="222222"/>
                </a:solidFill>
                <a:latin typeface="Segoe UI" panose="020B0502040204020203" pitchFamily="34" charset="0"/>
              </a:rPr>
              <a:t>• SoNgayDiLam = COUNT(CASE WHEN TrangThai IN ('CO_MAT','DI_TRE','VE_SOM') THEN 1 END)</a:t>
            </a:r>
          </a:p>
          <a:p>
            <a:r>
              <a:rPr lang="vi-VN" sz="1000">
                <a:solidFill>
                  <a:srgbClr val="222222"/>
                </a:solidFill>
                <a:latin typeface="Segoe UI" panose="020B0502040204020203" pitchFamily="34" charset="0"/>
              </a:rPr>
              <a:t>   (Mệnh đề CASE không có ELSE trả về NULL, phát sinh cảnh báo chuẩn ANSI SQL 'Null value is eliminated by an aggregate')</a:t>
            </a:r>
          </a:p>
          <a:p>
            <a:r>
              <a:rPr lang="vi-VN" sz="1000">
                <a:solidFill>
                  <a:srgbClr val="222222"/>
                </a:solidFill>
                <a:latin typeface="Segoe UI" panose="020B0502040204020203" pitchFamily="34" charset="0"/>
              </a:rPr>
              <a:t>• TongSoGioLam = SUM(CASE WHEN GioRa&gt;GioVao THEN DATEDIFF(...) ELSE 0 END)/60.0</a:t>
            </a:r>
          </a:p>
          <a:p>
            <a:r>
              <a:rPr lang="vi-VN" sz="1000">
                <a:solidFill>
                  <a:srgbClr val="222222"/>
                </a:solidFill>
                <a:latin typeface="Segoe UI" panose="020B0502040204020203" pitchFamily="34" charset="0"/>
              </a:rPr>
              <a:t>• Tab 'Tổng hợp theo tháng' trên UI đọc view qua ChamCongDAO.getTongHopTheoThang.</a:t>
            </a:r>
          </a:p>
          <a:p>
            <a:endParaRPr lang="vi-VN" sz="1000">
              <a:solidFill>
                <a:srgbClr val="222222"/>
              </a:solidFill>
              <a:latin typeface="Segoe UI" panose="020B0502040204020203" pitchFamily="34" charset="0"/>
            </a:endParaRPr>
          </a:p>
          <a:p>
            <a:r>
              <a:rPr lang="vi-VN" sz="1000">
                <a:solidFill>
                  <a:srgbClr val="222222"/>
                </a:solidFill>
                <a:latin typeface="Segoe UI" panose="020B0502040204020203" pitchFamily="34" charset="0"/>
              </a:rPr>
              <a:t>2. Phối hợp TV2 - TV3: Hàm dbo.fn_TongPhuCap(@MaNV, @Thang, @Nam):</a:t>
            </a:r>
          </a:p>
          <a:p>
            <a:r>
              <a:rPr lang="vi-VN" sz="1000">
                <a:solidFill>
                  <a:srgbClr val="222222"/>
                </a:solidFill>
                <a:latin typeface="Segoe UI" panose="020B0502040204020203" pitchFamily="34" charset="0"/>
              </a:rPr>
              <a:t>• TV2 sở hữu theo ma trận phân công, đặt tại 03_phucap_khautru_TV3.sql.</a:t>
            </a:r>
          </a:p>
          <a:p>
            <a:r>
              <a:rPr lang="vi-VN" sz="1000">
                <a:solidFill>
                  <a:srgbClr val="222222"/>
                </a:solidFill>
                <a:latin typeface="Segoe UI" panose="020B0502040204020203" pitchFamily="34" charset="0"/>
              </a:rPr>
              <a:t>• Tính ISNULL(SUM(SoTien), 0) phụ cấp cho thủ tục tính lương sp_TinhBangLuongThang (TV4) gọi qua dynamic SQL.</a:t>
            </a:r>
          </a:p>
          <a:p>
            <a:endParaRPr lang="vi-VN" sz="1000">
              <a:solidFill>
                <a:srgbClr val="222222"/>
              </a:solidFill>
              <a:latin typeface="Segoe UI" panose="020B0502040204020203" pitchFamily="34" charset="0"/>
            </a:endParaRPr>
          </a:p>
          <a:p>
            <a:r>
              <a:rPr lang="vi-VN" sz="1000">
                <a:solidFill>
                  <a:srgbClr val="222222"/>
                </a:solidFill>
                <a:latin typeface="Segoe UI" panose="020B0502040204020203" pitchFamily="34" charset="0"/>
              </a:rPr>
              <a:t>3. Phân hệ Lương đếm ngày công (Tránh nhầm lẫn):</a:t>
            </a:r>
          </a:p>
          <a:p>
            <a:r>
              <a:rPr lang="vi-VN" sz="1000">
                <a:solidFill>
                  <a:srgbClr val="222222"/>
                </a:solidFill>
                <a:latin typeface="Segoe UI" panose="020B0502040204020203" pitchFamily="34" charset="0"/>
              </a:rPr>
              <a:t>• sp_TinhBangLuongThang (TV4) đếm TRỰC TIẾP từ bảng CHAMCONG trong khoảng ngày nửa mở có khóa WITH (HOLDLOCK).</a:t>
            </a:r>
          </a:p>
          <a:p>
            <a:r>
              <a:rPr lang="vi-VN" sz="1000">
                <a:solidFill>
                  <a:srgbClr val="222222"/>
                </a:solidFill>
                <a:latin typeface="Segoe UI" panose="020B0502040204020203" pitchFamily="34" charset="0"/>
              </a:rPr>
              <a:t>• Không gọi hàm fn_TinhSoNgayCong (hàm do TV1 sở hữu).</a:t>
            </a:r>
            <a:endParaRPr lang="en-US" sz="1000">
              <a:solidFill>
                <a:srgbClr val="222222"/>
              </a:solidFill>
              <a:latin typeface="Segoe UI" panose="020B0502040204020203" pitchFamily="34" charset="0"/>
            </a:endParaRPr>
          </a:p>
        </p:txBody>
      </p:sp>
    </p:spTree>
    <p:extLst>
      <p:ext uri="{BB962C8B-B14F-4D97-AF65-F5344CB8AC3E}">
        <p14:creationId xmlns:p14="http://schemas.microsoft.com/office/powerpoint/2010/main" val="2795492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2466</Words>
  <Application>Microsoft Office PowerPoint</Application>
  <PresentationFormat>Custom</PresentationFormat>
  <Paragraphs>118</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Segoe UI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Phạm Minh Quân</dc:creator>
  <cp:lastModifiedBy>Phạm Minh Quân</cp:lastModifiedBy>
  <cp:revision>1</cp:revision>
  <dcterms:created xsi:type="dcterms:W3CDTF">2026-10-13T08:11:21Z</dcterms:created>
  <dcterms:modified xsi:type="dcterms:W3CDTF">2026-10-13T08:11:21Z</dcterms:modified>
</cp:coreProperties>
</file>