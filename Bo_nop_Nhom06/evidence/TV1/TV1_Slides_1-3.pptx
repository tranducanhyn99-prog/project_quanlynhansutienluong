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FAE7DE-997B-4B57-895B-A6B4C184BC14}" type="datetimeFigureOut">
              <a:rPr lang="en-US" smtClean="0"/>
              <a:t>10/10/2026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6D606E-37A5-43F7-897C-0CE614F6E66D}" type="slidenum">
              <a:rPr lang="en-US" smtClean="0"/>
              <a:t>‹#›</a:t>
            </a:fld>
            <a:endParaRPr lang="en-US"/>
          </a:p>
        </p:txBody>
      </p:sp>
    </p:spTree>
    <p:extLst>
      <p:ext uri="{BB962C8B-B14F-4D97-AF65-F5344CB8AC3E}">
        <p14:creationId xmlns:p14="http://schemas.microsoft.com/office/powerpoint/2010/main" val="3236694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 khoảng 40 giây</a:t>
            </a:r>
          </a:p>
          <a:p>
            <a:r>
              <a:t>Kính thưa Thầy và các bạn, em là Nguyễn Minh Trí, thành viên 1 của Nhóm 06. Hôm nay nhóm em xin báo cáo đề tài Quản lý nhân sự và tiền lương. Hệ thống được thiết kế theo kiến trúc phân tầng: SQL Server chịu trách nhiệm quản lý quy tắc dữ liệu, bảo đảm tính toàn vẹn, giao dịch transaction và phân quyền bảo mật; Java Swing và JDBC đóng vai trò giao diện hiển thị và điều phối truy vấn. Cơ sở dữ liệu toàn hệ thống gồm đúng 10 bảng thực thể chuẩn 3NF, phục vụ 4 nhóm nghiệp vụ chính: Hồ sơ tổ chức, Chấm công điểm danh, Phụ cấp khấu trừ và Tính lương chốt sổ. Sau phần trình bày lý thuyết của 5 thành viên, nhóm sẽ thực hiện demo nối tiếp kỳ lương tháng 10/2026 trên dữ liệu thực tế.</a:t>
            </a:r>
          </a:p>
        </p:txBody>
      </p:sp>
      <p:sp>
        <p:nvSpPr>
          <p:cNvPr id="4" name="Slide Number Placeholder 3"/>
          <p:cNvSpPr>
            <a:spLocks noGrp="1"/>
          </p:cNvSpPr>
          <p:nvPr>
            <p:ph type="sldNum" sz="quarter" idx="5"/>
          </p:nvPr>
        </p:nvSpPr>
        <p:spPr/>
        <p:txBody>
          <a:bodyPr/>
          <a:lstStyle/>
          <a:p>
            <a:fld id="{B16D606E-37A5-43F7-897C-0CE614F6E66D}" type="slidenum">
              <a:rPr lang="en-US" smtClean="0"/>
              <a:t>1</a:t>
            </a:fld>
            <a:endParaRPr lang="en-US"/>
          </a:p>
        </p:txBody>
      </p:sp>
    </p:spTree>
    <p:extLst>
      <p:ext uri="{BB962C8B-B14F-4D97-AF65-F5344CB8AC3E}">
        <p14:creationId xmlns:p14="http://schemas.microsoft.com/office/powerpoint/2010/main" val="2195403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 khoảng 45 giây</a:t>
            </a:r>
          </a:p>
          <a:p>
            <a:r>
              <a:t>Ở slide này, em xin trình bày về mô hình dữ liệu và quá trình chuẩn hóa 3NF do em phụ trách. Từ mô hình phi chuẩn ban đầu, em đã chuẩn hóa qua 1NF bằng cách nguyên tử hóa thuộc tính; đạt 2NF bằng cách khử phụ thuộc một phần trong các bảng có khóa phức hợp như LICHSULUONG và CHITIETBANGLUONG. Tiếp đó, em tách riêng hai bảng danh mục PHONGBAN và CHUCVU để đạt chuẩn 3NF, loại bỏ phụ thuộc bắc cầu từ MaNV đến TenPB và TenCV, ngăn chặn triệt để dị thường thêm xóa sửa. Về thiết kế nghiệp vụ, bảng LICHSULUONG và CHITIETBANGLUONG thực hiện cơ chế snapshot lịch sử: khi nhân viên được tăng lương ở hiện tại, các kỳ lương trong quá khứ vẫn giữ nguyên vẹn mức lương cơ bản lúc đó. Ngoài ra, bảng TAIKHOAN có cột MaNV nullable, cho phép tài khoản quản trị hệ thống DBA hoạt động độc lập mà không cần tạo hồ sơ nhân viên.</a:t>
            </a:r>
          </a:p>
        </p:txBody>
      </p:sp>
      <p:sp>
        <p:nvSpPr>
          <p:cNvPr id="4" name="Slide Number Placeholder 3"/>
          <p:cNvSpPr>
            <a:spLocks noGrp="1"/>
          </p:cNvSpPr>
          <p:nvPr>
            <p:ph type="sldNum" sz="quarter" idx="5"/>
          </p:nvPr>
        </p:nvSpPr>
        <p:spPr/>
        <p:txBody>
          <a:bodyPr/>
          <a:lstStyle/>
          <a:p>
            <a:fld id="{B16D606E-37A5-43F7-897C-0CE614F6E66D}" type="slidenum">
              <a:rPr lang="en-US" smtClean="0"/>
              <a:t>2</a:t>
            </a:fld>
            <a:endParaRPr lang="en-US"/>
          </a:p>
        </p:txBody>
      </p:sp>
    </p:spTree>
    <p:extLst>
      <p:ext uri="{BB962C8B-B14F-4D97-AF65-F5344CB8AC3E}">
        <p14:creationId xmlns:p14="http://schemas.microsoft.com/office/powerpoint/2010/main" val="21035636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 khoảng 35 giây</a:t>
            </a:r>
          </a:p>
          <a:p>
            <a:r>
              <a:t>Tiếp theo là phần đối tượng lập trình SQL và tối ưu hóa hiệu năng. Giao diện NhanVienPanel gọi qua NhanVienService và NhanVienDAO để tương tác với CSDL. Ràng buộc tuổi hiện hành là NgaySinh &lt;= DATEADD(YEAR,-18,NgayVaoLam) kiểm tra chính xác đến ngày sinh nhật, đã qua kiểm thử 9 ca biên trong TV1_Age_Boundaries.sql. Khi thêm nhân viên, procedure sp_ThemNhanVien thực hiện trong TRANSACTION nguyên tử: nếu trùng tài khoản, hệ thống tự động ROLLBACK toàn bộ hồ sơ vừa thêm, không để lại dữ liệu rác. Trigger trg_NhanVien_KhongXoaKhiDaPhatSinhLuong chặn xóa cứng khi đã có công hoặc lương, buộc Soft Delete. Về chỉ mục, em đã đánh Covering Index IX_NHANVIEN_HoTen kèm INCLUDE 5 cột. Kết quả đo lường thực tế trên fixture 5.000 dòng ghi nhận logical reads giảm từ 75 xuống 10 (giảm 86.67% I/O), triệt tiêu Key Lookup, có log và Actual Plan TV1_Benchmark_ActualPlan.sqlplan đi kèm.</a:t>
            </a:r>
          </a:p>
        </p:txBody>
      </p:sp>
      <p:sp>
        <p:nvSpPr>
          <p:cNvPr id="4" name="Slide Number Placeholder 3"/>
          <p:cNvSpPr>
            <a:spLocks noGrp="1"/>
          </p:cNvSpPr>
          <p:nvPr>
            <p:ph type="sldNum" sz="quarter" idx="5"/>
          </p:nvPr>
        </p:nvSpPr>
        <p:spPr/>
        <p:txBody>
          <a:bodyPr/>
          <a:lstStyle/>
          <a:p>
            <a:fld id="{B16D606E-37A5-43F7-897C-0CE614F6E66D}" type="slidenum">
              <a:rPr lang="en-US" smtClean="0"/>
              <a:t>3</a:t>
            </a:fld>
            <a:endParaRPr lang="en-US"/>
          </a:p>
        </p:txBody>
      </p:sp>
    </p:spTree>
    <p:extLst>
      <p:ext uri="{BB962C8B-B14F-4D97-AF65-F5344CB8AC3E}">
        <p14:creationId xmlns:p14="http://schemas.microsoft.com/office/powerpoint/2010/main" val="3375873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86C5A-6668-19E8-A24F-10951A5711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D49A308-45DF-A2A4-F79C-FED8B04DAC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0C688E8-3795-2CBE-A325-F3225D4B11F4}"/>
              </a:ext>
            </a:extLst>
          </p:cNvPr>
          <p:cNvSpPr>
            <a:spLocks noGrp="1"/>
          </p:cNvSpPr>
          <p:nvPr>
            <p:ph type="dt" sz="half" idx="10"/>
          </p:nvPr>
        </p:nvSpPr>
        <p:spPr/>
        <p:txBody>
          <a:bodyPr/>
          <a:lstStyle/>
          <a:p>
            <a:fld id="{2A6CCB8E-D86C-44D0-9CB3-E1263AF62499}" type="datetimeFigureOut">
              <a:rPr lang="en-US" smtClean="0"/>
              <a:t>10/10/2026</a:t>
            </a:fld>
            <a:endParaRPr lang="en-US"/>
          </a:p>
        </p:txBody>
      </p:sp>
      <p:sp>
        <p:nvSpPr>
          <p:cNvPr id="5" name="Footer Placeholder 4">
            <a:extLst>
              <a:ext uri="{FF2B5EF4-FFF2-40B4-BE49-F238E27FC236}">
                <a16:creationId xmlns:a16="http://schemas.microsoft.com/office/drawing/2014/main" id="{AB6703D5-1030-58D8-11D7-F9CC94462A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AACC2B-DE1A-8D21-C6FC-5012EF4B8BF1}"/>
              </a:ext>
            </a:extLst>
          </p:cNvPr>
          <p:cNvSpPr>
            <a:spLocks noGrp="1"/>
          </p:cNvSpPr>
          <p:nvPr>
            <p:ph type="sldNum" sz="quarter" idx="12"/>
          </p:nvPr>
        </p:nvSpPr>
        <p:spPr/>
        <p:txBody>
          <a:bodyPr/>
          <a:lstStyle/>
          <a:p>
            <a:fld id="{62EDB8F3-ED00-4956-BF5E-E6AA85E727E1}" type="slidenum">
              <a:rPr lang="en-US" smtClean="0"/>
              <a:t>‹#›</a:t>
            </a:fld>
            <a:endParaRPr lang="en-US"/>
          </a:p>
        </p:txBody>
      </p:sp>
    </p:spTree>
    <p:extLst>
      <p:ext uri="{BB962C8B-B14F-4D97-AF65-F5344CB8AC3E}">
        <p14:creationId xmlns:p14="http://schemas.microsoft.com/office/powerpoint/2010/main" val="3333151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E239B-D270-F45E-4332-3B51720142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79E892-3186-60C9-E4F4-725217A5AD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208FC9-A10F-A044-615E-41F152D82C22}"/>
              </a:ext>
            </a:extLst>
          </p:cNvPr>
          <p:cNvSpPr>
            <a:spLocks noGrp="1"/>
          </p:cNvSpPr>
          <p:nvPr>
            <p:ph type="dt" sz="half" idx="10"/>
          </p:nvPr>
        </p:nvSpPr>
        <p:spPr/>
        <p:txBody>
          <a:bodyPr/>
          <a:lstStyle/>
          <a:p>
            <a:fld id="{2A6CCB8E-D86C-44D0-9CB3-E1263AF62499}" type="datetimeFigureOut">
              <a:rPr lang="en-US" smtClean="0"/>
              <a:t>10/10/2026</a:t>
            </a:fld>
            <a:endParaRPr lang="en-US"/>
          </a:p>
        </p:txBody>
      </p:sp>
      <p:sp>
        <p:nvSpPr>
          <p:cNvPr id="5" name="Footer Placeholder 4">
            <a:extLst>
              <a:ext uri="{FF2B5EF4-FFF2-40B4-BE49-F238E27FC236}">
                <a16:creationId xmlns:a16="http://schemas.microsoft.com/office/drawing/2014/main" id="{70ED44F2-DF72-9CBC-2D21-8BFEF81EE9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9D47F4-7941-AC5E-0995-7853160AAB1E}"/>
              </a:ext>
            </a:extLst>
          </p:cNvPr>
          <p:cNvSpPr>
            <a:spLocks noGrp="1"/>
          </p:cNvSpPr>
          <p:nvPr>
            <p:ph type="sldNum" sz="quarter" idx="12"/>
          </p:nvPr>
        </p:nvSpPr>
        <p:spPr/>
        <p:txBody>
          <a:bodyPr/>
          <a:lstStyle/>
          <a:p>
            <a:fld id="{62EDB8F3-ED00-4956-BF5E-E6AA85E727E1}" type="slidenum">
              <a:rPr lang="en-US" smtClean="0"/>
              <a:t>‹#›</a:t>
            </a:fld>
            <a:endParaRPr lang="en-US"/>
          </a:p>
        </p:txBody>
      </p:sp>
    </p:spTree>
    <p:extLst>
      <p:ext uri="{BB962C8B-B14F-4D97-AF65-F5344CB8AC3E}">
        <p14:creationId xmlns:p14="http://schemas.microsoft.com/office/powerpoint/2010/main" val="1262684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1C2D0-38A6-FF26-421C-3055CFEDDE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8A0E2BA-C40C-11FA-771D-E9F9EE9FBFF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B39533-4888-7696-CB79-2F48387C3F59}"/>
              </a:ext>
            </a:extLst>
          </p:cNvPr>
          <p:cNvSpPr>
            <a:spLocks noGrp="1"/>
          </p:cNvSpPr>
          <p:nvPr>
            <p:ph type="dt" sz="half" idx="10"/>
          </p:nvPr>
        </p:nvSpPr>
        <p:spPr/>
        <p:txBody>
          <a:bodyPr/>
          <a:lstStyle/>
          <a:p>
            <a:fld id="{2A6CCB8E-D86C-44D0-9CB3-E1263AF62499}" type="datetimeFigureOut">
              <a:rPr lang="en-US" smtClean="0"/>
              <a:t>10/10/2026</a:t>
            </a:fld>
            <a:endParaRPr lang="en-US"/>
          </a:p>
        </p:txBody>
      </p:sp>
      <p:sp>
        <p:nvSpPr>
          <p:cNvPr id="5" name="Footer Placeholder 4">
            <a:extLst>
              <a:ext uri="{FF2B5EF4-FFF2-40B4-BE49-F238E27FC236}">
                <a16:creationId xmlns:a16="http://schemas.microsoft.com/office/drawing/2014/main" id="{26DEA0AE-EAF2-7013-9E73-7FEAA54EF7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BE6464-1869-2AAF-86BF-AFA0BC52B777}"/>
              </a:ext>
            </a:extLst>
          </p:cNvPr>
          <p:cNvSpPr>
            <a:spLocks noGrp="1"/>
          </p:cNvSpPr>
          <p:nvPr>
            <p:ph type="sldNum" sz="quarter" idx="12"/>
          </p:nvPr>
        </p:nvSpPr>
        <p:spPr/>
        <p:txBody>
          <a:bodyPr/>
          <a:lstStyle/>
          <a:p>
            <a:fld id="{62EDB8F3-ED00-4956-BF5E-E6AA85E727E1}" type="slidenum">
              <a:rPr lang="en-US" smtClean="0"/>
              <a:t>‹#›</a:t>
            </a:fld>
            <a:endParaRPr lang="en-US"/>
          </a:p>
        </p:txBody>
      </p:sp>
    </p:spTree>
    <p:extLst>
      <p:ext uri="{BB962C8B-B14F-4D97-AF65-F5344CB8AC3E}">
        <p14:creationId xmlns:p14="http://schemas.microsoft.com/office/powerpoint/2010/main" val="776926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AA367-33D0-7523-6AFC-F37066843A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D020F6-3E16-3BBB-7A56-69523BFFC9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B69230-333F-3902-3974-1BAA10FDC4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BB964A-1D4F-88CF-FFE9-5DB9C090FB79}"/>
              </a:ext>
            </a:extLst>
          </p:cNvPr>
          <p:cNvSpPr>
            <a:spLocks noGrp="1"/>
          </p:cNvSpPr>
          <p:nvPr>
            <p:ph type="dt" sz="half" idx="10"/>
          </p:nvPr>
        </p:nvSpPr>
        <p:spPr/>
        <p:txBody>
          <a:bodyPr/>
          <a:lstStyle/>
          <a:p>
            <a:fld id="{2A6CCB8E-D86C-44D0-9CB3-E1263AF62499}" type="datetimeFigureOut">
              <a:rPr lang="en-US" smtClean="0"/>
              <a:t>10/10/2026</a:t>
            </a:fld>
            <a:endParaRPr lang="en-US"/>
          </a:p>
        </p:txBody>
      </p:sp>
      <p:sp>
        <p:nvSpPr>
          <p:cNvPr id="6" name="Footer Placeholder 5">
            <a:extLst>
              <a:ext uri="{FF2B5EF4-FFF2-40B4-BE49-F238E27FC236}">
                <a16:creationId xmlns:a16="http://schemas.microsoft.com/office/drawing/2014/main" id="{A843E477-AA54-33C1-8F15-1AA3CC3FA4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261F87-902A-5891-7A10-430AFAF91ED3}"/>
              </a:ext>
            </a:extLst>
          </p:cNvPr>
          <p:cNvSpPr>
            <a:spLocks noGrp="1"/>
          </p:cNvSpPr>
          <p:nvPr>
            <p:ph type="sldNum" sz="quarter" idx="12"/>
          </p:nvPr>
        </p:nvSpPr>
        <p:spPr/>
        <p:txBody>
          <a:bodyPr/>
          <a:lstStyle/>
          <a:p>
            <a:fld id="{62EDB8F3-ED00-4956-BF5E-E6AA85E727E1}" type="slidenum">
              <a:rPr lang="en-US" smtClean="0"/>
              <a:t>‹#›</a:t>
            </a:fld>
            <a:endParaRPr lang="en-US"/>
          </a:p>
        </p:txBody>
      </p:sp>
    </p:spTree>
    <p:extLst>
      <p:ext uri="{BB962C8B-B14F-4D97-AF65-F5344CB8AC3E}">
        <p14:creationId xmlns:p14="http://schemas.microsoft.com/office/powerpoint/2010/main" val="192574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37BDC-B877-3D34-1E7B-597AD9CC9AD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4DDF3B-D28F-48A0-28D0-94069CD529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1880F4-7D75-A865-70D2-FE00A05252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98D393-26B7-B808-AE1F-985FCF0DA8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681474-FD8D-6FAE-DE67-0633C0A12F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6A13EAD-E288-4A0E-C40A-4554BA2F3C41}"/>
              </a:ext>
            </a:extLst>
          </p:cNvPr>
          <p:cNvSpPr>
            <a:spLocks noGrp="1"/>
          </p:cNvSpPr>
          <p:nvPr>
            <p:ph type="dt" sz="half" idx="10"/>
          </p:nvPr>
        </p:nvSpPr>
        <p:spPr/>
        <p:txBody>
          <a:bodyPr/>
          <a:lstStyle/>
          <a:p>
            <a:fld id="{2A6CCB8E-D86C-44D0-9CB3-E1263AF62499}" type="datetimeFigureOut">
              <a:rPr lang="en-US" smtClean="0"/>
              <a:t>10/10/2026</a:t>
            </a:fld>
            <a:endParaRPr lang="en-US"/>
          </a:p>
        </p:txBody>
      </p:sp>
      <p:sp>
        <p:nvSpPr>
          <p:cNvPr id="8" name="Footer Placeholder 7">
            <a:extLst>
              <a:ext uri="{FF2B5EF4-FFF2-40B4-BE49-F238E27FC236}">
                <a16:creationId xmlns:a16="http://schemas.microsoft.com/office/drawing/2014/main" id="{787D13F6-8F6B-7829-8B65-AA16B5CE6BE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465C79-D889-6E45-76A4-DF583C8AD74F}"/>
              </a:ext>
            </a:extLst>
          </p:cNvPr>
          <p:cNvSpPr>
            <a:spLocks noGrp="1"/>
          </p:cNvSpPr>
          <p:nvPr>
            <p:ph type="sldNum" sz="quarter" idx="12"/>
          </p:nvPr>
        </p:nvSpPr>
        <p:spPr/>
        <p:txBody>
          <a:bodyPr/>
          <a:lstStyle/>
          <a:p>
            <a:fld id="{62EDB8F3-ED00-4956-BF5E-E6AA85E727E1}" type="slidenum">
              <a:rPr lang="en-US" smtClean="0"/>
              <a:t>‹#›</a:t>
            </a:fld>
            <a:endParaRPr lang="en-US"/>
          </a:p>
        </p:txBody>
      </p:sp>
    </p:spTree>
    <p:extLst>
      <p:ext uri="{BB962C8B-B14F-4D97-AF65-F5344CB8AC3E}">
        <p14:creationId xmlns:p14="http://schemas.microsoft.com/office/powerpoint/2010/main" val="563677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53AC6-3B5F-AA2F-D053-C852149A16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0A8203-5BA9-45F3-D2BF-EAD8C430D060}"/>
              </a:ext>
            </a:extLst>
          </p:cNvPr>
          <p:cNvSpPr>
            <a:spLocks noGrp="1"/>
          </p:cNvSpPr>
          <p:nvPr>
            <p:ph type="dt" sz="half" idx="10"/>
          </p:nvPr>
        </p:nvSpPr>
        <p:spPr/>
        <p:txBody>
          <a:bodyPr/>
          <a:lstStyle/>
          <a:p>
            <a:fld id="{2A6CCB8E-D86C-44D0-9CB3-E1263AF62499}" type="datetimeFigureOut">
              <a:rPr lang="en-US" smtClean="0"/>
              <a:t>10/10/2026</a:t>
            </a:fld>
            <a:endParaRPr lang="en-US"/>
          </a:p>
        </p:txBody>
      </p:sp>
      <p:sp>
        <p:nvSpPr>
          <p:cNvPr id="4" name="Footer Placeholder 3">
            <a:extLst>
              <a:ext uri="{FF2B5EF4-FFF2-40B4-BE49-F238E27FC236}">
                <a16:creationId xmlns:a16="http://schemas.microsoft.com/office/drawing/2014/main" id="{8026EC95-EDE3-0079-93AC-7C1EAD049D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FFFCF4-9B03-DF19-1B3E-6A672EA18520}"/>
              </a:ext>
            </a:extLst>
          </p:cNvPr>
          <p:cNvSpPr>
            <a:spLocks noGrp="1"/>
          </p:cNvSpPr>
          <p:nvPr>
            <p:ph type="sldNum" sz="quarter" idx="12"/>
          </p:nvPr>
        </p:nvSpPr>
        <p:spPr/>
        <p:txBody>
          <a:bodyPr/>
          <a:lstStyle/>
          <a:p>
            <a:fld id="{62EDB8F3-ED00-4956-BF5E-E6AA85E727E1}" type="slidenum">
              <a:rPr lang="en-US" smtClean="0"/>
              <a:t>‹#›</a:t>
            </a:fld>
            <a:endParaRPr lang="en-US"/>
          </a:p>
        </p:txBody>
      </p:sp>
    </p:spTree>
    <p:extLst>
      <p:ext uri="{BB962C8B-B14F-4D97-AF65-F5344CB8AC3E}">
        <p14:creationId xmlns:p14="http://schemas.microsoft.com/office/powerpoint/2010/main" val="2049664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1C6779-BF43-5B37-C539-5F6B942437D6}"/>
              </a:ext>
            </a:extLst>
          </p:cNvPr>
          <p:cNvSpPr>
            <a:spLocks noGrp="1"/>
          </p:cNvSpPr>
          <p:nvPr>
            <p:ph type="dt" sz="half" idx="10"/>
          </p:nvPr>
        </p:nvSpPr>
        <p:spPr/>
        <p:txBody>
          <a:bodyPr/>
          <a:lstStyle/>
          <a:p>
            <a:fld id="{2A6CCB8E-D86C-44D0-9CB3-E1263AF62499}" type="datetimeFigureOut">
              <a:rPr lang="en-US" smtClean="0"/>
              <a:t>10/10/2026</a:t>
            </a:fld>
            <a:endParaRPr lang="en-US"/>
          </a:p>
        </p:txBody>
      </p:sp>
      <p:sp>
        <p:nvSpPr>
          <p:cNvPr id="3" name="Footer Placeholder 2">
            <a:extLst>
              <a:ext uri="{FF2B5EF4-FFF2-40B4-BE49-F238E27FC236}">
                <a16:creationId xmlns:a16="http://schemas.microsoft.com/office/drawing/2014/main" id="{C4AD8CDF-9AF2-4809-E386-6D7A387DDF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3CB461-E101-8E69-91C5-68F220EA5A39}"/>
              </a:ext>
            </a:extLst>
          </p:cNvPr>
          <p:cNvSpPr>
            <a:spLocks noGrp="1"/>
          </p:cNvSpPr>
          <p:nvPr>
            <p:ph type="sldNum" sz="quarter" idx="12"/>
          </p:nvPr>
        </p:nvSpPr>
        <p:spPr/>
        <p:txBody>
          <a:bodyPr/>
          <a:lstStyle/>
          <a:p>
            <a:fld id="{62EDB8F3-ED00-4956-BF5E-E6AA85E727E1}" type="slidenum">
              <a:rPr lang="en-US" smtClean="0"/>
              <a:t>‹#›</a:t>
            </a:fld>
            <a:endParaRPr lang="en-US"/>
          </a:p>
        </p:txBody>
      </p:sp>
    </p:spTree>
    <p:extLst>
      <p:ext uri="{BB962C8B-B14F-4D97-AF65-F5344CB8AC3E}">
        <p14:creationId xmlns:p14="http://schemas.microsoft.com/office/powerpoint/2010/main" val="3570691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36B53-FB10-CA45-60EC-776A74F4AB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809F7F-782E-CFE2-D0E2-C4D418A626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282C49-AF61-67D4-EE80-17B3514CD0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AE4BB1-6610-15FA-0475-36E37B1DE30E}"/>
              </a:ext>
            </a:extLst>
          </p:cNvPr>
          <p:cNvSpPr>
            <a:spLocks noGrp="1"/>
          </p:cNvSpPr>
          <p:nvPr>
            <p:ph type="dt" sz="half" idx="10"/>
          </p:nvPr>
        </p:nvSpPr>
        <p:spPr/>
        <p:txBody>
          <a:bodyPr/>
          <a:lstStyle/>
          <a:p>
            <a:fld id="{2A6CCB8E-D86C-44D0-9CB3-E1263AF62499}" type="datetimeFigureOut">
              <a:rPr lang="en-US" smtClean="0"/>
              <a:t>10/10/2026</a:t>
            </a:fld>
            <a:endParaRPr lang="en-US"/>
          </a:p>
        </p:txBody>
      </p:sp>
      <p:sp>
        <p:nvSpPr>
          <p:cNvPr id="6" name="Footer Placeholder 5">
            <a:extLst>
              <a:ext uri="{FF2B5EF4-FFF2-40B4-BE49-F238E27FC236}">
                <a16:creationId xmlns:a16="http://schemas.microsoft.com/office/drawing/2014/main" id="{BC52ED38-62ED-C674-4248-9971EA8563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97D735-87A3-DAB5-CB88-D7A843C32DB9}"/>
              </a:ext>
            </a:extLst>
          </p:cNvPr>
          <p:cNvSpPr>
            <a:spLocks noGrp="1"/>
          </p:cNvSpPr>
          <p:nvPr>
            <p:ph type="sldNum" sz="quarter" idx="12"/>
          </p:nvPr>
        </p:nvSpPr>
        <p:spPr/>
        <p:txBody>
          <a:bodyPr/>
          <a:lstStyle/>
          <a:p>
            <a:fld id="{62EDB8F3-ED00-4956-BF5E-E6AA85E727E1}" type="slidenum">
              <a:rPr lang="en-US" smtClean="0"/>
              <a:t>‹#›</a:t>
            </a:fld>
            <a:endParaRPr lang="en-US"/>
          </a:p>
        </p:txBody>
      </p:sp>
    </p:spTree>
    <p:extLst>
      <p:ext uri="{BB962C8B-B14F-4D97-AF65-F5344CB8AC3E}">
        <p14:creationId xmlns:p14="http://schemas.microsoft.com/office/powerpoint/2010/main" val="410401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9A567-F29F-3A9C-1872-C282A48F7E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1D43CE1-5F84-42F8-3A05-33F0A33C10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0DBD12-C744-F677-A192-CA297D3B7A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B488BB-E5A9-AFE5-89D7-C2093B3F4197}"/>
              </a:ext>
            </a:extLst>
          </p:cNvPr>
          <p:cNvSpPr>
            <a:spLocks noGrp="1"/>
          </p:cNvSpPr>
          <p:nvPr>
            <p:ph type="dt" sz="half" idx="10"/>
          </p:nvPr>
        </p:nvSpPr>
        <p:spPr/>
        <p:txBody>
          <a:bodyPr/>
          <a:lstStyle/>
          <a:p>
            <a:fld id="{2A6CCB8E-D86C-44D0-9CB3-E1263AF62499}" type="datetimeFigureOut">
              <a:rPr lang="en-US" smtClean="0"/>
              <a:t>10/10/2026</a:t>
            </a:fld>
            <a:endParaRPr lang="en-US"/>
          </a:p>
        </p:txBody>
      </p:sp>
      <p:sp>
        <p:nvSpPr>
          <p:cNvPr id="6" name="Footer Placeholder 5">
            <a:extLst>
              <a:ext uri="{FF2B5EF4-FFF2-40B4-BE49-F238E27FC236}">
                <a16:creationId xmlns:a16="http://schemas.microsoft.com/office/drawing/2014/main" id="{769E1B04-62F2-7984-88AB-FCB5B5E6E8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0A015D-7B25-732F-C0E4-F2C5C01585E9}"/>
              </a:ext>
            </a:extLst>
          </p:cNvPr>
          <p:cNvSpPr>
            <a:spLocks noGrp="1"/>
          </p:cNvSpPr>
          <p:nvPr>
            <p:ph type="sldNum" sz="quarter" idx="12"/>
          </p:nvPr>
        </p:nvSpPr>
        <p:spPr/>
        <p:txBody>
          <a:bodyPr/>
          <a:lstStyle/>
          <a:p>
            <a:fld id="{62EDB8F3-ED00-4956-BF5E-E6AA85E727E1}" type="slidenum">
              <a:rPr lang="en-US" smtClean="0"/>
              <a:t>‹#›</a:t>
            </a:fld>
            <a:endParaRPr lang="en-US"/>
          </a:p>
        </p:txBody>
      </p:sp>
    </p:spTree>
    <p:extLst>
      <p:ext uri="{BB962C8B-B14F-4D97-AF65-F5344CB8AC3E}">
        <p14:creationId xmlns:p14="http://schemas.microsoft.com/office/powerpoint/2010/main" val="980342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72C80-1D35-0063-9105-56D4C17BB6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851EFD-5137-3E59-DC1C-4F19E262F5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229FC8-8582-080B-50B6-E4BDA3B82EBC}"/>
              </a:ext>
            </a:extLst>
          </p:cNvPr>
          <p:cNvSpPr>
            <a:spLocks noGrp="1"/>
          </p:cNvSpPr>
          <p:nvPr>
            <p:ph type="dt" sz="half" idx="10"/>
          </p:nvPr>
        </p:nvSpPr>
        <p:spPr/>
        <p:txBody>
          <a:bodyPr/>
          <a:lstStyle/>
          <a:p>
            <a:fld id="{2A6CCB8E-D86C-44D0-9CB3-E1263AF62499}" type="datetimeFigureOut">
              <a:rPr lang="en-US" smtClean="0"/>
              <a:t>10/10/2026</a:t>
            </a:fld>
            <a:endParaRPr lang="en-US"/>
          </a:p>
        </p:txBody>
      </p:sp>
      <p:sp>
        <p:nvSpPr>
          <p:cNvPr id="5" name="Footer Placeholder 4">
            <a:extLst>
              <a:ext uri="{FF2B5EF4-FFF2-40B4-BE49-F238E27FC236}">
                <a16:creationId xmlns:a16="http://schemas.microsoft.com/office/drawing/2014/main" id="{31971BDC-2B02-E634-FE41-FB6D9B4F79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F2A0EF-0400-D8C4-4A67-F9D709600362}"/>
              </a:ext>
            </a:extLst>
          </p:cNvPr>
          <p:cNvSpPr>
            <a:spLocks noGrp="1"/>
          </p:cNvSpPr>
          <p:nvPr>
            <p:ph type="sldNum" sz="quarter" idx="12"/>
          </p:nvPr>
        </p:nvSpPr>
        <p:spPr/>
        <p:txBody>
          <a:bodyPr/>
          <a:lstStyle/>
          <a:p>
            <a:fld id="{62EDB8F3-ED00-4956-BF5E-E6AA85E727E1}" type="slidenum">
              <a:rPr lang="en-US" smtClean="0"/>
              <a:t>‹#›</a:t>
            </a:fld>
            <a:endParaRPr lang="en-US"/>
          </a:p>
        </p:txBody>
      </p:sp>
    </p:spTree>
    <p:extLst>
      <p:ext uri="{BB962C8B-B14F-4D97-AF65-F5344CB8AC3E}">
        <p14:creationId xmlns:p14="http://schemas.microsoft.com/office/powerpoint/2010/main" val="35154630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854821-B122-11AE-DA91-C04E798DFCB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99B4212-685F-F7B8-8480-77D1192B90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76BA28-57C3-8989-CDC0-AB11CC4C06F6}"/>
              </a:ext>
            </a:extLst>
          </p:cNvPr>
          <p:cNvSpPr>
            <a:spLocks noGrp="1"/>
          </p:cNvSpPr>
          <p:nvPr>
            <p:ph type="dt" sz="half" idx="10"/>
          </p:nvPr>
        </p:nvSpPr>
        <p:spPr/>
        <p:txBody>
          <a:bodyPr/>
          <a:lstStyle/>
          <a:p>
            <a:fld id="{2A6CCB8E-D86C-44D0-9CB3-E1263AF62499}" type="datetimeFigureOut">
              <a:rPr lang="en-US" smtClean="0"/>
              <a:t>10/10/2026</a:t>
            </a:fld>
            <a:endParaRPr lang="en-US"/>
          </a:p>
        </p:txBody>
      </p:sp>
      <p:sp>
        <p:nvSpPr>
          <p:cNvPr id="5" name="Footer Placeholder 4">
            <a:extLst>
              <a:ext uri="{FF2B5EF4-FFF2-40B4-BE49-F238E27FC236}">
                <a16:creationId xmlns:a16="http://schemas.microsoft.com/office/drawing/2014/main" id="{FE00F25E-618C-59F4-21D8-6B23C5BC5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171CAE-DC96-D20C-0B0A-8B9F036DBEB0}"/>
              </a:ext>
            </a:extLst>
          </p:cNvPr>
          <p:cNvSpPr>
            <a:spLocks noGrp="1"/>
          </p:cNvSpPr>
          <p:nvPr>
            <p:ph type="sldNum" sz="quarter" idx="12"/>
          </p:nvPr>
        </p:nvSpPr>
        <p:spPr/>
        <p:txBody>
          <a:bodyPr/>
          <a:lstStyle/>
          <a:p>
            <a:fld id="{62EDB8F3-ED00-4956-BF5E-E6AA85E727E1}" type="slidenum">
              <a:rPr lang="en-US" smtClean="0"/>
              <a:t>‹#›</a:t>
            </a:fld>
            <a:endParaRPr lang="en-US"/>
          </a:p>
        </p:txBody>
      </p:sp>
    </p:spTree>
    <p:extLst>
      <p:ext uri="{BB962C8B-B14F-4D97-AF65-F5344CB8AC3E}">
        <p14:creationId xmlns:p14="http://schemas.microsoft.com/office/powerpoint/2010/main" val="12341276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75F172-458C-E862-79C1-B9FC3E2AC4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54C88F-2CB2-F881-C1E0-9611DB7126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07573D-24E2-2CFE-0EE0-C04C7DED0D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A6CCB8E-D86C-44D0-9CB3-E1263AF62499}" type="datetimeFigureOut">
              <a:rPr lang="en-US" smtClean="0"/>
              <a:t>10/10/2026</a:t>
            </a:fld>
            <a:endParaRPr lang="en-US"/>
          </a:p>
        </p:txBody>
      </p:sp>
      <p:sp>
        <p:nvSpPr>
          <p:cNvPr id="5" name="Footer Placeholder 4">
            <a:extLst>
              <a:ext uri="{FF2B5EF4-FFF2-40B4-BE49-F238E27FC236}">
                <a16:creationId xmlns:a16="http://schemas.microsoft.com/office/drawing/2014/main" id="{10CC99F3-E903-3D01-DF4A-25BA20768B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1CDD836-8055-5580-B870-B79382351E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2EDB8F3-ED00-4956-BF5E-E6AA85E727E1}" type="slidenum">
              <a:rPr lang="en-US" smtClean="0"/>
              <a:t>‹#›</a:t>
            </a:fld>
            <a:endParaRPr lang="en-US"/>
          </a:p>
        </p:txBody>
      </p:sp>
    </p:spTree>
    <p:extLst>
      <p:ext uri="{BB962C8B-B14F-4D97-AF65-F5344CB8AC3E}">
        <p14:creationId xmlns:p14="http://schemas.microsoft.com/office/powerpoint/2010/main" val="31425797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04A32AB-3B0E-AAA4-EF36-AEE37C5AB855}"/>
              </a:ext>
            </a:extLst>
          </p:cNvPr>
          <p:cNvSpPr/>
          <p:nvPr/>
        </p:nvSpPr>
        <p:spPr>
          <a:xfrm>
            <a:off x="508000" y="330200"/>
            <a:ext cx="1638300" cy="304800"/>
          </a:xfrm>
          <a:prstGeom prst="roundRect">
            <a:avLst>
              <a:gd name="adj" fmla="val 10000"/>
            </a:avLst>
          </a:prstGeom>
          <a:solidFill>
            <a:srgbClr val="E6F4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F85C2E6-558B-8961-45A7-42D4A9C5A909}"/>
              </a:ext>
            </a:extLst>
          </p:cNvPr>
          <p:cNvSpPr txBox="1"/>
          <p:nvPr/>
        </p:nvSpPr>
        <p:spPr>
          <a:xfrm>
            <a:off x="635000" y="393700"/>
            <a:ext cx="1409700" cy="276999"/>
          </a:xfrm>
          <a:prstGeom prst="rect">
            <a:avLst/>
          </a:prstGeom>
          <a:noFill/>
        </p:spPr>
        <p:txBody>
          <a:bodyPr vert="horz" wrap="square" lIns="0" tIns="0" rIns="0" bIns="0" rtlCol="0">
            <a:noAutofit/>
          </a:bodyPr>
          <a:lstStyle/>
          <a:p>
            <a:r>
              <a:rPr sz="1000" b="1">
                <a:solidFill>
                  <a:srgbClr val="0F766E"/>
                </a:solidFill>
                <a:latin typeface="Segoe UI"/>
              </a:rPr>
              <a:t>TV1 · KIẾN TRÚC &amp; PHẠM VI</a:t>
            </a:r>
            <a:endParaRPr lang="en-US" sz="1000" b="1">
              <a:solidFill>
                <a:srgbClr val="0F766E"/>
              </a:solidFill>
              <a:latin typeface="Segoe UI" panose="020B0502040204020203" pitchFamily="34" charset="0"/>
            </a:endParaRPr>
          </a:p>
        </p:txBody>
      </p:sp>
      <p:sp>
        <p:nvSpPr>
          <p:cNvPr id="4" name="TextBox 3">
            <a:extLst>
              <a:ext uri="{FF2B5EF4-FFF2-40B4-BE49-F238E27FC236}">
                <a16:creationId xmlns:a16="http://schemas.microsoft.com/office/drawing/2014/main" id="{48FC7F67-994F-4EA3-9D91-AEA58DAA264D}"/>
              </a:ext>
            </a:extLst>
          </p:cNvPr>
          <p:cNvSpPr txBox="1"/>
          <p:nvPr/>
        </p:nvSpPr>
        <p:spPr>
          <a:xfrm>
            <a:off x="508000" y="838200"/>
            <a:ext cx="11176000" cy="276999"/>
          </a:xfrm>
          <a:prstGeom prst="rect">
            <a:avLst/>
          </a:prstGeom>
          <a:noFill/>
        </p:spPr>
        <p:txBody>
          <a:bodyPr vert="horz" wrap="square" lIns="0" tIns="0" rIns="0" bIns="0" rtlCol="0">
            <a:noAutofit/>
          </a:bodyPr>
          <a:lstStyle/>
          <a:p>
            <a:r>
              <a:rPr sz="2800" b="1">
                <a:solidFill>
                  <a:srgbClr val="102136"/>
                </a:solidFill>
                <a:latin typeface="Segoe UI"/>
              </a:rPr>
              <a:t>Quản lý nhân sự và tiền lương</a:t>
            </a:r>
            <a:endParaRPr lang="en-US" sz="2800" b="1">
              <a:solidFill>
                <a:srgbClr val="102136"/>
              </a:solidFill>
              <a:latin typeface="Segoe UI" panose="020B0502040204020203" pitchFamily="34" charset="0"/>
            </a:endParaRPr>
          </a:p>
        </p:txBody>
      </p:sp>
      <p:sp>
        <p:nvSpPr>
          <p:cNvPr id="5" name="TextBox 4">
            <a:extLst>
              <a:ext uri="{FF2B5EF4-FFF2-40B4-BE49-F238E27FC236}">
                <a16:creationId xmlns:a16="http://schemas.microsoft.com/office/drawing/2014/main" id="{8F92AF79-9860-FDDE-BE2C-58596AAEE992}"/>
              </a:ext>
            </a:extLst>
          </p:cNvPr>
          <p:cNvSpPr txBox="1"/>
          <p:nvPr/>
        </p:nvSpPr>
        <p:spPr>
          <a:xfrm>
            <a:off x="508000" y="1409700"/>
            <a:ext cx="11176000" cy="276999"/>
          </a:xfrm>
          <a:prstGeom prst="rect">
            <a:avLst/>
          </a:prstGeom>
          <a:noFill/>
        </p:spPr>
        <p:txBody>
          <a:bodyPr vert="horz" wrap="square" lIns="0" tIns="0" rIns="0" bIns="0" rtlCol="0">
            <a:noAutofit/>
          </a:bodyPr>
          <a:lstStyle/>
          <a:p>
            <a:r>
              <a:rPr sz="1200">
                <a:solidFill>
                  <a:srgbClr val="51647A"/>
                </a:solidFill>
                <a:latin typeface="Segoe UI"/>
              </a:rPr>
              <a:t>Hồ sơ nhân sự · 10 bảng thực thể · kiến trúc phân tầng SQL + Java Swing</a:t>
            </a:r>
            <a:endParaRPr lang="en-US" sz="1200">
              <a:solidFill>
                <a:srgbClr val="51647A"/>
              </a:solidFill>
              <a:latin typeface="Segoe UI" panose="020B0502040204020203" pitchFamily="34" charset="0"/>
            </a:endParaRPr>
          </a:p>
        </p:txBody>
      </p:sp>
      <p:sp>
        <p:nvSpPr>
          <p:cNvPr id="6" name="Rectangle 5">
            <a:extLst>
              <a:ext uri="{FF2B5EF4-FFF2-40B4-BE49-F238E27FC236}">
                <a16:creationId xmlns:a16="http://schemas.microsoft.com/office/drawing/2014/main" id="{7992CE77-65E2-3CA4-2735-351DC2726BFD}"/>
              </a:ext>
            </a:extLst>
          </p:cNvPr>
          <p:cNvSpPr/>
          <p:nvPr/>
        </p:nvSpPr>
        <p:spPr>
          <a:xfrm>
            <a:off x="508000" y="6426200"/>
            <a:ext cx="11176000" cy="12700"/>
          </a:xfrm>
          <a:prstGeom prst="rect">
            <a:avLst/>
          </a:prstGeom>
          <a:solidFill>
            <a:srgbClr val="DDE5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17178F0-5131-70A8-A845-1D7FFD85552F}"/>
              </a:ext>
            </a:extLst>
          </p:cNvPr>
          <p:cNvSpPr txBox="1"/>
          <p:nvPr/>
        </p:nvSpPr>
        <p:spPr>
          <a:xfrm>
            <a:off x="508000" y="6591300"/>
            <a:ext cx="9525000" cy="276999"/>
          </a:xfrm>
          <a:prstGeom prst="rect">
            <a:avLst/>
          </a:prstGeom>
          <a:noFill/>
        </p:spPr>
        <p:txBody>
          <a:bodyPr vert="horz" wrap="square" lIns="0" tIns="0" rIns="0" bIns="0" rtlCol="0">
            <a:noAutofit/>
          </a:bodyPr>
          <a:lstStyle/>
          <a:p>
            <a:r>
              <a:rPr sz="1000">
                <a:solidFill>
                  <a:srgbClr val="51647A"/>
                </a:solidFill>
                <a:latin typeface="Segoe UI"/>
              </a:rPr>
              <a:t>Nguyễn Minh Trí  ·  MSSV 24110359  ·  Nhóm 06</a:t>
            </a:r>
          </a:p>
        </p:txBody>
      </p:sp>
      <p:sp>
        <p:nvSpPr>
          <p:cNvPr id="8" name="TextBox 7">
            <a:extLst>
              <a:ext uri="{FF2B5EF4-FFF2-40B4-BE49-F238E27FC236}">
                <a16:creationId xmlns:a16="http://schemas.microsoft.com/office/drawing/2014/main" id="{F92853B0-87B7-6145-4F79-0E785AEA7B12}"/>
              </a:ext>
            </a:extLst>
          </p:cNvPr>
          <p:cNvSpPr txBox="1"/>
          <p:nvPr/>
        </p:nvSpPr>
        <p:spPr>
          <a:xfrm>
            <a:off x="11163300" y="6540500"/>
            <a:ext cx="520700" cy="276999"/>
          </a:xfrm>
          <a:prstGeom prst="rect">
            <a:avLst/>
          </a:prstGeom>
          <a:noFill/>
        </p:spPr>
        <p:txBody>
          <a:bodyPr vert="horz" wrap="square" lIns="0" tIns="0" rIns="0" bIns="0" rtlCol="0">
            <a:noAutofit/>
          </a:bodyPr>
          <a:lstStyle/>
          <a:p>
            <a:pPr algn="r"/>
            <a:r>
              <a:rPr sz="1300" b="1">
                <a:solidFill>
                  <a:srgbClr val="0F766E"/>
                </a:solidFill>
                <a:latin typeface="Segoe UI"/>
              </a:rPr>
              <a:t>1</a:t>
            </a:r>
          </a:p>
        </p:txBody>
      </p:sp>
      <p:sp>
        <p:nvSpPr>
          <p:cNvPr id="9" name="Rectangle: Rounded Corners 8">
            <a:extLst>
              <a:ext uri="{FF2B5EF4-FFF2-40B4-BE49-F238E27FC236}">
                <a16:creationId xmlns:a16="http://schemas.microsoft.com/office/drawing/2014/main" id="{F8E28DCF-480C-1A04-0AC6-549EBFE19B1B}"/>
              </a:ext>
            </a:extLst>
          </p:cNvPr>
          <p:cNvSpPr/>
          <p:nvPr/>
        </p:nvSpPr>
        <p:spPr>
          <a:xfrm>
            <a:off x="508000" y="1993900"/>
            <a:ext cx="2603500" cy="1320800"/>
          </a:xfrm>
          <a:prstGeom prst="roundRect">
            <a:avLst>
              <a:gd name="adj" fmla="val 10000"/>
            </a:avLst>
          </a:prstGeom>
          <a:solidFill>
            <a:srgbClr val="FFFFF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D432FEB-B8A2-2ACD-58AA-A9FDA458C225}"/>
              </a:ext>
            </a:extLst>
          </p:cNvPr>
          <p:cNvSpPr txBox="1"/>
          <p:nvPr/>
        </p:nvSpPr>
        <p:spPr>
          <a:xfrm>
            <a:off x="698500" y="2159000"/>
            <a:ext cx="2222500" cy="276999"/>
          </a:xfrm>
          <a:prstGeom prst="rect">
            <a:avLst/>
          </a:prstGeom>
          <a:noFill/>
        </p:spPr>
        <p:txBody>
          <a:bodyPr vert="horz" wrap="square" lIns="0" tIns="0" rIns="0" bIns="0" rtlCol="0">
            <a:noAutofit/>
          </a:bodyPr>
          <a:lstStyle/>
          <a:p>
            <a:r>
              <a:rPr sz="1500" b="1">
                <a:solidFill>
                  <a:srgbClr val="102136"/>
                </a:solidFill>
                <a:latin typeface="Segoe UI"/>
              </a:rPr>
              <a:t>HỒ SƠ</a:t>
            </a:r>
            <a:endParaRPr lang="en-US" sz="1500" b="1">
              <a:solidFill>
                <a:srgbClr val="102136"/>
              </a:solidFill>
              <a:latin typeface="Segoe UI" panose="020B0502040204020203" pitchFamily="34" charset="0"/>
            </a:endParaRPr>
          </a:p>
          <a:p>
            <a:r>
              <a:rPr sz="1500" b="1">
                <a:solidFill>
                  <a:srgbClr val="102136"/>
                </a:solidFill>
                <a:latin typeface="Segoe UI"/>
              </a:rPr>
              <a:t>+ TỔ CHỨC</a:t>
            </a:r>
          </a:p>
        </p:txBody>
      </p:sp>
      <p:sp>
        <p:nvSpPr>
          <p:cNvPr id="11" name="TextBox 10">
            <a:extLst>
              <a:ext uri="{FF2B5EF4-FFF2-40B4-BE49-F238E27FC236}">
                <a16:creationId xmlns:a16="http://schemas.microsoft.com/office/drawing/2014/main" id="{29D757CF-64D2-DE07-1E6E-2839E334CE9B}"/>
              </a:ext>
            </a:extLst>
          </p:cNvPr>
          <p:cNvSpPr txBox="1"/>
          <p:nvPr/>
        </p:nvSpPr>
        <p:spPr>
          <a:xfrm>
            <a:off x="698500" y="2844800"/>
            <a:ext cx="2222500" cy="276999"/>
          </a:xfrm>
          <a:prstGeom prst="rect">
            <a:avLst/>
          </a:prstGeom>
          <a:noFill/>
        </p:spPr>
        <p:txBody>
          <a:bodyPr vert="horz" wrap="square" lIns="0" tIns="0" rIns="0" bIns="0" rtlCol="0">
            <a:noAutofit/>
          </a:bodyPr>
          <a:lstStyle/>
          <a:p>
            <a:r>
              <a:rPr sz="1200">
                <a:solidFill>
                  <a:srgbClr val="51647A"/>
                </a:solidFill>
                <a:latin typeface="Segoe UI"/>
              </a:rPr>
              <a:t>Phòng ban, chức vụ,</a:t>
            </a:r>
            <a:endParaRPr lang="en-US" sz="1200">
              <a:solidFill>
                <a:srgbClr val="51647A"/>
              </a:solidFill>
              <a:latin typeface="Segoe UI" panose="020B0502040204020203" pitchFamily="34" charset="0"/>
            </a:endParaRPr>
          </a:p>
          <a:p>
            <a:r>
              <a:rPr sz="1200">
                <a:solidFill>
                  <a:srgbClr val="51647A"/>
                </a:solidFill>
                <a:latin typeface="Segoe UI"/>
              </a:rPr>
              <a:t>nhân viên, tài khoản</a:t>
            </a:r>
          </a:p>
        </p:txBody>
      </p:sp>
      <p:sp>
        <p:nvSpPr>
          <p:cNvPr id="12" name="Rectangle: Rounded Corners 11">
            <a:extLst>
              <a:ext uri="{FF2B5EF4-FFF2-40B4-BE49-F238E27FC236}">
                <a16:creationId xmlns:a16="http://schemas.microsoft.com/office/drawing/2014/main" id="{E5D16D11-30F7-8734-ADD3-790C9E0FAE6B}"/>
              </a:ext>
            </a:extLst>
          </p:cNvPr>
          <p:cNvSpPr/>
          <p:nvPr/>
        </p:nvSpPr>
        <p:spPr>
          <a:xfrm>
            <a:off x="3365500" y="1993900"/>
            <a:ext cx="2603500" cy="1320800"/>
          </a:xfrm>
          <a:prstGeom prst="roundRect">
            <a:avLst>
              <a:gd name="adj" fmla="val 10000"/>
            </a:avLst>
          </a:prstGeom>
          <a:solidFill>
            <a:srgbClr val="FFFFF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055EC4D-DF3E-CD54-3447-92BCEEA70C3B}"/>
              </a:ext>
            </a:extLst>
          </p:cNvPr>
          <p:cNvSpPr txBox="1"/>
          <p:nvPr/>
        </p:nvSpPr>
        <p:spPr>
          <a:xfrm>
            <a:off x="3556000" y="2159000"/>
            <a:ext cx="2222500" cy="276999"/>
          </a:xfrm>
          <a:prstGeom prst="rect">
            <a:avLst/>
          </a:prstGeom>
          <a:noFill/>
        </p:spPr>
        <p:txBody>
          <a:bodyPr vert="horz" wrap="square" lIns="0" tIns="0" rIns="0" bIns="0" rtlCol="0">
            <a:noAutofit/>
          </a:bodyPr>
          <a:lstStyle/>
          <a:p>
            <a:r>
              <a:rPr sz="1500" b="1">
                <a:solidFill>
                  <a:srgbClr val="102136"/>
                </a:solidFill>
                <a:latin typeface="Segoe UI"/>
              </a:rPr>
              <a:t>CHẤM CÔNG</a:t>
            </a:r>
          </a:p>
        </p:txBody>
      </p:sp>
      <p:sp>
        <p:nvSpPr>
          <p:cNvPr id="14" name="TextBox 13">
            <a:extLst>
              <a:ext uri="{FF2B5EF4-FFF2-40B4-BE49-F238E27FC236}">
                <a16:creationId xmlns:a16="http://schemas.microsoft.com/office/drawing/2014/main" id="{640A3DE6-DE26-8FB5-C89F-A9AD67CE25A8}"/>
              </a:ext>
            </a:extLst>
          </p:cNvPr>
          <p:cNvSpPr txBox="1"/>
          <p:nvPr/>
        </p:nvSpPr>
        <p:spPr>
          <a:xfrm>
            <a:off x="3556000" y="2844800"/>
            <a:ext cx="2222500" cy="276999"/>
          </a:xfrm>
          <a:prstGeom prst="rect">
            <a:avLst/>
          </a:prstGeom>
          <a:noFill/>
        </p:spPr>
        <p:txBody>
          <a:bodyPr vert="horz" wrap="square" lIns="0" tIns="0" rIns="0" bIns="0" rtlCol="0">
            <a:noAutofit/>
          </a:bodyPr>
          <a:lstStyle/>
          <a:p>
            <a:r>
              <a:rPr sz="1200">
                <a:solidFill>
                  <a:srgbClr val="51647A"/>
                </a:solidFill>
                <a:latin typeface="Segoe UI"/>
              </a:rPr>
              <a:t>Điểm danh theo ngày,</a:t>
            </a:r>
          </a:p>
          <a:p>
            <a:r>
              <a:rPr sz="1200">
                <a:solidFill>
                  <a:srgbClr val="51647A"/>
                </a:solidFill>
                <a:latin typeface="Segoe UI"/>
              </a:rPr>
              <a:t>đếm ngày công hợp lệ</a:t>
            </a:r>
          </a:p>
        </p:txBody>
      </p:sp>
      <p:sp>
        <p:nvSpPr>
          <p:cNvPr id="15" name="Rectangle: Rounded Corners 14">
            <a:extLst>
              <a:ext uri="{FF2B5EF4-FFF2-40B4-BE49-F238E27FC236}">
                <a16:creationId xmlns:a16="http://schemas.microsoft.com/office/drawing/2014/main" id="{80741E08-E2EC-99DD-B8FC-8FF6D0B42E3E}"/>
              </a:ext>
            </a:extLst>
          </p:cNvPr>
          <p:cNvSpPr/>
          <p:nvPr/>
        </p:nvSpPr>
        <p:spPr>
          <a:xfrm>
            <a:off x="6223000" y="1993900"/>
            <a:ext cx="2603500" cy="1320800"/>
          </a:xfrm>
          <a:prstGeom prst="roundRect">
            <a:avLst>
              <a:gd name="adj" fmla="val 10000"/>
            </a:avLst>
          </a:prstGeom>
          <a:solidFill>
            <a:srgbClr val="FFFFF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BAE53734-1029-A4BB-3578-3E8FFEE5AD6C}"/>
              </a:ext>
            </a:extLst>
          </p:cNvPr>
          <p:cNvSpPr txBox="1"/>
          <p:nvPr/>
        </p:nvSpPr>
        <p:spPr>
          <a:xfrm>
            <a:off x="6413500" y="2159000"/>
            <a:ext cx="2222500" cy="276999"/>
          </a:xfrm>
          <a:prstGeom prst="rect">
            <a:avLst/>
          </a:prstGeom>
          <a:noFill/>
        </p:spPr>
        <p:txBody>
          <a:bodyPr vert="horz" wrap="square" lIns="0" tIns="0" rIns="0" bIns="0" rtlCol="0">
            <a:noAutofit/>
          </a:bodyPr>
          <a:lstStyle/>
          <a:p>
            <a:r>
              <a:rPr sz="1500" b="1">
                <a:solidFill>
                  <a:srgbClr val="102136"/>
                </a:solidFill>
                <a:latin typeface="Segoe UI"/>
              </a:rPr>
              <a:t>PHỤ CẤP</a:t>
            </a:r>
          </a:p>
          <a:p>
            <a:r>
              <a:rPr sz="1500" b="1">
                <a:solidFill>
                  <a:srgbClr val="102136"/>
                </a:solidFill>
                <a:latin typeface="Segoe UI"/>
              </a:rPr>
              <a:t>− KHẤU TRỪ</a:t>
            </a:r>
          </a:p>
        </p:txBody>
      </p:sp>
      <p:sp>
        <p:nvSpPr>
          <p:cNvPr id="17" name="TextBox 16">
            <a:extLst>
              <a:ext uri="{FF2B5EF4-FFF2-40B4-BE49-F238E27FC236}">
                <a16:creationId xmlns:a16="http://schemas.microsoft.com/office/drawing/2014/main" id="{2E9944A0-18A7-3089-4077-F16F6EFA94A2}"/>
              </a:ext>
            </a:extLst>
          </p:cNvPr>
          <p:cNvSpPr txBox="1"/>
          <p:nvPr/>
        </p:nvSpPr>
        <p:spPr>
          <a:xfrm>
            <a:off x="6413500" y="2844800"/>
            <a:ext cx="2222500" cy="276999"/>
          </a:xfrm>
          <a:prstGeom prst="rect">
            <a:avLst/>
          </a:prstGeom>
          <a:noFill/>
        </p:spPr>
        <p:txBody>
          <a:bodyPr vert="horz" wrap="square" lIns="0" tIns="0" rIns="0" bIns="0" rtlCol="0">
            <a:noAutofit/>
          </a:bodyPr>
          <a:lstStyle/>
          <a:p>
            <a:r>
              <a:rPr sz="1200">
                <a:solidFill>
                  <a:srgbClr val="51647A"/>
                </a:solidFill>
                <a:latin typeface="Segoe UI"/>
              </a:rPr>
              <a:t>Tổng khoản theo kỳ</a:t>
            </a:r>
          </a:p>
        </p:txBody>
      </p:sp>
      <p:sp>
        <p:nvSpPr>
          <p:cNvPr id="18" name="Rectangle: Rounded Corners 17">
            <a:extLst>
              <a:ext uri="{FF2B5EF4-FFF2-40B4-BE49-F238E27FC236}">
                <a16:creationId xmlns:a16="http://schemas.microsoft.com/office/drawing/2014/main" id="{CC54B366-B6B1-D7CC-7D98-3EFE662A327C}"/>
              </a:ext>
            </a:extLst>
          </p:cNvPr>
          <p:cNvSpPr/>
          <p:nvPr/>
        </p:nvSpPr>
        <p:spPr>
          <a:xfrm>
            <a:off x="9080500" y="1993900"/>
            <a:ext cx="2603500" cy="1320800"/>
          </a:xfrm>
          <a:prstGeom prst="roundRect">
            <a:avLst>
              <a:gd name="adj" fmla="val 10000"/>
            </a:avLst>
          </a:prstGeom>
          <a:solidFill>
            <a:srgbClr val="E6F4E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D1E3F62-BA0F-15E2-6904-C752B98AE5B3}"/>
              </a:ext>
            </a:extLst>
          </p:cNvPr>
          <p:cNvSpPr txBox="1"/>
          <p:nvPr/>
        </p:nvSpPr>
        <p:spPr>
          <a:xfrm>
            <a:off x="9271000" y="2159000"/>
            <a:ext cx="2222500" cy="276999"/>
          </a:xfrm>
          <a:prstGeom prst="rect">
            <a:avLst/>
          </a:prstGeom>
          <a:noFill/>
        </p:spPr>
        <p:txBody>
          <a:bodyPr vert="horz" wrap="square" lIns="0" tIns="0" rIns="0" bIns="0" rtlCol="0">
            <a:noAutofit/>
          </a:bodyPr>
          <a:lstStyle/>
          <a:p>
            <a:r>
              <a:rPr sz="1500" b="1">
                <a:solidFill>
                  <a:srgbClr val="102136"/>
                </a:solidFill>
                <a:latin typeface="Segoe UI"/>
              </a:rPr>
              <a:t>BẢNG LƯƠNG</a:t>
            </a:r>
            <a:endParaRPr lang="en-US" sz="1500" b="1">
              <a:solidFill>
                <a:srgbClr val="102136"/>
              </a:solidFill>
              <a:latin typeface="Segoe UI" panose="020B0502040204020203" pitchFamily="34" charset="0"/>
            </a:endParaRPr>
          </a:p>
          <a:p>
            <a:r>
              <a:rPr sz="1500" b="1">
                <a:solidFill>
                  <a:srgbClr val="102136"/>
                </a:solidFill>
                <a:latin typeface="Segoe UI"/>
              </a:rPr>
              <a:t>+ CHI TIẾT</a:t>
            </a:r>
          </a:p>
        </p:txBody>
      </p:sp>
      <p:sp>
        <p:nvSpPr>
          <p:cNvPr id="20" name="TextBox 19">
            <a:extLst>
              <a:ext uri="{FF2B5EF4-FFF2-40B4-BE49-F238E27FC236}">
                <a16:creationId xmlns:a16="http://schemas.microsoft.com/office/drawing/2014/main" id="{DBBBE9B3-204F-0B09-DBB0-08B7A9011BF4}"/>
              </a:ext>
            </a:extLst>
          </p:cNvPr>
          <p:cNvSpPr txBox="1"/>
          <p:nvPr/>
        </p:nvSpPr>
        <p:spPr>
          <a:xfrm>
            <a:off x="9271000" y="2844800"/>
            <a:ext cx="2222500" cy="276999"/>
          </a:xfrm>
          <a:prstGeom prst="rect">
            <a:avLst/>
          </a:prstGeom>
          <a:noFill/>
        </p:spPr>
        <p:txBody>
          <a:bodyPr vert="horz" wrap="square" lIns="0" tIns="0" rIns="0" bIns="0" rtlCol="0">
            <a:noAutofit/>
          </a:bodyPr>
          <a:lstStyle/>
          <a:p>
            <a:r>
              <a:rPr sz="1200">
                <a:solidFill>
                  <a:srgbClr val="51647A"/>
                </a:solidFill>
                <a:latin typeface="Segoe UI"/>
              </a:rPr>
              <a:t>Một kỳ / một dòng mỗi NV</a:t>
            </a:r>
          </a:p>
        </p:txBody>
      </p:sp>
      <p:cxnSp>
        <p:nvCxnSpPr>
          <p:cNvPr id="21" name="Straight Connector 20">
            <a:extLst>
              <a:ext uri="{FF2B5EF4-FFF2-40B4-BE49-F238E27FC236}">
                <a16:creationId xmlns:a16="http://schemas.microsoft.com/office/drawing/2014/main" id="{E20E5C7F-2DDB-918F-75F7-FDE06D2465CB}"/>
              </a:ext>
            </a:extLst>
          </p:cNvPr>
          <p:cNvCxnSpPr/>
          <p:nvPr/>
        </p:nvCxnSpPr>
        <p:spPr>
          <a:xfrm>
            <a:off x="3162300" y="2654300"/>
            <a:ext cx="152400" cy="0"/>
          </a:xfrm>
          <a:prstGeom prst="line">
            <a:avLst/>
          </a:prstGeom>
          <a:ln w="21590">
            <a:solidFill>
              <a:srgbClr val="51647A"/>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90BF1B9D-6316-21EB-A61E-3ECFA775F322}"/>
              </a:ext>
            </a:extLst>
          </p:cNvPr>
          <p:cNvCxnSpPr/>
          <p:nvPr/>
        </p:nvCxnSpPr>
        <p:spPr>
          <a:xfrm>
            <a:off x="6019800" y="2654300"/>
            <a:ext cx="152400" cy="0"/>
          </a:xfrm>
          <a:prstGeom prst="line">
            <a:avLst/>
          </a:prstGeom>
          <a:ln w="21590">
            <a:solidFill>
              <a:srgbClr val="51647A"/>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24631C9F-00CF-7844-330B-1A4CD9615FC2}"/>
              </a:ext>
            </a:extLst>
          </p:cNvPr>
          <p:cNvCxnSpPr/>
          <p:nvPr/>
        </p:nvCxnSpPr>
        <p:spPr>
          <a:xfrm>
            <a:off x="8877300" y="2654300"/>
            <a:ext cx="152400" cy="0"/>
          </a:xfrm>
          <a:prstGeom prst="line">
            <a:avLst/>
          </a:prstGeom>
          <a:ln w="21590">
            <a:solidFill>
              <a:srgbClr val="51647A"/>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D2085AF2-6D6E-D8A9-625E-6C46FD3E979B}"/>
              </a:ext>
            </a:extLst>
          </p:cNvPr>
          <p:cNvSpPr/>
          <p:nvPr/>
        </p:nvSpPr>
        <p:spPr>
          <a:xfrm>
            <a:off x="508000" y="3543300"/>
            <a:ext cx="11176000" cy="1054100"/>
          </a:xfrm>
          <a:prstGeom prst="roundRect">
            <a:avLst>
              <a:gd name="adj" fmla="val 10000"/>
            </a:avLst>
          </a:prstGeom>
          <a:solidFill>
            <a:srgbClr val="FFFFF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AC6B874-4AE5-F800-F5A1-3098EA1EF32F}"/>
              </a:ext>
            </a:extLst>
          </p:cNvPr>
          <p:cNvSpPr txBox="1"/>
          <p:nvPr/>
        </p:nvSpPr>
        <p:spPr>
          <a:xfrm>
            <a:off x="762000" y="3721100"/>
            <a:ext cx="10668000" cy="276999"/>
          </a:xfrm>
          <a:prstGeom prst="rect">
            <a:avLst/>
          </a:prstGeom>
          <a:noFill/>
        </p:spPr>
        <p:txBody>
          <a:bodyPr vert="horz" wrap="square" lIns="0" tIns="0" rIns="0" bIns="0" rtlCol="0">
            <a:noAutofit/>
          </a:bodyPr>
          <a:lstStyle/>
          <a:p>
            <a:r>
              <a:rPr sz="1900" b="1">
                <a:solidFill>
                  <a:srgbClr val="102136"/>
                </a:solidFill>
                <a:latin typeface="Segoe UI"/>
              </a:rPr>
              <a:t>Ràng buộc toàn vẹn: NgaySinh &lt;= DATEADD(YEAR,-18,NgayVaoLam) · CCCD 12 số · Lương &gt; 0</a:t>
            </a:r>
            <a:endParaRPr lang="en-US" sz="1900" b="1">
              <a:solidFill>
                <a:srgbClr val="102136"/>
              </a:solidFill>
              <a:latin typeface="Segoe UI" panose="020B0502040204020203" pitchFamily="34" charset="0"/>
            </a:endParaRPr>
          </a:p>
        </p:txBody>
      </p:sp>
      <p:sp>
        <p:nvSpPr>
          <p:cNvPr id="26" name="TextBox 25">
            <a:extLst>
              <a:ext uri="{FF2B5EF4-FFF2-40B4-BE49-F238E27FC236}">
                <a16:creationId xmlns:a16="http://schemas.microsoft.com/office/drawing/2014/main" id="{96FA22CC-6465-FFFE-C9F3-F12DE5F8B997}"/>
              </a:ext>
            </a:extLst>
          </p:cNvPr>
          <p:cNvSpPr txBox="1"/>
          <p:nvPr/>
        </p:nvSpPr>
        <p:spPr>
          <a:xfrm>
            <a:off x="762000" y="4165600"/>
            <a:ext cx="10668000" cy="276999"/>
          </a:xfrm>
          <a:prstGeom prst="rect">
            <a:avLst/>
          </a:prstGeom>
          <a:noFill/>
        </p:spPr>
        <p:txBody>
          <a:bodyPr vert="horz" wrap="square" lIns="0" tIns="0" rIns="0" bIns="0" rtlCol="0">
            <a:noAutofit/>
          </a:bodyPr>
          <a:lstStyle/>
          <a:p>
            <a:r>
              <a:rPr sz="1700" b="1">
                <a:solidFill>
                  <a:srgbClr val="0F766E"/>
                </a:solidFill>
                <a:latin typeface="Segoe UI"/>
              </a:rPr>
              <a:t>Phân quyền RBAC: DB_Admin · HR_Manager · Payroll_Officer · Employee</a:t>
            </a:r>
          </a:p>
        </p:txBody>
      </p:sp>
      <p:sp>
        <p:nvSpPr>
          <p:cNvPr id="27" name="Rectangle: Rounded Corners 26">
            <a:extLst>
              <a:ext uri="{FF2B5EF4-FFF2-40B4-BE49-F238E27FC236}">
                <a16:creationId xmlns:a16="http://schemas.microsoft.com/office/drawing/2014/main" id="{4605AACB-7BF0-67ED-0A54-34758EF79EA8}"/>
              </a:ext>
            </a:extLst>
          </p:cNvPr>
          <p:cNvSpPr/>
          <p:nvPr/>
        </p:nvSpPr>
        <p:spPr>
          <a:xfrm>
            <a:off x="508000" y="4838700"/>
            <a:ext cx="11176000" cy="1282700"/>
          </a:xfrm>
          <a:prstGeom prst="roundRect">
            <a:avLst>
              <a:gd name="adj" fmla="val 10000"/>
            </a:avLst>
          </a:prstGeom>
          <a:solidFill>
            <a:srgbClr val="EDF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D079309E-57E0-838E-6E1B-03E01BC09AF7}"/>
              </a:ext>
            </a:extLst>
          </p:cNvPr>
          <p:cNvSpPr txBox="1"/>
          <p:nvPr/>
        </p:nvSpPr>
        <p:spPr>
          <a:xfrm>
            <a:off x="749300" y="5003800"/>
            <a:ext cx="8890000" cy="276999"/>
          </a:xfrm>
          <a:prstGeom prst="rect">
            <a:avLst/>
          </a:prstGeom>
          <a:noFill/>
        </p:spPr>
        <p:txBody>
          <a:bodyPr vert="horz" wrap="square" lIns="0" tIns="0" rIns="0" bIns="0" rtlCol="0">
            <a:noAutofit/>
          </a:bodyPr>
          <a:lstStyle/>
          <a:p>
            <a:r>
              <a:rPr sz="1100" b="1">
                <a:solidFill>
                  <a:srgbClr val="2563EB"/>
                </a:solidFill>
                <a:latin typeface="Segoe UI"/>
              </a:rPr>
              <a:t>KIẾN TRÚC VẬN HÀNH · SQL Server 2025 + Java Swing Desktop · Kỳ 10/2026</a:t>
            </a:r>
          </a:p>
        </p:txBody>
      </p:sp>
      <p:sp>
        <p:nvSpPr>
          <p:cNvPr id="29" name="TextBox 28">
            <a:extLst>
              <a:ext uri="{FF2B5EF4-FFF2-40B4-BE49-F238E27FC236}">
                <a16:creationId xmlns:a16="http://schemas.microsoft.com/office/drawing/2014/main" id="{CCA52332-50C6-1CD3-72C8-CF3CB37A50C1}"/>
              </a:ext>
            </a:extLst>
          </p:cNvPr>
          <p:cNvSpPr txBox="1"/>
          <p:nvPr/>
        </p:nvSpPr>
        <p:spPr>
          <a:xfrm>
            <a:off x="749300" y="5372100"/>
            <a:ext cx="7747000" cy="276999"/>
          </a:xfrm>
          <a:prstGeom prst="rect">
            <a:avLst/>
          </a:prstGeom>
          <a:noFill/>
        </p:spPr>
        <p:txBody>
          <a:bodyPr vert="horz" wrap="square" lIns="0" tIns="0" rIns="0" bIns="0" rtlCol="0">
            <a:noAutofit/>
          </a:bodyPr>
          <a:lstStyle/>
          <a:p>
            <a:r>
              <a:rPr>
                <a:solidFill>
                  <a:srgbClr val="102136"/>
                </a:solidFill>
                <a:latin typeface="Segoe UI"/>
              </a:rPr>
              <a:t>10 BẢNG 3NF: PHONGBAN, CHUCVU, NHANVIEN, LICHSULUONG, TAIKHOAN, CHAMCONG...</a:t>
            </a:r>
            <a:endParaRPr lang="en-US">
              <a:solidFill>
                <a:srgbClr val="102136"/>
              </a:solidFill>
              <a:latin typeface="Segoe UI" panose="020B0502040204020203" pitchFamily="34" charset="0"/>
            </a:endParaRPr>
          </a:p>
        </p:txBody>
      </p:sp>
      <p:sp>
        <p:nvSpPr>
          <p:cNvPr id="30" name="TextBox 29">
            <a:extLst>
              <a:ext uri="{FF2B5EF4-FFF2-40B4-BE49-F238E27FC236}">
                <a16:creationId xmlns:a16="http://schemas.microsoft.com/office/drawing/2014/main" id="{E802E676-6FFB-E308-2BFC-43D928903404}"/>
              </a:ext>
            </a:extLst>
          </p:cNvPr>
          <p:cNvSpPr txBox="1"/>
          <p:nvPr/>
        </p:nvSpPr>
        <p:spPr>
          <a:xfrm>
            <a:off x="8940800" y="5321300"/>
            <a:ext cx="2438400" cy="276999"/>
          </a:xfrm>
          <a:prstGeom prst="rect">
            <a:avLst/>
          </a:prstGeom>
          <a:noFill/>
        </p:spPr>
        <p:txBody>
          <a:bodyPr vert="horz" wrap="square" lIns="0" tIns="0" rIns="0" bIns="0" rtlCol="0">
            <a:noAutofit/>
          </a:bodyPr>
          <a:lstStyle/>
          <a:p>
            <a:pPr algn="r"/>
            <a:r>
              <a:rPr sz="2500" b="1">
                <a:solidFill>
                  <a:srgbClr val="0F766E"/>
                </a:solidFill>
                <a:latin typeface="Segoe UI"/>
              </a:rPr>
              <a:t>10 BẢNG</a:t>
            </a:r>
          </a:p>
        </p:txBody>
      </p:sp>
      <p:sp>
        <p:nvSpPr>
          <p:cNvPr id="31" name="TextBox 30">
            <a:extLst>
              <a:ext uri="{FF2B5EF4-FFF2-40B4-BE49-F238E27FC236}">
                <a16:creationId xmlns:a16="http://schemas.microsoft.com/office/drawing/2014/main" id="{C303178F-AC6C-1821-1541-E334AA00E345}"/>
              </a:ext>
            </a:extLst>
          </p:cNvPr>
          <p:cNvSpPr txBox="1"/>
          <p:nvPr/>
        </p:nvSpPr>
        <p:spPr>
          <a:xfrm>
            <a:off x="749300" y="5816600"/>
            <a:ext cx="10642600" cy="276999"/>
          </a:xfrm>
          <a:prstGeom prst="rect">
            <a:avLst/>
          </a:prstGeom>
          <a:noFill/>
        </p:spPr>
        <p:txBody>
          <a:bodyPr vert="horz" wrap="square" lIns="0" tIns="0" rIns="0" bIns="0" rtlCol="0">
            <a:noAutofit/>
          </a:bodyPr>
          <a:lstStyle/>
          <a:p>
            <a:r>
              <a:rPr sz="1000">
                <a:solidFill>
                  <a:srgbClr val="51647A"/>
                </a:solidFill>
                <a:latin typeface="Segoe UI"/>
              </a:rPr>
              <a:t>Hệ thống phân tầng: UI Swing gọi Service → DAO (PreparedStatement/CallableStatement) → SQL Server. Demo chuẩn kỳ 10/2026.</a:t>
            </a:r>
            <a:endParaRPr lang="en-US" sz="1000">
              <a:solidFill>
                <a:srgbClr val="51647A"/>
              </a:solidFill>
              <a:latin typeface="Segoe UI" panose="020B0502040204020203" pitchFamily="34" charset="0"/>
            </a:endParaRPr>
          </a:p>
        </p:txBody>
      </p:sp>
    </p:spTree>
    <p:extLst>
      <p:ext uri="{BB962C8B-B14F-4D97-AF65-F5344CB8AC3E}">
        <p14:creationId xmlns:p14="http://schemas.microsoft.com/office/powerpoint/2010/main" val="204857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014AFD9-011C-466B-6583-31757E8647C3}"/>
              </a:ext>
            </a:extLst>
          </p:cNvPr>
          <p:cNvSpPr/>
          <p:nvPr/>
        </p:nvSpPr>
        <p:spPr>
          <a:xfrm>
            <a:off x="508000" y="330200"/>
            <a:ext cx="1638300" cy="304800"/>
          </a:xfrm>
          <a:prstGeom prst="roundRect">
            <a:avLst>
              <a:gd name="adj" fmla="val 10000"/>
            </a:avLst>
          </a:prstGeom>
          <a:solidFill>
            <a:srgbClr val="E6F4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BA300A8-4AC6-879D-039E-7D14197A78F1}"/>
              </a:ext>
            </a:extLst>
          </p:cNvPr>
          <p:cNvSpPr txBox="1"/>
          <p:nvPr/>
        </p:nvSpPr>
        <p:spPr>
          <a:xfrm>
            <a:off x="635000" y="393700"/>
            <a:ext cx="1409700" cy="276999"/>
          </a:xfrm>
          <a:prstGeom prst="rect">
            <a:avLst/>
          </a:prstGeom>
          <a:noFill/>
        </p:spPr>
        <p:txBody>
          <a:bodyPr vert="horz" wrap="square" lIns="0" tIns="0" rIns="0" bIns="0" rtlCol="0">
            <a:noAutofit/>
          </a:bodyPr>
          <a:lstStyle/>
          <a:p>
            <a:r>
              <a:rPr sz="1000" b="1">
                <a:solidFill>
                  <a:srgbClr val="0F766E"/>
                </a:solidFill>
                <a:latin typeface="Segoe UI"/>
              </a:rPr>
              <a:t>TV1 · THIẾT KẾ CSDL &amp; 3NF</a:t>
            </a:r>
            <a:endParaRPr lang="en-US" sz="1000" b="1">
              <a:solidFill>
                <a:srgbClr val="0F766E"/>
              </a:solidFill>
              <a:latin typeface="Segoe UI" panose="020B0502040204020203" pitchFamily="34" charset="0"/>
            </a:endParaRPr>
          </a:p>
        </p:txBody>
      </p:sp>
      <p:sp>
        <p:nvSpPr>
          <p:cNvPr id="4" name="TextBox 3">
            <a:extLst>
              <a:ext uri="{FF2B5EF4-FFF2-40B4-BE49-F238E27FC236}">
                <a16:creationId xmlns:a16="http://schemas.microsoft.com/office/drawing/2014/main" id="{7B43C3A8-D092-0A2A-8A0E-15F2C45F3BC4}"/>
              </a:ext>
            </a:extLst>
          </p:cNvPr>
          <p:cNvSpPr txBox="1"/>
          <p:nvPr/>
        </p:nvSpPr>
        <p:spPr>
          <a:xfrm>
            <a:off x="508000" y="838200"/>
            <a:ext cx="11176000" cy="276999"/>
          </a:xfrm>
          <a:prstGeom prst="rect">
            <a:avLst/>
          </a:prstGeom>
          <a:noFill/>
        </p:spPr>
        <p:txBody>
          <a:bodyPr vert="horz" wrap="square" lIns="0" tIns="0" rIns="0" bIns="0" rtlCol="0">
            <a:noAutofit/>
          </a:bodyPr>
          <a:lstStyle/>
          <a:p>
            <a:r>
              <a:rPr sz="2800" b="1">
                <a:solidFill>
                  <a:srgbClr val="102136"/>
                </a:solidFill>
                <a:latin typeface="Segoe UI"/>
              </a:rPr>
              <a:t>Mô hình dữ liệu và snapshot lương</a:t>
            </a:r>
          </a:p>
        </p:txBody>
      </p:sp>
      <p:sp>
        <p:nvSpPr>
          <p:cNvPr id="5" name="TextBox 4">
            <a:extLst>
              <a:ext uri="{FF2B5EF4-FFF2-40B4-BE49-F238E27FC236}">
                <a16:creationId xmlns:a16="http://schemas.microsoft.com/office/drawing/2014/main" id="{95F7CDC4-61EC-9325-3BFC-DD298072E6D7}"/>
              </a:ext>
            </a:extLst>
          </p:cNvPr>
          <p:cNvSpPr txBox="1"/>
          <p:nvPr/>
        </p:nvSpPr>
        <p:spPr>
          <a:xfrm>
            <a:off x="508000" y="1409700"/>
            <a:ext cx="11176000" cy="276999"/>
          </a:xfrm>
          <a:prstGeom prst="rect">
            <a:avLst/>
          </a:prstGeom>
          <a:noFill/>
        </p:spPr>
        <p:txBody>
          <a:bodyPr vert="horz" wrap="square" lIns="0" tIns="0" rIns="0" bIns="0" rtlCol="0">
            <a:noAutofit/>
          </a:bodyPr>
          <a:lstStyle/>
          <a:p>
            <a:r>
              <a:rPr sz="1200">
                <a:solidFill>
                  <a:srgbClr val="51647A"/>
                </a:solidFill>
                <a:latin typeface="Segoe UI"/>
              </a:rPr>
              <a:t>Sơ đồ ERD 10 bảng · chứng minh chuẩn 3NF · bảo toàn mức lương lịch sử</a:t>
            </a:r>
          </a:p>
        </p:txBody>
      </p:sp>
      <p:sp>
        <p:nvSpPr>
          <p:cNvPr id="6" name="Rectangle 5">
            <a:extLst>
              <a:ext uri="{FF2B5EF4-FFF2-40B4-BE49-F238E27FC236}">
                <a16:creationId xmlns:a16="http://schemas.microsoft.com/office/drawing/2014/main" id="{09B2E20B-936B-4C2A-51EB-C4D4A301E334}"/>
              </a:ext>
            </a:extLst>
          </p:cNvPr>
          <p:cNvSpPr/>
          <p:nvPr/>
        </p:nvSpPr>
        <p:spPr>
          <a:xfrm>
            <a:off x="508000" y="6426200"/>
            <a:ext cx="11176000" cy="12700"/>
          </a:xfrm>
          <a:prstGeom prst="rect">
            <a:avLst/>
          </a:prstGeom>
          <a:solidFill>
            <a:srgbClr val="DDE5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BC147CF-085A-5C51-4AAA-8784229192A1}"/>
              </a:ext>
            </a:extLst>
          </p:cNvPr>
          <p:cNvSpPr txBox="1"/>
          <p:nvPr/>
        </p:nvSpPr>
        <p:spPr>
          <a:xfrm>
            <a:off x="508000" y="6591300"/>
            <a:ext cx="9525000" cy="276999"/>
          </a:xfrm>
          <a:prstGeom prst="rect">
            <a:avLst/>
          </a:prstGeom>
          <a:noFill/>
        </p:spPr>
        <p:txBody>
          <a:bodyPr vert="horz" wrap="square" lIns="0" tIns="0" rIns="0" bIns="0" rtlCol="0">
            <a:noAutofit/>
          </a:bodyPr>
          <a:lstStyle/>
          <a:p>
            <a:r>
              <a:rPr sz="1000">
                <a:solidFill>
                  <a:srgbClr val="51647A"/>
                </a:solidFill>
                <a:latin typeface="Segoe UI"/>
              </a:rPr>
              <a:t>Nguyễn Minh Trí  ·  MSSV 24110359  ·  Nhóm 06</a:t>
            </a:r>
          </a:p>
        </p:txBody>
      </p:sp>
      <p:sp>
        <p:nvSpPr>
          <p:cNvPr id="8" name="TextBox 7">
            <a:extLst>
              <a:ext uri="{FF2B5EF4-FFF2-40B4-BE49-F238E27FC236}">
                <a16:creationId xmlns:a16="http://schemas.microsoft.com/office/drawing/2014/main" id="{6A9BD3F7-B3EB-7C19-BECE-D1F2C1831F1C}"/>
              </a:ext>
            </a:extLst>
          </p:cNvPr>
          <p:cNvSpPr txBox="1"/>
          <p:nvPr/>
        </p:nvSpPr>
        <p:spPr>
          <a:xfrm>
            <a:off x="11163300" y="6540500"/>
            <a:ext cx="520700" cy="276999"/>
          </a:xfrm>
          <a:prstGeom prst="rect">
            <a:avLst/>
          </a:prstGeom>
          <a:noFill/>
        </p:spPr>
        <p:txBody>
          <a:bodyPr vert="horz" wrap="square" lIns="0" tIns="0" rIns="0" bIns="0" rtlCol="0">
            <a:noAutofit/>
          </a:bodyPr>
          <a:lstStyle/>
          <a:p>
            <a:pPr algn="r"/>
            <a:r>
              <a:rPr sz="1300" b="1">
                <a:solidFill>
                  <a:srgbClr val="0F766E"/>
                </a:solidFill>
                <a:latin typeface="Segoe UI"/>
              </a:rPr>
              <a:t>2</a:t>
            </a:r>
          </a:p>
        </p:txBody>
      </p:sp>
      <p:sp>
        <p:nvSpPr>
          <p:cNvPr id="9" name="Rectangle: Rounded Corners 8">
            <a:extLst>
              <a:ext uri="{FF2B5EF4-FFF2-40B4-BE49-F238E27FC236}">
                <a16:creationId xmlns:a16="http://schemas.microsoft.com/office/drawing/2014/main" id="{EE9A12E7-D25E-C789-FAC5-755E468EF053}"/>
              </a:ext>
            </a:extLst>
          </p:cNvPr>
          <p:cNvSpPr/>
          <p:nvPr/>
        </p:nvSpPr>
        <p:spPr>
          <a:xfrm>
            <a:off x="508000" y="2057400"/>
            <a:ext cx="2082800" cy="1168400"/>
          </a:xfrm>
          <a:prstGeom prst="roundRect">
            <a:avLst>
              <a:gd name="adj" fmla="val 10000"/>
            </a:avLst>
          </a:prstGeom>
          <a:solidFill>
            <a:srgbClr val="FFFFF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F6F85AF-572A-F52C-05D6-7A48DF69A66D}"/>
              </a:ext>
            </a:extLst>
          </p:cNvPr>
          <p:cNvSpPr txBox="1"/>
          <p:nvPr/>
        </p:nvSpPr>
        <p:spPr>
          <a:xfrm>
            <a:off x="685800" y="2184400"/>
            <a:ext cx="304800" cy="276999"/>
          </a:xfrm>
          <a:prstGeom prst="rect">
            <a:avLst/>
          </a:prstGeom>
          <a:noFill/>
        </p:spPr>
        <p:txBody>
          <a:bodyPr vert="horz" wrap="square" lIns="0" tIns="0" rIns="0" bIns="0" rtlCol="0">
            <a:noAutofit/>
          </a:bodyPr>
          <a:lstStyle/>
          <a:p>
            <a:r>
              <a:rPr sz="1200" b="1">
                <a:solidFill>
                  <a:srgbClr val="0F766E"/>
                </a:solidFill>
                <a:latin typeface="Segoe UI"/>
              </a:rPr>
              <a:t>1</a:t>
            </a:r>
          </a:p>
        </p:txBody>
      </p:sp>
      <p:sp>
        <p:nvSpPr>
          <p:cNvPr id="11" name="TextBox 10">
            <a:extLst>
              <a:ext uri="{FF2B5EF4-FFF2-40B4-BE49-F238E27FC236}">
                <a16:creationId xmlns:a16="http://schemas.microsoft.com/office/drawing/2014/main" id="{8CE8F346-D4D6-A130-3693-219BD135C54C}"/>
              </a:ext>
            </a:extLst>
          </p:cNvPr>
          <p:cNvSpPr txBox="1"/>
          <p:nvPr/>
        </p:nvSpPr>
        <p:spPr>
          <a:xfrm>
            <a:off x="685800" y="2578100"/>
            <a:ext cx="1727200" cy="276999"/>
          </a:xfrm>
          <a:prstGeom prst="rect">
            <a:avLst/>
          </a:prstGeom>
          <a:noFill/>
        </p:spPr>
        <p:txBody>
          <a:bodyPr vert="horz" wrap="square" lIns="0" tIns="0" rIns="0" bIns="0" rtlCol="0">
            <a:noAutofit/>
          </a:bodyPr>
          <a:lstStyle/>
          <a:p>
            <a:r>
              <a:rPr sz="1400" b="1">
                <a:solidFill>
                  <a:srgbClr val="102136"/>
                </a:solidFill>
                <a:latin typeface="Segoe UI"/>
              </a:rPr>
              <a:t>DẠNG UNF</a:t>
            </a:r>
          </a:p>
        </p:txBody>
      </p:sp>
      <p:cxnSp>
        <p:nvCxnSpPr>
          <p:cNvPr id="12" name="Straight Connector 11">
            <a:extLst>
              <a:ext uri="{FF2B5EF4-FFF2-40B4-BE49-F238E27FC236}">
                <a16:creationId xmlns:a16="http://schemas.microsoft.com/office/drawing/2014/main" id="{7FF4EDF2-71A3-B793-65A5-512B1728596E}"/>
              </a:ext>
            </a:extLst>
          </p:cNvPr>
          <p:cNvCxnSpPr/>
          <p:nvPr/>
        </p:nvCxnSpPr>
        <p:spPr>
          <a:xfrm>
            <a:off x="2616200" y="2654300"/>
            <a:ext cx="127000" cy="0"/>
          </a:xfrm>
          <a:prstGeom prst="line">
            <a:avLst/>
          </a:prstGeom>
          <a:ln w="21590">
            <a:solidFill>
              <a:srgbClr val="51647A"/>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3937ACE0-9049-BA9D-9DB9-B65CC0D9FA3D}"/>
              </a:ext>
            </a:extLst>
          </p:cNvPr>
          <p:cNvSpPr/>
          <p:nvPr/>
        </p:nvSpPr>
        <p:spPr>
          <a:xfrm>
            <a:off x="2781300" y="2057400"/>
            <a:ext cx="2082800" cy="1168400"/>
          </a:xfrm>
          <a:prstGeom prst="roundRect">
            <a:avLst>
              <a:gd name="adj" fmla="val 10000"/>
            </a:avLst>
          </a:prstGeom>
          <a:solidFill>
            <a:srgbClr val="FFFFF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F7028C0-DA5A-7012-46BE-86BE24F73846}"/>
              </a:ext>
            </a:extLst>
          </p:cNvPr>
          <p:cNvSpPr txBox="1"/>
          <p:nvPr/>
        </p:nvSpPr>
        <p:spPr>
          <a:xfrm>
            <a:off x="2959100" y="2184400"/>
            <a:ext cx="304800" cy="276999"/>
          </a:xfrm>
          <a:prstGeom prst="rect">
            <a:avLst/>
          </a:prstGeom>
          <a:noFill/>
        </p:spPr>
        <p:txBody>
          <a:bodyPr vert="horz" wrap="square" lIns="0" tIns="0" rIns="0" bIns="0" rtlCol="0">
            <a:noAutofit/>
          </a:bodyPr>
          <a:lstStyle/>
          <a:p>
            <a:r>
              <a:rPr sz="1200" b="1">
                <a:solidFill>
                  <a:srgbClr val="0F766E"/>
                </a:solidFill>
                <a:latin typeface="Segoe UI"/>
              </a:rPr>
              <a:t>2</a:t>
            </a:r>
          </a:p>
        </p:txBody>
      </p:sp>
      <p:sp>
        <p:nvSpPr>
          <p:cNvPr id="15" name="TextBox 14">
            <a:extLst>
              <a:ext uri="{FF2B5EF4-FFF2-40B4-BE49-F238E27FC236}">
                <a16:creationId xmlns:a16="http://schemas.microsoft.com/office/drawing/2014/main" id="{39E0A81E-DA59-E948-C7F6-135CCF0B3ECC}"/>
              </a:ext>
            </a:extLst>
          </p:cNvPr>
          <p:cNvSpPr txBox="1"/>
          <p:nvPr/>
        </p:nvSpPr>
        <p:spPr>
          <a:xfrm>
            <a:off x="2959100" y="2578100"/>
            <a:ext cx="1727200" cy="276999"/>
          </a:xfrm>
          <a:prstGeom prst="rect">
            <a:avLst/>
          </a:prstGeom>
          <a:noFill/>
        </p:spPr>
        <p:txBody>
          <a:bodyPr vert="horz" wrap="square" lIns="0" tIns="0" rIns="0" bIns="0" rtlCol="0">
            <a:noAutofit/>
          </a:bodyPr>
          <a:lstStyle/>
          <a:p>
            <a:r>
              <a:rPr sz="1400" b="1">
                <a:solidFill>
                  <a:srgbClr val="102136"/>
                </a:solidFill>
                <a:latin typeface="Segoe UI"/>
              </a:rPr>
              <a:t>ĐẠT 1NF</a:t>
            </a:r>
          </a:p>
        </p:txBody>
      </p:sp>
      <p:cxnSp>
        <p:nvCxnSpPr>
          <p:cNvPr id="16" name="Straight Connector 15">
            <a:extLst>
              <a:ext uri="{FF2B5EF4-FFF2-40B4-BE49-F238E27FC236}">
                <a16:creationId xmlns:a16="http://schemas.microsoft.com/office/drawing/2014/main" id="{E5C924F9-FBB6-4C8C-D4DE-EF495939E4E9}"/>
              </a:ext>
            </a:extLst>
          </p:cNvPr>
          <p:cNvCxnSpPr/>
          <p:nvPr/>
        </p:nvCxnSpPr>
        <p:spPr>
          <a:xfrm>
            <a:off x="4889500" y="2654300"/>
            <a:ext cx="127000" cy="0"/>
          </a:xfrm>
          <a:prstGeom prst="line">
            <a:avLst/>
          </a:prstGeom>
          <a:ln w="21590">
            <a:solidFill>
              <a:srgbClr val="51647A"/>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82607FAC-DDA6-9BA2-DBA2-807D033E9828}"/>
              </a:ext>
            </a:extLst>
          </p:cNvPr>
          <p:cNvSpPr/>
          <p:nvPr/>
        </p:nvSpPr>
        <p:spPr>
          <a:xfrm>
            <a:off x="5054600" y="2057400"/>
            <a:ext cx="2082800" cy="1168400"/>
          </a:xfrm>
          <a:prstGeom prst="roundRect">
            <a:avLst>
              <a:gd name="adj" fmla="val 10000"/>
            </a:avLst>
          </a:prstGeom>
          <a:solidFill>
            <a:srgbClr val="FFFFF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E33DEDD-5A2C-B46E-B310-ED15171442A0}"/>
              </a:ext>
            </a:extLst>
          </p:cNvPr>
          <p:cNvSpPr txBox="1"/>
          <p:nvPr/>
        </p:nvSpPr>
        <p:spPr>
          <a:xfrm>
            <a:off x="5232400" y="2184400"/>
            <a:ext cx="304800" cy="276999"/>
          </a:xfrm>
          <a:prstGeom prst="rect">
            <a:avLst/>
          </a:prstGeom>
          <a:noFill/>
        </p:spPr>
        <p:txBody>
          <a:bodyPr vert="horz" wrap="square" lIns="0" tIns="0" rIns="0" bIns="0" rtlCol="0">
            <a:noAutofit/>
          </a:bodyPr>
          <a:lstStyle/>
          <a:p>
            <a:r>
              <a:rPr sz="1200" b="1">
                <a:solidFill>
                  <a:srgbClr val="0F766E"/>
                </a:solidFill>
                <a:latin typeface="Segoe UI"/>
              </a:rPr>
              <a:t>3</a:t>
            </a:r>
          </a:p>
        </p:txBody>
      </p:sp>
      <p:sp>
        <p:nvSpPr>
          <p:cNvPr id="19" name="TextBox 18">
            <a:extLst>
              <a:ext uri="{FF2B5EF4-FFF2-40B4-BE49-F238E27FC236}">
                <a16:creationId xmlns:a16="http://schemas.microsoft.com/office/drawing/2014/main" id="{799626E9-99DC-BCC4-6710-9C103B94ACC6}"/>
              </a:ext>
            </a:extLst>
          </p:cNvPr>
          <p:cNvSpPr txBox="1"/>
          <p:nvPr/>
        </p:nvSpPr>
        <p:spPr>
          <a:xfrm>
            <a:off x="5232400" y="2578100"/>
            <a:ext cx="1727200" cy="276999"/>
          </a:xfrm>
          <a:prstGeom prst="rect">
            <a:avLst/>
          </a:prstGeom>
          <a:noFill/>
        </p:spPr>
        <p:txBody>
          <a:bodyPr vert="horz" wrap="square" lIns="0" tIns="0" rIns="0" bIns="0" rtlCol="0">
            <a:noAutofit/>
          </a:bodyPr>
          <a:lstStyle/>
          <a:p>
            <a:r>
              <a:rPr sz="1400" b="1">
                <a:solidFill>
                  <a:srgbClr val="102136"/>
                </a:solidFill>
                <a:latin typeface="Segoe UI"/>
              </a:rPr>
              <a:t>ĐẠT 2NF</a:t>
            </a:r>
            <a:endParaRPr lang="en-US" sz="1400" b="1">
              <a:solidFill>
                <a:srgbClr val="102136"/>
              </a:solidFill>
              <a:latin typeface="Segoe UI" panose="020B0502040204020203" pitchFamily="34" charset="0"/>
            </a:endParaRPr>
          </a:p>
        </p:txBody>
      </p:sp>
      <p:cxnSp>
        <p:nvCxnSpPr>
          <p:cNvPr id="20" name="Straight Connector 19">
            <a:extLst>
              <a:ext uri="{FF2B5EF4-FFF2-40B4-BE49-F238E27FC236}">
                <a16:creationId xmlns:a16="http://schemas.microsoft.com/office/drawing/2014/main" id="{D0A2CE18-B12D-E4D8-419C-F20DCA144765}"/>
              </a:ext>
            </a:extLst>
          </p:cNvPr>
          <p:cNvCxnSpPr/>
          <p:nvPr/>
        </p:nvCxnSpPr>
        <p:spPr>
          <a:xfrm>
            <a:off x="7162800" y="2654300"/>
            <a:ext cx="127000" cy="0"/>
          </a:xfrm>
          <a:prstGeom prst="line">
            <a:avLst/>
          </a:prstGeom>
          <a:ln w="21590">
            <a:solidFill>
              <a:srgbClr val="51647A"/>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4F6A0819-FDE8-E4EC-1C5A-71CD7A84CF9C}"/>
              </a:ext>
            </a:extLst>
          </p:cNvPr>
          <p:cNvSpPr/>
          <p:nvPr/>
        </p:nvSpPr>
        <p:spPr>
          <a:xfrm>
            <a:off x="7327900" y="2057400"/>
            <a:ext cx="2082800" cy="1168400"/>
          </a:xfrm>
          <a:prstGeom prst="roundRect">
            <a:avLst>
              <a:gd name="adj" fmla="val 10000"/>
            </a:avLst>
          </a:prstGeom>
          <a:solidFill>
            <a:srgbClr val="FFFFF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4BEC4E8C-B935-047A-EA48-6F4CBD286697}"/>
              </a:ext>
            </a:extLst>
          </p:cNvPr>
          <p:cNvSpPr txBox="1"/>
          <p:nvPr/>
        </p:nvSpPr>
        <p:spPr>
          <a:xfrm>
            <a:off x="7505700" y="2184400"/>
            <a:ext cx="304800" cy="276999"/>
          </a:xfrm>
          <a:prstGeom prst="rect">
            <a:avLst/>
          </a:prstGeom>
          <a:noFill/>
        </p:spPr>
        <p:txBody>
          <a:bodyPr vert="horz" wrap="square" lIns="0" tIns="0" rIns="0" bIns="0" rtlCol="0">
            <a:noAutofit/>
          </a:bodyPr>
          <a:lstStyle/>
          <a:p>
            <a:r>
              <a:rPr sz="1200" b="1">
                <a:solidFill>
                  <a:srgbClr val="0F766E"/>
                </a:solidFill>
                <a:latin typeface="Segoe UI"/>
              </a:rPr>
              <a:t>4</a:t>
            </a:r>
          </a:p>
        </p:txBody>
      </p:sp>
      <p:sp>
        <p:nvSpPr>
          <p:cNvPr id="23" name="TextBox 22">
            <a:extLst>
              <a:ext uri="{FF2B5EF4-FFF2-40B4-BE49-F238E27FC236}">
                <a16:creationId xmlns:a16="http://schemas.microsoft.com/office/drawing/2014/main" id="{D6619362-D732-7842-EFD3-DB6953F2B1CD}"/>
              </a:ext>
            </a:extLst>
          </p:cNvPr>
          <p:cNvSpPr txBox="1"/>
          <p:nvPr/>
        </p:nvSpPr>
        <p:spPr>
          <a:xfrm>
            <a:off x="7505700" y="2578100"/>
            <a:ext cx="1727200" cy="276999"/>
          </a:xfrm>
          <a:prstGeom prst="rect">
            <a:avLst/>
          </a:prstGeom>
          <a:noFill/>
        </p:spPr>
        <p:txBody>
          <a:bodyPr vert="horz" wrap="square" lIns="0" tIns="0" rIns="0" bIns="0" rtlCol="0">
            <a:noAutofit/>
          </a:bodyPr>
          <a:lstStyle/>
          <a:p>
            <a:r>
              <a:rPr sz="1400" b="1">
                <a:solidFill>
                  <a:srgbClr val="102136"/>
                </a:solidFill>
                <a:latin typeface="Segoe UI"/>
              </a:rPr>
              <a:t>ĐẠT 3NF</a:t>
            </a:r>
            <a:endParaRPr lang="en-US" sz="1400" b="1">
              <a:solidFill>
                <a:srgbClr val="102136"/>
              </a:solidFill>
              <a:latin typeface="Segoe UI" panose="020B0502040204020203" pitchFamily="34" charset="0"/>
            </a:endParaRPr>
          </a:p>
        </p:txBody>
      </p:sp>
      <p:cxnSp>
        <p:nvCxnSpPr>
          <p:cNvPr id="24" name="Straight Connector 23">
            <a:extLst>
              <a:ext uri="{FF2B5EF4-FFF2-40B4-BE49-F238E27FC236}">
                <a16:creationId xmlns:a16="http://schemas.microsoft.com/office/drawing/2014/main" id="{798EC40F-FEBD-FD26-2883-CAA0A7A1F914}"/>
              </a:ext>
            </a:extLst>
          </p:cNvPr>
          <p:cNvCxnSpPr/>
          <p:nvPr/>
        </p:nvCxnSpPr>
        <p:spPr>
          <a:xfrm>
            <a:off x="9436100" y="2654300"/>
            <a:ext cx="127000" cy="0"/>
          </a:xfrm>
          <a:prstGeom prst="line">
            <a:avLst/>
          </a:prstGeom>
          <a:ln w="21590">
            <a:solidFill>
              <a:srgbClr val="51647A"/>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Rounded Corners 24">
            <a:extLst>
              <a:ext uri="{FF2B5EF4-FFF2-40B4-BE49-F238E27FC236}">
                <a16:creationId xmlns:a16="http://schemas.microsoft.com/office/drawing/2014/main" id="{597A1983-80FA-635F-C407-982DD51B4D9E}"/>
              </a:ext>
            </a:extLst>
          </p:cNvPr>
          <p:cNvSpPr/>
          <p:nvPr/>
        </p:nvSpPr>
        <p:spPr>
          <a:xfrm>
            <a:off x="9601200" y="2057400"/>
            <a:ext cx="2082800" cy="1168400"/>
          </a:xfrm>
          <a:prstGeom prst="roundRect">
            <a:avLst>
              <a:gd name="adj" fmla="val 10000"/>
            </a:avLst>
          </a:prstGeom>
          <a:solidFill>
            <a:srgbClr val="E6F4E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6189DA1A-FFC1-1767-038F-282450E7A93E}"/>
              </a:ext>
            </a:extLst>
          </p:cNvPr>
          <p:cNvSpPr txBox="1"/>
          <p:nvPr/>
        </p:nvSpPr>
        <p:spPr>
          <a:xfrm>
            <a:off x="9779000" y="2184400"/>
            <a:ext cx="304800" cy="276999"/>
          </a:xfrm>
          <a:prstGeom prst="rect">
            <a:avLst/>
          </a:prstGeom>
          <a:noFill/>
        </p:spPr>
        <p:txBody>
          <a:bodyPr vert="horz" wrap="square" lIns="0" tIns="0" rIns="0" bIns="0" rtlCol="0">
            <a:noAutofit/>
          </a:bodyPr>
          <a:lstStyle/>
          <a:p>
            <a:r>
              <a:rPr sz="1200" b="1">
                <a:solidFill>
                  <a:srgbClr val="0F766E"/>
                </a:solidFill>
                <a:latin typeface="Segoe UI"/>
              </a:rPr>
              <a:t>5</a:t>
            </a:r>
          </a:p>
        </p:txBody>
      </p:sp>
      <p:sp>
        <p:nvSpPr>
          <p:cNvPr id="27" name="TextBox 26">
            <a:extLst>
              <a:ext uri="{FF2B5EF4-FFF2-40B4-BE49-F238E27FC236}">
                <a16:creationId xmlns:a16="http://schemas.microsoft.com/office/drawing/2014/main" id="{0315AFBE-0E98-058A-7A32-2F0AE2D3B171}"/>
              </a:ext>
            </a:extLst>
          </p:cNvPr>
          <p:cNvSpPr txBox="1"/>
          <p:nvPr/>
        </p:nvSpPr>
        <p:spPr>
          <a:xfrm>
            <a:off x="9779000" y="2578100"/>
            <a:ext cx="1727200" cy="276999"/>
          </a:xfrm>
          <a:prstGeom prst="rect">
            <a:avLst/>
          </a:prstGeom>
          <a:noFill/>
        </p:spPr>
        <p:txBody>
          <a:bodyPr vert="horz" wrap="square" lIns="0" tIns="0" rIns="0" bIns="0" rtlCol="0">
            <a:noAutofit/>
          </a:bodyPr>
          <a:lstStyle/>
          <a:p>
            <a:r>
              <a:rPr sz="1400" b="1">
                <a:solidFill>
                  <a:srgbClr val="102136"/>
                </a:solidFill>
                <a:latin typeface="Segoe UI"/>
              </a:rPr>
              <a:t>RÀNG BUỘC</a:t>
            </a:r>
          </a:p>
        </p:txBody>
      </p:sp>
      <p:sp>
        <p:nvSpPr>
          <p:cNvPr id="28" name="Rectangle: Rounded Corners 27">
            <a:extLst>
              <a:ext uri="{FF2B5EF4-FFF2-40B4-BE49-F238E27FC236}">
                <a16:creationId xmlns:a16="http://schemas.microsoft.com/office/drawing/2014/main" id="{EA1E4F2D-3984-FA78-74A3-56D2117E0C03}"/>
              </a:ext>
            </a:extLst>
          </p:cNvPr>
          <p:cNvSpPr/>
          <p:nvPr/>
        </p:nvSpPr>
        <p:spPr>
          <a:xfrm>
            <a:off x="508000" y="3429000"/>
            <a:ext cx="11176000" cy="533400"/>
          </a:xfrm>
          <a:prstGeom prst="roundRect">
            <a:avLst>
              <a:gd name="adj" fmla="val 10000"/>
            </a:avLst>
          </a:prstGeom>
          <a:solidFill>
            <a:srgbClr val="FF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46364765-384E-A2ED-198E-8A11F55F6136}"/>
              </a:ext>
            </a:extLst>
          </p:cNvPr>
          <p:cNvSpPr txBox="1"/>
          <p:nvPr/>
        </p:nvSpPr>
        <p:spPr>
          <a:xfrm>
            <a:off x="723900" y="3568700"/>
            <a:ext cx="10731500" cy="276999"/>
          </a:xfrm>
          <a:prstGeom prst="rect">
            <a:avLst/>
          </a:prstGeom>
          <a:noFill/>
        </p:spPr>
        <p:txBody>
          <a:bodyPr vert="horz" wrap="square" lIns="0" tIns="0" rIns="0" bIns="0" rtlCol="0">
            <a:noAutofit/>
          </a:bodyPr>
          <a:lstStyle/>
          <a:p>
            <a:r>
              <a:rPr sz="1600" b="1">
                <a:solidFill>
                  <a:srgbClr val="B42318"/>
                </a:solidFill>
                <a:latin typeface="Segoe UI"/>
              </a:rPr>
              <a:t>Tách PHONGBAN, CHUCVU khử phụ thuộc bắc cầu: MaNV → MaPB → TenPB; MaNV → MaCV → TenCV</a:t>
            </a:r>
            <a:endParaRPr lang="en-US" sz="1600" b="1">
              <a:solidFill>
                <a:srgbClr val="B42318"/>
              </a:solidFill>
              <a:latin typeface="Segoe UI" panose="020B0502040204020203" pitchFamily="34" charset="0"/>
            </a:endParaRPr>
          </a:p>
        </p:txBody>
      </p:sp>
      <p:sp>
        <p:nvSpPr>
          <p:cNvPr id="30" name="Rectangle: Rounded Corners 29">
            <a:extLst>
              <a:ext uri="{FF2B5EF4-FFF2-40B4-BE49-F238E27FC236}">
                <a16:creationId xmlns:a16="http://schemas.microsoft.com/office/drawing/2014/main" id="{34565CE7-C98A-F885-D301-58BCE128532D}"/>
              </a:ext>
            </a:extLst>
          </p:cNvPr>
          <p:cNvSpPr/>
          <p:nvPr/>
        </p:nvSpPr>
        <p:spPr>
          <a:xfrm>
            <a:off x="508000" y="4203700"/>
            <a:ext cx="5448300" cy="1803400"/>
          </a:xfrm>
          <a:prstGeom prst="roundRect">
            <a:avLst>
              <a:gd name="adj" fmla="val 10000"/>
            </a:avLst>
          </a:prstGeom>
          <a:solidFill>
            <a:srgbClr val="FFFFF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A0665D8D-7868-49D9-8E74-609EBE06DB87}"/>
              </a:ext>
            </a:extLst>
          </p:cNvPr>
          <p:cNvSpPr/>
          <p:nvPr/>
        </p:nvSpPr>
        <p:spPr>
          <a:xfrm>
            <a:off x="6210300" y="4203700"/>
            <a:ext cx="5473700" cy="1803400"/>
          </a:xfrm>
          <a:prstGeom prst="roundRect">
            <a:avLst>
              <a:gd name="adj" fmla="val 10000"/>
            </a:avLst>
          </a:prstGeom>
          <a:solidFill>
            <a:srgbClr val="FFFFF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5BF4519A-F87B-39FD-F2CC-325F751BFEB6}"/>
              </a:ext>
            </a:extLst>
          </p:cNvPr>
          <p:cNvSpPr txBox="1"/>
          <p:nvPr/>
        </p:nvSpPr>
        <p:spPr>
          <a:xfrm>
            <a:off x="736600" y="4406900"/>
            <a:ext cx="4953000" cy="276999"/>
          </a:xfrm>
          <a:prstGeom prst="rect">
            <a:avLst/>
          </a:prstGeom>
          <a:noFill/>
        </p:spPr>
        <p:txBody>
          <a:bodyPr vert="horz" wrap="square" lIns="0" tIns="0" rIns="0" bIns="0" rtlCol="0">
            <a:noAutofit/>
          </a:bodyPr>
          <a:lstStyle/>
          <a:p>
            <a:r>
              <a:rPr sz="1200" b="1">
                <a:solidFill>
                  <a:srgbClr val="0F766E"/>
                </a:solidFill>
                <a:latin typeface="Segoe UI"/>
              </a:rPr>
              <a:t>BẢO TOÀN SNAPSHOT LƯƠNG</a:t>
            </a:r>
          </a:p>
        </p:txBody>
      </p:sp>
      <p:sp>
        <p:nvSpPr>
          <p:cNvPr id="33" name="TextBox 32">
            <a:extLst>
              <a:ext uri="{FF2B5EF4-FFF2-40B4-BE49-F238E27FC236}">
                <a16:creationId xmlns:a16="http://schemas.microsoft.com/office/drawing/2014/main" id="{C2AB0D1D-6DAF-DEB5-5978-BF30B16DE2FB}"/>
              </a:ext>
            </a:extLst>
          </p:cNvPr>
          <p:cNvSpPr txBox="1"/>
          <p:nvPr/>
        </p:nvSpPr>
        <p:spPr>
          <a:xfrm>
            <a:off x="736600" y="4851400"/>
            <a:ext cx="4953000" cy="276999"/>
          </a:xfrm>
          <a:prstGeom prst="rect">
            <a:avLst/>
          </a:prstGeom>
          <a:noFill/>
        </p:spPr>
        <p:txBody>
          <a:bodyPr vert="horz" wrap="square" lIns="0" tIns="0" rIns="0" bIns="0" rtlCol="0">
            <a:noAutofit/>
          </a:bodyPr>
          <a:lstStyle/>
          <a:p>
            <a:r>
              <a:rPr sz="1700">
                <a:solidFill>
                  <a:srgbClr val="102136"/>
                </a:solidFill>
                <a:latin typeface="Segoe UI"/>
              </a:rPr>
              <a:t>LICHSULUONG lưu vết mức lương qua TuThang</a:t>
            </a:r>
          </a:p>
          <a:p>
            <a:r>
              <a:rPr sz="1700">
                <a:solidFill>
                  <a:srgbClr val="102136"/>
                </a:solidFill>
                <a:latin typeface="Segoe UI"/>
              </a:rPr>
              <a:t>CHITIETBANGLUONG vật hóa lương khi tính</a:t>
            </a:r>
          </a:p>
          <a:p>
            <a:r>
              <a:rPr sz="1700">
                <a:solidFill>
                  <a:srgbClr val="102136"/>
                </a:solidFill>
                <a:latin typeface="Segoe UI"/>
              </a:rPr>
              <a:t>Tăng lương hiện tại không làm sai lệch kỳ cũ</a:t>
            </a:r>
          </a:p>
        </p:txBody>
      </p:sp>
      <p:sp>
        <p:nvSpPr>
          <p:cNvPr id="34" name="TextBox 33">
            <a:extLst>
              <a:ext uri="{FF2B5EF4-FFF2-40B4-BE49-F238E27FC236}">
                <a16:creationId xmlns:a16="http://schemas.microsoft.com/office/drawing/2014/main" id="{86B64C2D-CCD5-733A-BDD6-22C2609B3BE8}"/>
              </a:ext>
            </a:extLst>
          </p:cNvPr>
          <p:cNvSpPr txBox="1"/>
          <p:nvPr/>
        </p:nvSpPr>
        <p:spPr>
          <a:xfrm>
            <a:off x="6438900" y="4406900"/>
            <a:ext cx="4940300" cy="276999"/>
          </a:xfrm>
          <a:prstGeom prst="rect">
            <a:avLst/>
          </a:prstGeom>
          <a:noFill/>
        </p:spPr>
        <p:txBody>
          <a:bodyPr vert="horz" wrap="square" lIns="0" tIns="0" rIns="0" bIns="0" rtlCol="0">
            <a:noAutofit/>
          </a:bodyPr>
          <a:lstStyle/>
          <a:p>
            <a:r>
              <a:rPr sz="1200" b="1">
                <a:solidFill>
                  <a:srgbClr val="0F766E"/>
                </a:solidFill>
                <a:latin typeface="Segoe UI"/>
              </a:rPr>
              <a:t>QUAN HỆ TÀI KHOẢN 1-N &amp; BẢO MẬT</a:t>
            </a:r>
            <a:endParaRPr lang="en-US" sz="1200" b="1">
              <a:solidFill>
                <a:srgbClr val="0F766E"/>
              </a:solidFill>
              <a:latin typeface="Segoe UI" panose="020B0502040204020203" pitchFamily="34" charset="0"/>
            </a:endParaRPr>
          </a:p>
        </p:txBody>
      </p:sp>
      <p:sp>
        <p:nvSpPr>
          <p:cNvPr id="35" name="TextBox 34">
            <a:extLst>
              <a:ext uri="{FF2B5EF4-FFF2-40B4-BE49-F238E27FC236}">
                <a16:creationId xmlns:a16="http://schemas.microsoft.com/office/drawing/2014/main" id="{074EFFE8-60A8-D91D-3108-B112B8478C52}"/>
              </a:ext>
            </a:extLst>
          </p:cNvPr>
          <p:cNvSpPr txBox="1"/>
          <p:nvPr/>
        </p:nvSpPr>
        <p:spPr>
          <a:xfrm>
            <a:off x="6438900" y="4851400"/>
            <a:ext cx="4940300" cy="276999"/>
          </a:xfrm>
          <a:prstGeom prst="rect">
            <a:avLst/>
          </a:prstGeom>
          <a:noFill/>
        </p:spPr>
        <p:txBody>
          <a:bodyPr vert="horz" wrap="square" lIns="0" tIns="0" rIns="0" bIns="0" rtlCol="0">
            <a:noAutofit/>
          </a:bodyPr>
          <a:lstStyle/>
          <a:p>
            <a:r>
              <a:rPr sz="1600">
                <a:solidFill>
                  <a:srgbClr val="102136"/>
                </a:solidFill>
                <a:latin typeface="Segoe UI"/>
              </a:rPr>
              <a:t>Cột MaNV nullable: cho phép DBA độc lập</a:t>
            </a:r>
            <a:endParaRPr lang="en-US" sz="1600">
              <a:solidFill>
                <a:srgbClr val="102136"/>
              </a:solidFill>
              <a:latin typeface="Segoe UI" panose="020B0502040204020203" pitchFamily="34" charset="0"/>
            </a:endParaRPr>
          </a:p>
          <a:p>
            <a:r>
              <a:rPr sz="1600">
                <a:solidFill>
                  <a:srgbClr val="102136"/>
                </a:solidFill>
                <a:latin typeface="Segoe UI"/>
              </a:rPr>
              <a:t>Mật khẩu băm an toàn PBKDF2 salt 16 bytes</a:t>
            </a:r>
          </a:p>
          <a:p>
            <a:r>
              <a:rPr sz="1600">
                <a:solidFill>
                  <a:srgbClr val="102136"/>
                </a:solidFill>
                <a:latin typeface="Segoe UI"/>
              </a:rPr>
              <a:t>Cột SqlLogin ánh xạ trực tiếp login SQL Server</a:t>
            </a:r>
          </a:p>
        </p:txBody>
      </p:sp>
    </p:spTree>
    <p:extLst>
      <p:ext uri="{BB962C8B-B14F-4D97-AF65-F5344CB8AC3E}">
        <p14:creationId xmlns:p14="http://schemas.microsoft.com/office/powerpoint/2010/main" val="3967434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63CF758-6E25-23A7-F9D0-0B9B5F925FAF}"/>
              </a:ext>
            </a:extLst>
          </p:cNvPr>
          <p:cNvSpPr/>
          <p:nvPr/>
        </p:nvSpPr>
        <p:spPr>
          <a:xfrm>
            <a:off x="508000" y="330200"/>
            <a:ext cx="1638300" cy="304800"/>
          </a:xfrm>
          <a:prstGeom prst="roundRect">
            <a:avLst>
              <a:gd name="adj" fmla="val 10000"/>
            </a:avLst>
          </a:prstGeom>
          <a:solidFill>
            <a:srgbClr val="E6F4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F354F61-86EA-5854-3A80-6203362F58B6}"/>
              </a:ext>
            </a:extLst>
          </p:cNvPr>
          <p:cNvSpPr txBox="1"/>
          <p:nvPr/>
        </p:nvSpPr>
        <p:spPr>
          <a:xfrm>
            <a:off x="635000" y="393700"/>
            <a:ext cx="1409700" cy="276999"/>
          </a:xfrm>
          <a:prstGeom prst="rect">
            <a:avLst/>
          </a:prstGeom>
          <a:noFill/>
        </p:spPr>
        <p:txBody>
          <a:bodyPr vert="horz" wrap="square" lIns="0" tIns="0" rIns="0" bIns="0" rtlCol="0">
            <a:noAutofit/>
          </a:bodyPr>
          <a:lstStyle/>
          <a:p>
            <a:r>
              <a:rPr sz="1000" b="1">
                <a:solidFill>
                  <a:srgbClr val="0F766E"/>
                </a:solidFill>
                <a:latin typeface="Segoe UI"/>
              </a:rPr>
              <a:t>TV1 · BẢO VỆ NGHIỆP VỤ &amp; TỐI ƯU</a:t>
            </a:r>
            <a:endParaRPr lang="en-US" sz="1000" b="1">
              <a:solidFill>
                <a:srgbClr val="0F766E"/>
              </a:solidFill>
              <a:latin typeface="Segoe UI" panose="020B0502040204020203" pitchFamily="34" charset="0"/>
            </a:endParaRPr>
          </a:p>
        </p:txBody>
      </p:sp>
      <p:sp>
        <p:nvSpPr>
          <p:cNvPr id="4" name="TextBox 3">
            <a:extLst>
              <a:ext uri="{FF2B5EF4-FFF2-40B4-BE49-F238E27FC236}">
                <a16:creationId xmlns:a16="http://schemas.microsoft.com/office/drawing/2014/main" id="{C24EFB94-4F6C-056E-6AB2-49BF97375288}"/>
              </a:ext>
            </a:extLst>
          </p:cNvPr>
          <p:cNvSpPr txBox="1"/>
          <p:nvPr/>
        </p:nvSpPr>
        <p:spPr>
          <a:xfrm>
            <a:off x="508000" y="838200"/>
            <a:ext cx="11176000" cy="276999"/>
          </a:xfrm>
          <a:prstGeom prst="rect">
            <a:avLst/>
          </a:prstGeom>
          <a:noFill/>
        </p:spPr>
        <p:txBody>
          <a:bodyPr vert="horz" wrap="square" lIns="0" tIns="0" rIns="0" bIns="0" rtlCol="0">
            <a:noAutofit/>
          </a:bodyPr>
          <a:lstStyle/>
          <a:p>
            <a:r>
              <a:rPr sz="2800" b="1">
                <a:solidFill>
                  <a:srgbClr val="102136"/>
                </a:solidFill>
                <a:latin typeface="Segoe UI"/>
              </a:rPr>
              <a:t>Ràng buộc nhân viên và transaction hồ sơ</a:t>
            </a:r>
          </a:p>
        </p:txBody>
      </p:sp>
      <p:sp>
        <p:nvSpPr>
          <p:cNvPr id="5" name="TextBox 4">
            <a:extLst>
              <a:ext uri="{FF2B5EF4-FFF2-40B4-BE49-F238E27FC236}">
                <a16:creationId xmlns:a16="http://schemas.microsoft.com/office/drawing/2014/main" id="{24A06CA0-775C-FE90-CBB7-6F7B1A735B67}"/>
              </a:ext>
            </a:extLst>
          </p:cNvPr>
          <p:cNvSpPr txBox="1"/>
          <p:nvPr/>
        </p:nvSpPr>
        <p:spPr>
          <a:xfrm>
            <a:off x="508000" y="1409700"/>
            <a:ext cx="11176000" cy="276999"/>
          </a:xfrm>
          <a:prstGeom prst="rect">
            <a:avLst/>
          </a:prstGeom>
          <a:noFill/>
        </p:spPr>
        <p:txBody>
          <a:bodyPr vert="horz" wrap="square" lIns="0" tIns="0" rIns="0" bIns="0" rtlCol="0">
            <a:noAutofit/>
          </a:bodyPr>
          <a:lstStyle/>
          <a:p>
            <a:r>
              <a:rPr sz="1200">
                <a:solidFill>
                  <a:srgbClr val="51647A"/>
                </a:solidFill>
                <a:latin typeface="Segoe UI"/>
              </a:rPr>
              <a:t>sp_ThemNhanVien · TRY…CATCH · Rollback nguyên tử · Covering Index 86.67%</a:t>
            </a:r>
          </a:p>
        </p:txBody>
      </p:sp>
      <p:sp>
        <p:nvSpPr>
          <p:cNvPr id="6" name="Rectangle 5">
            <a:extLst>
              <a:ext uri="{FF2B5EF4-FFF2-40B4-BE49-F238E27FC236}">
                <a16:creationId xmlns:a16="http://schemas.microsoft.com/office/drawing/2014/main" id="{E26CB56F-2591-0300-B8A0-E456B5801416}"/>
              </a:ext>
            </a:extLst>
          </p:cNvPr>
          <p:cNvSpPr/>
          <p:nvPr/>
        </p:nvSpPr>
        <p:spPr>
          <a:xfrm>
            <a:off x="508000" y="6426200"/>
            <a:ext cx="11176000" cy="12700"/>
          </a:xfrm>
          <a:prstGeom prst="rect">
            <a:avLst/>
          </a:prstGeom>
          <a:solidFill>
            <a:srgbClr val="DDE5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368B4FA-A30E-6A92-9207-2F123556F4F0}"/>
              </a:ext>
            </a:extLst>
          </p:cNvPr>
          <p:cNvSpPr txBox="1"/>
          <p:nvPr/>
        </p:nvSpPr>
        <p:spPr>
          <a:xfrm>
            <a:off x="508000" y="6591300"/>
            <a:ext cx="9525000" cy="276999"/>
          </a:xfrm>
          <a:prstGeom prst="rect">
            <a:avLst/>
          </a:prstGeom>
          <a:noFill/>
        </p:spPr>
        <p:txBody>
          <a:bodyPr vert="horz" wrap="square" lIns="0" tIns="0" rIns="0" bIns="0" rtlCol="0">
            <a:noAutofit/>
          </a:bodyPr>
          <a:lstStyle/>
          <a:p>
            <a:r>
              <a:rPr sz="1000">
                <a:solidFill>
                  <a:srgbClr val="51647A"/>
                </a:solidFill>
                <a:latin typeface="Segoe UI"/>
              </a:rPr>
              <a:t>Nguyễn Minh Trí  ·  MSSV 24110359  ·  Nhóm 06</a:t>
            </a:r>
          </a:p>
        </p:txBody>
      </p:sp>
      <p:sp>
        <p:nvSpPr>
          <p:cNvPr id="8" name="TextBox 7">
            <a:extLst>
              <a:ext uri="{FF2B5EF4-FFF2-40B4-BE49-F238E27FC236}">
                <a16:creationId xmlns:a16="http://schemas.microsoft.com/office/drawing/2014/main" id="{A8654B23-044C-66AC-54FB-11334BD3096A}"/>
              </a:ext>
            </a:extLst>
          </p:cNvPr>
          <p:cNvSpPr txBox="1"/>
          <p:nvPr/>
        </p:nvSpPr>
        <p:spPr>
          <a:xfrm>
            <a:off x="11163300" y="6540500"/>
            <a:ext cx="520700" cy="276999"/>
          </a:xfrm>
          <a:prstGeom prst="rect">
            <a:avLst/>
          </a:prstGeom>
          <a:noFill/>
        </p:spPr>
        <p:txBody>
          <a:bodyPr vert="horz" wrap="square" lIns="0" tIns="0" rIns="0" bIns="0" rtlCol="0">
            <a:noAutofit/>
          </a:bodyPr>
          <a:lstStyle/>
          <a:p>
            <a:pPr algn="r"/>
            <a:r>
              <a:rPr sz="1300" b="1">
                <a:solidFill>
                  <a:srgbClr val="0F766E"/>
                </a:solidFill>
                <a:latin typeface="Segoe UI"/>
              </a:rPr>
              <a:t>3</a:t>
            </a:r>
          </a:p>
        </p:txBody>
      </p:sp>
      <p:sp>
        <p:nvSpPr>
          <p:cNvPr id="9" name="Rectangle: Rounded Corners 8">
            <a:extLst>
              <a:ext uri="{FF2B5EF4-FFF2-40B4-BE49-F238E27FC236}">
                <a16:creationId xmlns:a16="http://schemas.microsoft.com/office/drawing/2014/main" id="{A926A8A6-876B-4F7F-4057-ADBF53D78DFF}"/>
              </a:ext>
            </a:extLst>
          </p:cNvPr>
          <p:cNvSpPr/>
          <p:nvPr/>
        </p:nvSpPr>
        <p:spPr>
          <a:xfrm>
            <a:off x="508000" y="2019300"/>
            <a:ext cx="11176000" cy="635000"/>
          </a:xfrm>
          <a:prstGeom prst="roundRect">
            <a:avLst>
              <a:gd name="adj" fmla="val 10000"/>
            </a:avLst>
          </a:prstGeom>
          <a:solidFill>
            <a:srgbClr val="FFFFF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785D36C-32AA-205F-3992-CA3DB4D733EE}"/>
              </a:ext>
            </a:extLst>
          </p:cNvPr>
          <p:cNvSpPr txBox="1"/>
          <p:nvPr/>
        </p:nvSpPr>
        <p:spPr>
          <a:xfrm>
            <a:off x="736600" y="2222500"/>
            <a:ext cx="10731500" cy="276999"/>
          </a:xfrm>
          <a:prstGeom prst="rect">
            <a:avLst/>
          </a:prstGeom>
          <a:noFill/>
        </p:spPr>
        <p:txBody>
          <a:bodyPr vert="horz" wrap="square" lIns="0" tIns="0" rIns="0" bIns="0" rtlCol="0">
            <a:noAutofit/>
          </a:bodyPr>
          <a:lstStyle/>
          <a:p>
            <a:r>
              <a:rPr b="1">
                <a:solidFill>
                  <a:srgbClr val="102136"/>
                </a:solidFill>
                <a:latin typeface="Segoe UI"/>
              </a:rPr>
              <a:t>NhanVienPanel   →   NhanVienService   →   NhanVienDAO   →   SQL Server</a:t>
            </a:r>
          </a:p>
        </p:txBody>
      </p:sp>
      <p:sp>
        <p:nvSpPr>
          <p:cNvPr id="11" name="Rectangle: Rounded Corners 10">
            <a:extLst>
              <a:ext uri="{FF2B5EF4-FFF2-40B4-BE49-F238E27FC236}">
                <a16:creationId xmlns:a16="http://schemas.microsoft.com/office/drawing/2014/main" id="{6BAD1079-17FE-2858-37BA-5521E05DE4C4}"/>
              </a:ext>
            </a:extLst>
          </p:cNvPr>
          <p:cNvSpPr/>
          <p:nvPr/>
        </p:nvSpPr>
        <p:spPr>
          <a:xfrm>
            <a:off x="508000" y="2946400"/>
            <a:ext cx="3543300" cy="1549400"/>
          </a:xfrm>
          <a:prstGeom prst="roundRect">
            <a:avLst>
              <a:gd name="adj" fmla="val 10000"/>
            </a:avLst>
          </a:prstGeom>
          <a:solidFill>
            <a:srgbClr val="E6F4E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0098E47-3521-3AEC-D5B6-8543064D6530}"/>
              </a:ext>
            </a:extLst>
          </p:cNvPr>
          <p:cNvSpPr txBox="1"/>
          <p:nvPr/>
        </p:nvSpPr>
        <p:spPr>
          <a:xfrm>
            <a:off x="736600" y="3149600"/>
            <a:ext cx="3086100" cy="276999"/>
          </a:xfrm>
          <a:prstGeom prst="rect">
            <a:avLst/>
          </a:prstGeom>
          <a:noFill/>
        </p:spPr>
        <p:txBody>
          <a:bodyPr vert="horz" wrap="square" lIns="0" tIns="0" rIns="0" bIns="0" rtlCol="0">
            <a:noAutofit/>
          </a:bodyPr>
          <a:lstStyle/>
          <a:p>
            <a:r>
              <a:rPr sz="1100" b="1">
                <a:solidFill>
                  <a:srgbClr val="0F766E"/>
                </a:solidFill>
                <a:latin typeface="Segoe UI"/>
              </a:rPr>
              <a:t>INTEGRATION &amp; BIÊN TUỔI</a:t>
            </a:r>
          </a:p>
        </p:txBody>
      </p:sp>
      <p:sp>
        <p:nvSpPr>
          <p:cNvPr id="13" name="TextBox 12">
            <a:extLst>
              <a:ext uri="{FF2B5EF4-FFF2-40B4-BE49-F238E27FC236}">
                <a16:creationId xmlns:a16="http://schemas.microsoft.com/office/drawing/2014/main" id="{6FA87F62-3615-42AD-87F7-C3386C0CCDB8}"/>
              </a:ext>
            </a:extLst>
          </p:cNvPr>
          <p:cNvSpPr txBox="1"/>
          <p:nvPr/>
        </p:nvSpPr>
        <p:spPr>
          <a:xfrm>
            <a:off x="736600" y="3581400"/>
            <a:ext cx="3086100" cy="276999"/>
          </a:xfrm>
          <a:prstGeom prst="rect">
            <a:avLst/>
          </a:prstGeom>
          <a:noFill/>
        </p:spPr>
        <p:txBody>
          <a:bodyPr vert="horz" wrap="square" lIns="0" tIns="0" rIns="0" bIns="0" rtlCol="0">
            <a:noAutofit/>
          </a:bodyPr>
          <a:lstStyle/>
          <a:p>
            <a:r>
              <a:rPr sz="2900" b="1">
                <a:solidFill>
                  <a:srgbClr val="0F766E"/>
                </a:solidFill>
                <a:latin typeface="Segoe UI"/>
              </a:rPr>
              <a:t>7/7 + 9/9</a:t>
            </a:r>
          </a:p>
        </p:txBody>
      </p:sp>
      <p:sp>
        <p:nvSpPr>
          <p:cNvPr id="14" name="TextBox 13">
            <a:extLst>
              <a:ext uri="{FF2B5EF4-FFF2-40B4-BE49-F238E27FC236}">
                <a16:creationId xmlns:a16="http://schemas.microsoft.com/office/drawing/2014/main" id="{12CB3781-786F-F79E-4811-FEAA6E4CDEEB}"/>
              </a:ext>
            </a:extLst>
          </p:cNvPr>
          <p:cNvSpPr txBox="1"/>
          <p:nvPr/>
        </p:nvSpPr>
        <p:spPr>
          <a:xfrm>
            <a:off x="736600" y="4165600"/>
            <a:ext cx="3086100" cy="276999"/>
          </a:xfrm>
          <a:prstGeom prst="rect">
            <a:avLst/>
          </a:prstGeom>
          <a:noFill/>
        </p:spPr>
        <p:txBody>
          <a:bodyPr vert="horz" wrap="square" lIns="0" tIns="0" rIns="0" bIns="0" rtlCol="0">
            <a:noAutofit/>
          </a:bodyPr>
          <a:lstStyle/>
          <a:p>
            <a:r>
              <a:rPr sz="1100">
                <a:solidFill>
                  <a:srgbClr val="51647A"/>
                </a:solidFill>
                <a:latin typeface="Segoe UI"/>
              </a:rPr>
              <a:t>QA SQL 2025 · test_module_nhansu_TV1 · TV1_Age_Boundaries</a:t>
            </a:r>
          </a:p>
        </p:txBody>
      </p:sp>
      <p:sp>
        <p:nvSpPr>
          <p:cNvPr id="15" name="Rectangle: Rounded Corners 14">
            <a:extLst>
              <a:ext uri="{FF2B5EF4-FFF2-40B4-BE49-F238E27FC236}">
                <a16:creationId xmlns:a16="http://schemas.microsoft.com/office/drawing/2014/main" id="{E8CBE02D-6EAC-79CB-8154-7B73B9C5479A}"/>
              </a:ext>
            </a:extLst>
          </p:cNvPr>
          <p:cNvSpPr/>
          <p:nvPr/>
        </p:nvSpPr>
        <p:spPr>
          <a:xfrm>
            <a:off x="4279900" y="2946400"/>
            <a:ext cx="7404100" cy="1549400"/>
          </a:xfrm>
          <a:prstGeom prst="roundRect">
            <a:avLst>
              <a:gd name="adj" fmla="val 10000"/>
            </a:avLst>
          </a:prstGeom>
          <a:solidFill>
            <a:srgbClr val="FFFFFF"/>
          </a:solidFill>
          <a:ln w="12700">
            <a:solidFill>
              <a:srgbClr val="DDE5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8107352B-8848-3948-A3CE-5CC20E2F6D84}"/>
              </a:ext>
            </a:extLst>
          </p:cNvPr>
          <p:cNvSpPr txBox="1"/>
          <p:nvPr/>
        </p:nvSpPr>
        <p:spPr>
          <a:xfrm>
            <a:off x="4521200" y="3149600"/>
            <a:ext cx="6934200" cy="276999"/>
          </a:xfrm>
          <a:prstGeom prst="rect">
            <a:avLst/>
          </a:prstGeom>
          <a:noFill/>
        </p:spPr>
        <p:txBody>
          <a:bodyPr vert="horz" wrap="square" lIns="0" tIns="0" rIns="0" bIns="0" rtlCol="0">
            <a:noAutofit/>
          </a:bodyPr>
          <a:lstStyle/>
          <a:p>
            <a:r>
              <a:rPr sz="1100" b="1">
                <a:solidFill>
                  <a:srgbClr val="2563EB"/>
                </a:solidFill>
                <a:latin typeface="Segoe UI"/>
              </a:rPr>
              <a:t>INDEX NHÂN SỰ · LOGICAL READS</a:t>
            </a:r>
          </a:p>
        </p:txBody>
      </p:sp>
      <p:sp>
        <p:nvSpPr>
          <p:cNvPr id="17" name="TextBox 16">
            <a:extLst>
              <a:ext uri="{FF2B5EF4-FFF2-40B4-BE49-F238E27FC236}">
                <a16:creationId xmlns:a16="http://schemas.microsoft.com/office/drawing/2014/main" id="{755F8D64-0DE9-F196-C53B-2F87353C6B68}"/>
              </a:ext>
            </a:extLst>
          </p:cNvPr>
          <p:cNvSpPr txBox="1"/>
          <p:nvPr/>
        </p:nvSpPr>
        <p:spPr>
          <a:xfrm>
            <a:off x="4521200" y="3543300"/>
            <a:ext cx="3810000" cy="276999"/>
          </a:xfrm>
          <a:prstGeom prst="rect">
            <a:avLst/>
          </a:prstGeom>
          <a:noFill/>
        </p:spPr>
        <p:txBody>
          <a:bodyPr vert="horz" wrap="square" lIns="0" tIns="0" rIns="0" bIns="0" rtlCol="0">
            <a:noAutofit/>
          </a:bodyPr>
          <a:lstStyle/>
          <a:p>
            <a:r>
              <a:rPr sz="3100" b="1">
                <a:solidFill>
                  <a:srgbClr val="102136"/>
                </a:solidFill>
                <a:latin typeface="Segoe UI"/>
              </a:rPr>
              <a:t>75  →  10</a:t>
            </a:r>
          </a:p>
        </p:txBody>
      </p:sp>
      <p:sp>
        <p:nvSpPr>
          <p:cNvPr id="18" name="TextBox 17">
            <a:extLst>
              <a:ext uri="{FF2B5EF4-FFF2-40B4-BE49-F238E27FC236}">
                <a16:creationId xmlns:a16="http://schemas.microsoft.com/office/drawing/2014/main" id="{6A4C2116-CACD-6E1D-1690-E79FA5B5689B}"/>
              </a:ext>
            </a:extLst>
          </p:cNvPr>
          <p:cNvSpPr txBox="1"/>
          <p:nvPr/>
        </p:nvSpPr>
        <p:spPr>
          <a:xfrm>
            <a:off x="8445500" y="3619500"/>
            <a:ext cx="3022600" cy="276999"/>
          </a:xfrm>
          <a:prstGeom prst="rect">
            <a:avLst/>
          </a:prstGeom>
          <a:noFill/>
        </p:spPr>
        <p:txBody>
          <a:bodyPr vert="horz" wrap="square" lIns="0" tIns="0" rIns="0" bIns="0" rtlCol="0">
            <a:noAutofit/>
          </a:bodyPr>
          <a:lstStyle/>
          <a:p>
            <a:pPr algn="r"/>
            <a:r>
              <a:rPr sz="1500">
                <a:solidFill>
                  <a:srgbClr val="51647A"/>
                </a:solidFill>
                <a:latin typeface="Segoe UI"/>
              </a:rPr>
              <a:t>Fixture 5.000 dòng</a:t>
            </a:r>
          </a:p>
        </p:txBody>
      </p:sp>
      <p:sp>
        <p:nvSpPr>
          <p:cNvPr id="19" name="TextBox 18">
            <a:extLst>
              <a:ext uri="{FF2B5EF4-FFF2-40B4-BE49-F238E27FC236}">
                <a16:creationId xmlns:a16="http://schemas.microsoft.com/office/drawing/2014/main" id="{CDB3E971-5C21-C046-5CD8-096835E8CF7F}"/>
              </a:ext>
            </a:extLst>
          </p:cNvPr>
          <p:cNvSpPr txBox="1"/>
          <p:nvPr/>
        </p:nvSpPr>
        <p:spPr>
          <a:xfrm>
            <a:off x="4521200" y="4165600"/>
            <a:ext cx="6921500" cy="276999"/>
          </a:xfrm>
          <a:prstGeom prst="rect">
            <a:avLst/>
          </a:prstGeom>
          <a:noFill/>
        </p:spPr>
        <p:txBody>
          <a:bodyPr vert="horz" wrap="square" lIns="0" tIns="0" rIns="0" bIns="0" rtlCol="0">
            <a:noAutofit/>
          </a:bodyPr>
          <a:lstStyle/>
          <a:p>
            <a:r>
              <a:rPr sz="1100">
                <a:solidFill>
                  <a:srgbClr val="51647A"/>
                </a:solidFill>
                <a:latin typeface="Segoe UI"/>
              </a:rPr>
              <a:t>Covering Seek (giảm 86.67% I/O) · Bằng chứng: log &amp; ActualPlan.sqlplan</a:t>
            </a:r>
          </a:p>
        </p:txBody>
      </p:sp>
      <p:sp>
        <p:nvSpPr>
          <p:cNvPr id="20" name="Rectangle: Rounded Corners 19">
            <a:extLst>
              <a:ext uri="{FF2B5EF4-FFF2-40B4-BE49-F238E27FC236}">
                <a16:creationId xmlns:a16="http://schemas.microsoft.com/office/drawing/2014/main" id="{65E91336-CB2C-039A-8AC8-104B53E84C25}"/>
              </a:ext>
            </a:extLst>
          </p:cNvPr>
          <p:cNvSpPr/>
          <p:nvPr/>
        </p:nvSpPr>
        <p:spPr>
          <a:xfrm>
            <a:off x="508000" y="4749800"/>
            <a:ext cx="11176000" cy="1219200"/>
          </a:xfrm>
          <a:prstGeom prst="roundRect">
            <a:avLst>
              <a:gd name="adj" fmla="val 10000"/>
            </a:avLst>
          </a:prstGeom>
          <a:solidFill>
            <a:srgbClr val="EDF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6515F07B-62EC-FC32-998A-9BF39F7DB984}"/>
              </a:ext>
            </a:extLst>
          </p:cNvPr>
          <p:cNvSpPr txBox="1"/>
          <p:nvPr/>
        </p:nvSpPr>
        <p:spPr>
          <a:xfrm>
            <a:off x="736600" y="4940300"/>
            <a:ext cx="10668000" cy="276999"/>
          </a:xfrm>
          <a:prstGeom prst="rect">
            <a:avLst/>
          </a:prstGeom>
          <a:noFill/>
        </p:spPr>
        <p:txBody>
          <a:bodyPr vert="horz" wrap="square" lIns="0" tIns="0" rIns="0" bIns="0" rtlCol="0">
            <a:noAutofit/>
          </a:bodyPr>
          <a:lstStyle/>
          <a:p>
            <a:r>
              <a:rPr sz="1100" b="1">
                <a:solidFill>
                  <a:srgbClr val="2563EB"/>
                </a:solidFill>
                <a:latin typeface="Segoe UI"/>
              </a:rPr>
              <a:t>TRANSACTION ROLLBACK &amp; RÀNG BUỘC TUỔI BIRTHDAY-AWARE</a:t>
            </a:r>
          </a:p>
        </p:txBody>
      </p:sp>
      <p:sp>
        <p:nvSpPr>
          <p:cNvPr id="22" name="TextBox 21">
            <a:extLst>
              <a:ext uri="{FF2B5EF4-FFF2-40B4-BE49-F238E27FC236}">
                <a16:creationId xmlns:a16="http://schemas.microsoft.com/office/drawing/2014/main" id="{9ED0E798-0468-3129-8E8B-18F2050F20FF}"/>
              </a:ext>
            </a:extLst>
          </p:cNvPr>
          <p:cNvSpPr txBox="1"/>
          <p:nvPr/>
        </p:nvSpPr>
        <p:spPr>
          <a:xfrm>
            <a:off x="736600" y="5308600"/>
            <a:ext cx="10629900" cy="276999"/>
          </a:xfrm>
          <a:prstGeom prst="rect">
            <a:avLst/>
          </a:prstGeom>
          <a:noFill/>
        </p:spPr>
        <p:txBody>
          <a:bodyPr vert="horz" wrap="square" lIns="0" tIns="0" rIns="0" bIns="0" rtlCol="0">
            <a:noAutofit/>
          </a:bodyPr>
          <a:lstStyle/>
          <a:p>
            <a:r>
              <a:rPr sz="1600">
                <a:solidFill>
                  <a:srgbClr val="102136"/>
                </a:solidFill>
                <a:latin typeface="Segoe UI"/>
              </a:rPr>
              <a:t>sp_ThemNhanVien: Trùng TenDangNhap → ROLLBACK sạch sẽ NHANVIEN vừa tạo, ném lỗi 50000.</a:t>
            </a:r>
          </a:p>
        </p:txBody>
      </p:sp>
      <p:sp>
        <p:nvSpPr>
          <p:cNvPr id="23" name="TextBox 22">
            <a:extLst>
              <a:ext uri="{FF2B5EF4-FFF2-40B4-BE49-F238E27FC236}">
                <a16:creationId xmlns:a16="http://schemas.microsoft.com/office/drawing/2014/main" id="{BF9D69FD-30EB-4C17-F0B1-484240D9DEFC}"/>
              </a:ext>
            </a:extLst>
          </p:cNvPr>
          <p:cNvSpPr txBox="1"/>
          <p:nvPr/>
        </p:nvSpPr>
        <p:spPr>
          <a:xfrm>
            <a:off x="736600" y="5727700"/>
            <a:ext cx="10629900" cy="276999"/>
          </a:xfrm>
          <a:prstGeom prst="rect">
            <a:avLst/>
          </a:prstGeom>
          <a:noFill/>
        </p:spPr>
        <p:txBody>
          <a:bodyPr vert="horz" wrap="square" lIns="0" tIns="0" rIns="0" bIns="0" rtlCol="0">
            <a:noAutofit/>
          </a:bodyPr>
          <a:lstStyle/>
          <a:p>
            <a:r>
              <a:rPr sz="1100">
                <a:solidFill>
                  <a:srgbClr val="51647A"/>
                </a:solidFill>
                <a:latin typeface="Segoe UI"/>
              </a:rPr>
              <a:t>Ràng buộc tuổi: NgaySinh &lt;= DATEADD(YEAR,-18,NgayVaoLam) kiểm tra sinh nhật · Trigger chặn xóa cứng.</a:t>
            </a:r>
          </a:p>
        </p:txBody>
      </p:sp>
    </p:spTree>
    <p:extLst>
      <p:ext uri="{BB962C8B-B14F-4D97-AF65-F5344CB8AC3E}">
        <p14:creationId xmlns:p14="http://schemas.microsoft.com/office/powerpoint/2010/main" val="40610114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1183</Words>
  <Application>Microsoft Office PowerPoint</Application>
  <PresentationFormat>Custom</PresentationFormat>
  <Paragraphs>62</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Segoe UI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Vinh Nguyễn</dc:creator>
  <cp:lastModifiedBy>Vinh Nguyễn</cp:lastModifiedBy>
  <cp:revision>1</cp:revision>
  <dcterms:created xsi:type="dcterms:W3CDTF">2026-10-10T12:56:53Z</dcterms:created>
  <dcterms:modified xsi:type="dcterms:W3CDTF">2026-10-10T12:56:53Z</dcterms:modified>
</cp:coreProperties>
</file>