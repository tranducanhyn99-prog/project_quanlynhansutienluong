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a70aa73dc843ab" /><Relationship Type="http://schemas.openxmlformats.org/officeDocument/2006/relationships/extended-properties" Target="/docProps/app.xml" Id="R0fe353b73dd640e2" /><Relationship Type="http://schemas.openxmlformats.org/officeDocument/2006/relationships/officeDocument" Target="/ppt/presentation.xml" Id="Rcd2df62812774264" /></Relationships>
</file>

<file path=ppt/presentation.xml><?xml version="1.0" encoding="utf-8"?>
<p:presentation xmlns:p="http://schemas.openxmlformats.org/presentationml/2006/main">
  <p:sldMasterIdLst>
    <p:sldMasterId xmlns:r="http://schemas.openxmlformats.org/officeDocument/2006/relationships" id="2147483648" r:id="Rde5c449eadcd432d"/>
  </p:sldMasterIdLst>
  <p:notesMasterIdLst>
    <p:notesMasterId xmlns:r="http://schemas.openxmlformats.org/officeDocument/2006/relationships" r:id="R7885b56d77f84bfe"/>
  </p:notesMasterIdLst>
  <p:sldIdLst>
    <p:sldId xmlns:r="http://schemas.openxmlformats.org/officeDocument/2006/relationships" id="256" r:id="R39d63f780f7f4f88"/>
    <p:sldId xmlns:r="http://schemas.openxmlformats.org/officeDocument/2006/relationships" id="257" r:id="R81b87eea164d425b"/>
    <p:sldId xmlns:r="http://schemas.openxmlformats.org/officeDocument/2006/relationships" id="258" r:id="Ref0a12f1e6314a5c"/>
    <p:sldId xmlns:r="http://schemas.openxmlformats.org/officeDocument/2006/relationships" id="259" r:id="R5a58295f4be64ec9"/>
    <p:sldId xmlns:r="http://schemas.openxmlformats.org/officeDocument/2006/relationships" id="260" r:id="Rdbab148b9f88451f"/>
    <p:sldId xmlns:r="http://schemas.openxmlformats.org/officeDocument/2006/relationships" id="261" r:id="R288526c4d90945d0"/>
    <p:sldId xmlns:r="http://schemas.openxmlformats.org/officeDocument/2006/relationships" id="262" r:id="R5dc0d5cebb9b4c0e"/>
    <p:sldId xmlns:r="http://schemas.openxmlformats.org/officeDocument/2006/relationships" id="263" r:id="R6b9da83a29ef4f2a"/>
    <p:sldId xmlns:r="http://schemas.openxmlformats.org/officeDocument/2006/relationships" id="264" r:id="R5f7bd942b319400c"/>
    <p:sldId xmlns:r="http://schemas.openxmlformats.org/officeDocument/2006/relationships" id="265" r:id="R28850fad77e349e0"/>
    <p:sldId xmlns:r="http://schemas.openxmlformats.org/officeDocument/2006/relationships" id="266" r:id="R18c2d96d54d441d6"/>
    <p:sldId xmlns:r="http://schemas.openxmlformats.org/officeDocument/2006/relationships" id="267" r:id="R4e3b7e758aa84b37"/>
    <p:sldId xmlns:r="http://schemas.openxmlformats.org/officeDocument/2006/relationships" id="268" r:id="Re2ce48e77c4b417a"/>
    <p:sldId xmlns:r="http://schemas.openxmlformats.org/officeDocument/2006/relationships" id="269" r:id="R22036a1ce78d4acc"/>
    <p:sldId xmlns:r="http://schemas.openxmlformats.org/officeDocument/2006/relationships" id="270" r:id="R982d20a8dfd847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0a5cf6cc9444d" /><Relationship Type="http://schemas.openxmlformats.org/officeDocument/2006/relationships/slideMaster" Target="/ppt/slideMasters/slideMaster1.xml" Id="Rde5c449eadcd432d" /><Relationship Type="http://schemas.openxmlformats.org/officeDocument/2006/relationships/notesMaster" Target="/ppt/notesMasters/notesMaster1.xml" Id="R7885b56d77f84bfe" /><Relationship Type="http://schemas.openxmlformats.org/officeDocument/2006/relationships/presProps" Target="/ppt/presProps.xml" Id="Rd620a1142e674ecc" /><Relationship Type="http://schemas.openxmlformats.org/officeDocument/2006/relationships/tableStyles" Target="/ppt/tableStyles.xml" Id="Rddd589ff986446a7" /><Relationship Type="http://schemas.openxmlformats.org/officeDocument/2006/relationships/slide" Target="/ppt/slides/slide1.xml" Id="R39d63f780f7f4f88" /><Relationship Type="http://schemas.openxmlformats.org/officeDocument/2006/relationships/slide" Target="/ppt/slides/slide2.xml" Id="R81b87eea164d425b" /><Relationship Type="http://schemas.openxmlformats.org/officeDocument/2006/relationships/slide" Target="/ppt/slides/slide3.xml" Id="Ref0a12f1e6314a5c" /><Relationship Type="http://schemas.openxmlformats.org/officeDocument/2006/relationships/slide" Target="/ppt/slides/slide4.xml" Id="R5a58295f4be64ec9" /><Relationship Type="http://schemas.openxmlformats.org/officeDocument/2006/relationships/slide" Target="/ppt/slides/slide5.xml" Id="Rdbab148b9f88451f" /><Relationship Type="http://schemas.openxmlformats.org/officeDocument/2006/relationships/slide" Target="/ppt/slides/slide6.xml" Id="R288526c4d90945d0" /><Relationship Type="http://schemas.openxmlformats.org/officeDocument/2006/relationships/slide" Target="/ppt/slides/slide7.xml" Id="R5dc0d5cebb9b4c0e" /><Relationship Type="http://schemas.openxmlformats.org/officeDocument/2006/relationships/slide" Target="/ppt/slides/slide8.xml" Id="R6b9da83a29ef4f2a" /><Relationship Type="http://schemas.openxmlformats.org/officeDocument/2006/relationships/slide" Target="/ppt/slides/slide9.xml" Id="R5f7bd942b319400c" /><Relationship Type="http://schemas.openxmlformats.org/officeDocument/2006/relationships/slide" Target="/ppt/slides/slide10.xml" Id="R28850fad77e349e0" /><Relationship Type="http://schemas.openxmlformats.org/officeDocument/2006/relationships/slide" Target="/ppt/slides/slide11.xml" Id="R18c2d96d54d441d6" /><Relationship Type="http://schemas.openxmlformats.org/officeDocument/2006/relationships/slide" Target="/ppt/slides/slide12.xml" Id="R4e3b7e758aa84b37" /><Relationship Type="http://schemas.openxmlformats.org/officeDocument/2006/relationships/slide" Target="/ppt/slides/slide13.xml" Id="Re2ce48e77c4b417a" /><Relationship Type="http://schemas.openxmlformats.org/officeDocument/2006/relationships/slide" Target="/ppt/slides/slide14.xml" Id="R22036a1ce78d4acc" /><Relationship Type="http://schemas.openxmlformats.org/officeDocument/2006/relationships/slide" Target="/ppt/slides/slide15.xml" Id="R982d20a8dfd847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ca93dee39d4a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6869fca50f4cbc" /><Relationship Type="http://schemas.openxmlformats.org/officeDocument/2006/relationships/notesMaster" Target="/ppt/notesMasters/notesMaster1.xml" Id="Rd7a7ef217e634d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a9dad15f4b4fb5" /><Relationship Type="http://schemas.openxmlformats.org/officeDocument/2006/relationships/notesMaster" Target="/ppt/notesMasters/notesMaster1.xml" Id="R93cfd35c2c3f41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0fefa1d2c34b86" /><Relationship Type="http://schemas.openxmlformats.org/officeDocument/2006/relationships/notesMaster" Target="/ppt/notesMasters/notesMaster1.xml" Id="R3894585eec924d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e09e3d59e34e3a" /><Relationship Type="http://schemas.openxmlformats.org/officeDocument/2006/relationships/notesMaster" Target="/ppt/notesMasters/notesMaster1.xml" Id="Ra71c74d967044d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01566b20f14de7" /><Relationship Type="http://schemas.openxmlformats.org/officeDocument/2006/relationships/notesMaster" Target="/ppt/notesMasters/notesMaster1.xml" Id="R47eb5ca818a646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d33a3d11954970" /><Relationship Type="http://schemas.openxmlformats.org/officeDocument/2006/relationships/notesMaster" Target="/ppt/notesMasters/notesMaster1.xml" Id="R2af194e70a4b44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bb05199f344080" /><Relationship Type="http://schemas.openxmlformats.org/officeDocument/2006/relationships/notesMaster" Target="/ppt/notesMasters/notesMaster1.xml" Id="Re14f0ab2e7694f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2c2a3cc4364d80" /><Relationship Type="http://schemas.openxmlformats.org/officeDocument/2006/relationships/notesMaster" Target="/ppt/notesMasters/notesMaster1.xml" Id="Rc930952c3b8345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370768406c45b5" /><Relationship Type="http://schemas.openxmlformats.org/officeDocument/2006/relationships/notesMaster" Target="/ppt/notesMasters/notesMaster1.xml" Id="R6673f29f8acd4a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b3a06de7e344c2" /><Relationship Type="http://schemas.openxmlformats.org/officeDocument/2006/relationships/notesMaster" Target="/ppt/notesMasters/notesMaster1.xml" Id="R75e3e4cee91642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afa5a37caa40f8" /><Relationship Type="http://schemas.openxmlformats.org/officeDocument/2006/relationships/notesMaster" Target="/ppt/notesMasters/notesMaster1.xml" Id="Rab2e5d64f4b647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3aa56bd0f54470" /><Relationship Type="http://schemas.openxmlformats.org/officeDocument/2006/relationships/notesMaster" Target="/ppt/notesMasters/notesMaster1.xml" Id="R00118f4ebee841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2fe0ef4ebe40f0" /><Relationship Type="http://schemas.openxmlformats.org/officeDocument/2006/relationships/notesMaster" Target="/ppt/notesMasters/notesMaster1.xml" Id="R2e3bd8d891a649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05d5bb1ce242b5" /><Relationship Type="http://schemas.openxmlformats.org/officeDocument/2006/relationships/notesMaster" Target="/ppt/notesMasters/notesMaster1.xml" Id="R14cbc23af5ac46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403e059bb642cf" /><Relationship Type="http://schemas.openxmlformats.org/officeDocument/2006/relationships/notesMaster" Target="/ppt/notesMasters/notesMaster1.xml" Id="R3efde37f757e40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Trí giới thiệu bài toán và phạm vi nhóm: SQL Server lưu quy tắc, transaction và phân quyền; Java Swing hiển thị và gọi DAO qua JDBC. Năm thành viên có ba slide mỗi người. Sau 10 phút trình bày, demo nối tiếp 5 phút. Công thức cộng/trừ các khoản nhập sẵn, chưa có bộ tự tính thuế/BHXH. Hình thức demo thống nhất 10/2026, không yêu cầu thêm demo tháng 9.</a:t>
            </a:r>
          </a:p>
          <a:p xmlns:a="http://schemas.openxmlformats.org/drawingml/2006/main">
            <a:r>
              <a:t>Nguồn: docs/TV1_Huong_Dan_Thuyet_Trinh.md, phân công docs/Ke_hoach_phan_cong_Project_DBMS_Nhom06.md. Mốc nói: 00:00–02:00.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cuối trong Word có 10 bảng, bao gồm LICHSULUONG. Không dùng hình cũ 9 bảng. Khóa chính định danh, FK giữ liên kết, UNIQUE giữ kỳ và chi tiết. Các bảng nguồn tách theo thực thể. CHITIETBANGLUONG lưu mức lương dùng khi tính để bảo toàn lịch sử; sự lặp có chủ đích này cần giải thích cùng 3NF, không tuyên bố mọi cột đều không dư thừa. Nguồn hình: build/report-work/erd.png, ảnh ERD dùng trong Word nhóm.</a:t>
            </a:r>
          </a:p>
          <a:p xmlns:a="http://schemas.openxmlformats.org/drawingml/2006/main">
            <a:r>
              <a:t>Nguồn: docs/TV1_Huong_Dan_Thuyet_Trinh.md, phân công docs/Ke_hoach_phan_cong_Project_DBMS_Nhom06.md. Mốc nói: 00:00–02:00.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TV1 sở hữu schema, SP hồ sơ, function ngày công và index nhân sự. CHECK tuổi vừa sửa trong create-schema: NgaySinh &lt;= DATEADD(YEAR,-18,NgayVaoLam); không tự đổi constraint trên database cũ. Test TV1_Age_Boundaries.sql kiểm 9 ca/18 thao tác, trước/đúng/sau sinh nhật và Feb29, rollback profile. Java dùng Period. Benchmark TV1 75 xuống 10 là lượt lịch sử trên fixture 5.000 dòng, không gán ngày mới. Function ngày công thuộc TV1 dù nằm module02; payroll trực tiếp COUNT công.</a:t>
            </a:r>
          </a:p>
          <a:p xmlns:a="http://schemas.openxmlformats.org/drawingml/2006/main">
            <a:r>
              <a:t>Nguồn: docs/TV1_Huong_Dan_Thuyet_Trinh.md, phân công docs/Ke_hoach_phan_cong_Project_DBMS_Nhom06.md. Mốc nói: 00:00–02:00.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Quân sở hữu CHAMCONG: UNIQUE MaNV/NgayChamCong, FK, giờ vào/ra hợp lệ và trạng thái. Nguồn database/02_Module_ChamCong_TV2.sql. Hai trigger kiểm nhân viên/giờ và kỳ lương chốt, bảo vệ cả inserted/deleted. Đừng gán toàn bộ trigger nằm module05 cho TV5 nếu phân công TV2.</a:t>
            </a:r>
          </a:p>
          <a:p xmlns:a="http://schemas.openxmlformats.org/drawingml/2006/main">
            <a:r>
              <a:t>Nguồn: docs/TV2_Huong_Dan_Thuyet_Trinh.md, phân công docs/Ke_hoach_phan_cong_Project_DBMS_Nhom06.md. Mốc nói: 02:00–04:00.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sp_GhiNhanChamCong thực hiện kiểm tra/ghi từng dòng. Java DAO mở một transaction trên cùng connection cho toàn batch, lỗi một dòng rollback batch. Không tuyên bố SP có TRY/CATCH riêng nếu source không có. SQL log TV2 21 PASS/0 FAIL là kiểm SQL, không tự chứng minh GUI batch. fn_TongPhuCap thuộc TV2 theo phân công, nằm module03; payroll đọc function này. Dynamic SQL đọc các function nằm caller TV4.</a:t>
            </a:r>
          </a:p>
          <a:p xmlns:a="http://schemas.openxmlformats.org/drawingml/2006/main">
            <a:r>
              <a:t>Nguồn: docs/TV2_Huong_Dan_Thuyet_Trinh.md, phân công docs/Ke_hoach_phan_cong_Project_DBMS_Nhom06.md. Mốc nói: 02:00–04:00.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canonical PR44 TV2 run_20261013_140800 và TV5_Proposed_Corrections_v3.md. SQL17.0.1000.7, QA riêng, 30.000 dòng tạm; 273 detail/9 aggregate, full CSV bằng nhau. Baseline seek+lookup, after covering seek không lookup. Messages574/5 khác tổng operator XML522/5; nguyên nhân chênh chưa xác định, không ghép số. Messages CPU/elapsed15/31 sang0/2ms. XML detail0/0 sang0/0, aggregate1/1 sang0/0. Messages thiếu thời gian tổng hợp cuối. Một lượt, hints, warm cache; không suy rộng latency toàn app.</a:t>
            </a:r>
          </a:p>
          <a:p xmlns:a="http://schemas.openxmlformats.org/drawingml/2006/main">
            <a:r>
              <a:t>Nguồn: docs/TV2_Huong_Dan_Thuyet_Trinh.md, phân công docs/Ke_hoach_phan_cong_Project_DBMS_Nhom06.md. Mốc nói: 02:00–04:00.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Đạt phụ trách hai bảng khoản phát sinh và các constraint. Tháng1–12, năm&gt;=2020, SoTien&gt;=0, FK nhân viên. Không có UNIQUE tên khoản/nhân viên/kỳ, nhiều khoản cùng tên có thể hợp lệ; không trình bày chống trùng chưa cài. Nguồn module03.</a:t>
            </a:r>
          </a:p>
          <a:p xmlns:a="http://schemas.openxmlformats.org/drawingml/2006/main">
            <a:r>
              <a:t>Nguồn: docs/TV3_Huong_Dan_Thuyet_Trinh.md, phân công docs/Ke_hoach_phan_cong_Project_DBMS_Nhom06.md. Mốc nói: 04:00–06:00.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fn_TongKhauTru, vw_TongPhuCapThang thuộc TV3. Trigger phụ cấp bảo vệ kỳ chốt có thể nằm module05 nhưng ownership theo phân công. sp_XoaKyLuongChuaChot khóa header, kiểm CHUA_CHOT rồi xóa chi tiết trước header trong transaction, lỗi rollback. Admin/Payroll được xóa kỳ, HR không. Index IX_PHUCAP_MaNV_ThangNam include SoTien.</a:t>
            </a:r>
          </a:p>
          <a:p xmlns:a="http://schemas.openxmlformats.org/drawingml/2006/main">
            <a:r>
              <a:t>Nguồn: docs/TV3_Huong_Dan_Thuyet_Trinh.md, phân công docs/Ke_hoach_phan_cong_Project_DBMS_Nhom06.md. Mốc nói: 04:00–06:00.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panel PhuCapKhauTruPanel gọi service/DAO và SP phù hợp role. Chỉ SQL là lớp bảo vệ cuối. Benchmark642→2 thuộc log lịch sử08/10/2026, fixture30.000 dòng7targetsum6.300.000, hints ép scan/seek. Không lấy timestamp mới của package làm ngày đo. PR43 notes có P2 cũ nên deck này dùng guide/source đúng Đạt. Evidence nguyên bản giữ riêng.</a:t>
            </a:r>
          </a:p>
          <a:p xmlns:a="http://schemas.openxmlformats.org/drawingml/2006/main">
            <a:r>
              <a:t>Nguồn: docs/TV3_Huong_Dan_Thuyet_Trinh.md, phân công docs/Ke_hoach_phan_cong_Project_DBMS_Nhom06.md. Mốc nói: 04:00–06:00.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Vinh trình bày fn_TinhTienCong: lương cơ bản chia công chuẩn nhân công thực tế, DECIMAL làm tròn hai chữ số. sp_TinhBangLuongThang đếm công có mặt, đi trễ và về sớm trực tiếp. fn_TinhThucNhan thuộc TV5 cộng tiền công và phụ cấp, trừ khấu trừ, NULL là0 và có thể âm. Demo QA10/2026: A có lương26 triệu, chuẩn26 công, một công thực tế, phụ cấp730.000 và khấu trừ1 triệu, thực nhận730.000đ. B nhận0đ. QA bổ sung riêng dùng1.230.000, không trộn với fixture demo.</a:t>
            </a:r>
          </a:p>
          <a:p xmlns:a="http://schemas.openxmlformats.org/drawingml/2006/main">
            <a:r>
              <a:t>Nguồn: docs/TV4_Huong_Dan_Thuyet_Trinh.md, phân công docs/Ke_hoach_phan_cong_Project_DBMS_Nhom06.md. Mốc nói: 06:00–08:00.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 TV4 ưu tiên mức đã lưu khi tính lại kỳ quá khứ, tiếp đến lịch sử hiệu lực rồi mức hiện tại. Không tự phục hồi dữ liệu lịch sử đã mất trước migration. SP giữ khóa UPDLOCK/HOLDLOCK trên header và khóa nguồn. Nháp giữ MaBangLuong, xóa và ghi lại chi tiết trong cùng transaction. OUTPUT trả NULL khi lỗi. Khi caller đã mở transaction, SP dùng savepoint, không tự commit caller. Transaction không còn khả năng commit cần caller xử lý.</a:t>
            </a:r>
          </a:p>
          <a:p xmlns:a="http://schemas.openxmlformats.org/drawingml/2006/main">
            <a:r>
              <a:t>Nguồn: docs/TV4_Huong_Dan_Thuyet_Trinh.md, phân công docs/Ke_hoach_phan_cong_Project_DBMS_Nhom06.md. Mốc nói: 06:00–08:00.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Panel gọi PayrollService và BangLuongDAO, DAO dùng CallableStatement nhận OUTPUT MaBangLuong. Bộ E2E kiểm10/10 ca. Evidence nhận PR41 chạy10/10/2026 trên SQL Server2022: benchmark547 xuống4 reads,30.000 dòng tạm,128 kết quả và tổng133.356. Concurrency21.072ms thuộc lượt TV4 này. Bộ lịch sử07/10 có B chờ20.631ms là lượt khác, không đổi ngày hoặc trộn số. Benchmark dùng hint và fixture kiểm thử.</a:t>
            </a:r>
          </a:p>
          <a:p xmlns:a="http://schemas.openxmlformats.org/drawingml/2006/main">
            <a:r>
              <a:t>Nguồn: docs/TV4_Huong_Dan_Thuyet_Trinh.md, phân công docs/Ke_hoach_phan_cong_Project_DBMS_Nhom06.md. Mốc nói: 06:00–08:00.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Đức Anh giải thích SQL login, user, role và profile theo ORIGINAL_LOGIN(). Java kiểm PBKDF2 và trạng thái trước khi tạo Session. SQL DENY bảng gốc, GRANT SP và view theo role. View Employee lọc login SQL thực, Session giả không vượt được quyền SQL. DBAdmin là db_owner, quyền ALTER LOGIN ở server cần cấp riêng. Nguồn: module05, AuthService, DatabaseConnection.</a:t>
            </a:r>
          </a:p>
          <a:p xmlns:a="http://schemas.openxmlformats.org/drawingml/2006/main">
            <a:r>
              <a:t>Nguồn: docs/TV5_Huong_Dan_Thuyet_Trinh.md, phân công docs/Ke_hoach_phan_cong_Project_DBMS_Nhom06.md. Mốc nói: 08:00–10:00.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sp_ChotBangLuong thuộc TV5, dùng transaction, TRY/CATCH và UPDLOCK/HOLDLOCK header. Kỳ phải tồn tại, chưa chốt và có chi tiết trước khi ghi DA_CHOT và NgayChot. Trigger kiểm inserted/deleted để bảo vệ thêm, sửa, xóa, chuyển kỳ và nguồn đã chốt. sp_HuyChotBangLuong thuộc TV4 mở lại trước điều chỉnh. fn_TinhThucNhan thuộc TV5 đã thống nhất DECIMAL(18,2). Chín ca function, ba ca overflow và kiểm lưu/rollback tiền lớn đã PASS. Overflow báo lỗi, không cắt số. Benchmark TV5 mới ngày13/10 dùng 10.000 dòng tạm, 833 kết quả và 126 xuống13 reads. Số142 xuống15 thuộc lượt lịch sử khác.</a:t>
            </a:r>
          </a:p>
          <a:p xmlns:a="http://schemas.openxmlformats.org/drawingml/2006/main">
            <a:r>
              <a:t>Nguồn: docs/TV5_Huong_Dan_Thuyet_Trinh.md, phân công docs/Ke_hoach_phan_cong_Project_DBMS_Nhom06.md. Mốc nói: 08:00–10:00.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suite Java offline: 88 GuiQa, 104 Security, 45 LightTheme, 20 LoginChip, tổng257 assertions PASS. GuiQa có ca tuổi và điện thoại mới, ba suite khác giữ kết quả còn áp dụng. Tách riêng bộ SQL identity và live GUI. Benchmark TV5 lượt20261013_145645_6808c29e có126 xuống13 reads, fixture10.000/833 dòng, Results đầy đủ, EXCEPT, hai actual plans và cleanup. SQL E2E10 ca và bốn race nguồn PASS ngày13/10. Live GUI13/10 dùng QA riêng, kiểm role, khóa/reset login và cắt kết nối bằng relay riêng. Kiểm dữ liệu SQL trước khi thử lại thao tác ghi. Ảnh Swing render không phải kiểm Windows DPI bằng tay. Demo A730.000đ/B0đ dùng fixture09/10 tham chiếu, chưa tập dượt chung15phút. Kết thúc mở lại CHUA_CHOT/NgayChotNULL. Chưa kiểm máy Windows khác, chưa tự tính thuế/BHXH. Lượt concurrency lịch sử20.631ms là chờ khóa có chủ đích, không là benchmark tốc độ.</a:t>
            </a:r>
          </a:p>
          <a:p xmlns:a="http://schemas.openxmlformats.org/drawingml/2006/main">
            <a:r>
              <a:t>Nguồn: docs/TV5_Huong_Dan_Thuyet_Trinh.md, phân công docs/Ke_hoach_phan_cong_Project_DBMS_Nhom06.md. Mốc nói: 08:00–10:00.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903cca27f941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d0390a4cea40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a6f8c901c04e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38078f218041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d7bac8928042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768b8aa0dc4d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87363F-A5EF-48E4-AFC7-E9E238FDF0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F7C4F0-81A4-4F21-B12A-A8153BFF71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2B9789-B339-45EE-AE7E-9ADCE7C5BC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66E9B3-9211-4A72-B74A-C998E71204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E80063-E875-4578-A072-5CB997B7AB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65EB54-3C39-41EF-BBAC-4686F70BF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1058D8-FE7F-4E8F-ABA9-20D1E2D275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DB1CD7-3E16-4F60-9A22-D2CC1838B9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133A1B-2DC1-44E8-BD06-BCF71013FE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6C396E-4C29-4D96-8A7A-D1A8AD7454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c325adeeb24e31" /><Relationship Type="http://schemas.openxmlformats.org/officeDocument/2006/relationships/slideLayout" Target="/ppt/slideLayouts/slideLayout1.xml" Id="Ra096c6dce41045fe" /><Relationship Type="http://schemas.openxmlformats.org/officeDocument/2006/relationships/slideLayout" Target="/ppt/slideLayouts/slideLayout2.xml" Id="R976d816cacd54c09" /><Relationship Type="http://schemas.openxmlformats.org/officeDocument/2006/relationships/slideLayout" Target="/ppt/slideLayouts/slideLayout3.xml" Id="R5912c253b15f4744" /><Relationship Type="http://schemas.openxmlformats.org/officeDocument/2006/relationships/slideLayout" Target="/ppt/slideLayouts/slideLayout4.xml" Id="Rc5fbca7d63304d26" /><Relationship Type="http://schemas.openxmlformats.org/officeDocument/2006/relationships/slideLayout" Target="/ppt/slideLayouts/slideLayout5.xml" Id="Rb6d889e38e704ee8" /><Relationship Type="http://schemas.openxmlformats.org/officeDocument/2006/relationships/slideLayout" Target="/ppt/slideLayouts/slideLayout6.xml" Id="Rbf6ab10e82db4d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96c6dce41045fe"/>
    <p:sldLayoutId xmlns:r="http://schemas.openxmlformats.org/officeDocument/2006/relationships" id="2147483650" r:id="R976d816cacd54c09"/>
    <p:sldLayoutId xmlns:r="http://schemas.openxmlformats.org/officeDocument/2006/relationships" id="2147483651" r:id="R5912c253b15f4744"/>
    <p:sldLayoutId xmlns:r="http://schemas.openxmlformats.org/officeDocument/2006/relationships" id="2147483652" r:id="Rc5fbca7d63304d26"/>
    <p:sldLayoutId xmlns:r="http://schemas.openxmlformats.org/officeDocument/2006/relationships" id="2147483653" r:id="Rb6d889e38e704ee8"/>
    <p:sldLayoutId xmlns:r="http://schemas.openxmlformats.org/officeDocument/2006/relationships" id="2147483654" r:id="Rbf6ab10e82db4d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bbc05d848a44a7" /><Relationship Type="http://schemas.openxmlformats.org/officeDocument/2006/relationships/notesSlide" Target="/ppt/notesSlides/notesSlide1.xml" Id="R37c2c6ed141442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d66f0cd7b34361" /><Relationship Type="http://schemas.openxmlformats.org/officeDocument/2006/relationships/image" Target="/ppt/media/image.png" Id="Ra22b345160034b79" /><Relationship Type="http://schemas.openxmlformats.org/officeDocument/2006/relationships/notesSlide" Target="/ppt/notesSlides/notesSlide2.xml" Id="R096c2287925e41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de9c0b30f34295" /><Relationship Type="http://schemas.openxmlformats.org/officeDocument/2006/relationships/notesSlide" Target="/ppt/notesSlides/notesSlide3.xml" Id="R570c951105f04d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f6fe37420647bd" /><Relationship Type="http://schemas.openxmlformats.org/officeDocument/2006/relationships/notesSlide" Target="/ppt/notesSlides/notesSlide4.xml" Id="R6b4b48d25f9c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d053d5b2264540" /><Relationship Type="http://schemas.openxmlformats.org/officeDocument/2006/relationships/notesSlide" Target="/ppt/notesSlides/notesSlide5.xml" Id="R794f897dad5141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a058b0c8f54dac" /><Relationship Type="http://schemas.openxmlformats.org/officeDocument/2006/relationships/notesSlide" Target="/ppt/notesSlides/notesSlide6.xml" Id="Rcb143f4386b342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51e0d871d0409c" /><Relationship Type="http://schemas.openxmlformats.org/officeDocument/2006/relationships/notesSlide" Target="/ppt/notesSlides/notesSlide7.xml" Id="Rd5076b90e04943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c8f965d44f4242" /><Relationship Type="http://schemas.openxmlformats.org/officeDocument/2006/relationships/notesSlide" Target="/ppt/notesSlides/notesSlide8.xml" Id="R52d4be6a07d346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1b409221a54bb6" /><Relationship Type="http://schemas.openxmlformats.org/officeDocument/2006/relationships/notesSlide" Target="/ppt/notesSlides/notesSlide9.xml" Id="R5baed19691f848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fcba3f8980407f" /><Relationship Type="http://schemas.openxmlformats.org/officeDocument/2006/relationships/notesSlide" Target="/ppt/notesSlides/notesSlide10.xml" Id="R9c6dee94355f41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6463a149f043fb" /><Relationship Type="http://schemas.openxmlformats.org/officeDocument/2006/relationships/notesSlide" Target="/ppt/notesSlides/notesSlide11.xml" Id="R3a1228787b0c43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da843b0130440b3" /><Relationship Type="http://schemas.openxmlformats.org/officeDocument/2006/relationships/notesSlide" Target="/ppt/notesSlides/notesSlide12.xml" Id="R452f5518755a42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d13285e3d8f48e6" /><Relationship Type="http://schemas.openxmlformats.org/officeDocument/2006/relationships/notesSlide" Target="/ppt/notesSlides/notesSlide13.xml" Id="R50752c2da85749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58844f757cc4169" /><Relationship Type="http://schemas.openxmlformats.org/officeDocument/2006/relationships/notesSlide" Target="/ppt/notesSlides/notesSlide14.xml" Id="R8ca3fd29f20d40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d6835af9a34438b" /><Relationship Type="http://schemas.openxmlformats.org/officeDocument/2006/relationships/notesSlide" Target="/ppt/notesSlides/notesSlide15.xml" Id="R7d51b8e9fe274c69"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84F0B7-F084-4CB0-860B-1E54509AC76C}"/>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Quản lý nhân sự và tiền lương</a:t>
            </a:r>
          </a:p>
        </p:txBody>
      </p:sp>
      <p:sp>
        <p:nvSpPr>
          <p:cNvPr id="2" name="">
            <a:extLst xmlns:a="http://schemas.openxmlformats.org/drawingml/2006/main">
              <a:ext uri="{FF2B5EF4-FFF2-40B4-BE49-F238E27FC236}">
                <a16:creationId xmlns:a16="http://schemas.microsoft.com/office/drawing/2014/main" id="{4BAB165E-3585-423E-936B-75AE10A170E0}"/>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TV1  Nguyễn Minh Trí  24110359</a:t>
            </a:r>
          </a:p>
        </p:txBody>
      </p:sp>
      <p:sp>
        <p:nvSpPr>
          <p:cNvPr id="3" name="">
            <a:extLst xmlns:a="http://schemas.openxmlformats.org/drawingml/2006/main">
              <a:ext uri="{FF2B5EF4-FFF2-40B4-BE49-F238E27FC236}">
                <a16:creationId xmlns:a16="http://schemas.microsoft.com/office/drawing/2014/main" id="{49E83291-9AB1-41C3-A8B7-26DB51EEEC6A}"/>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a:t>
            </a:r>
          </a:p>
        </p:txBody>
      </p:sp>
      <p:sp>
        <p:nvSpPr>
          <p:cNvPr id="4" name="">
            <a:extLst xmlns:a="http://schemas.openxmlformats.org/drawingml/2006/main">
              <a:ext uri="{FF2B5EF4-FFF2-40B4-BE49-F238E27FC236}">
                <a16:creationId xmlns:a16="http://schemas.microsoft.com/office/drawing/2014/main" id="{1C41FF4E-CF38-41BB-B1BB-8C4589F80F67}"/>
              </a:ext>
            </a:extLst>
          </p:cNvPr>
          <p:cNvSpPr>
            <a:spLocks xmlns:a="http://schemas.openxmlformats.org/drawingml/2006/main" noGrp="1"/>
          </p:cNvSpPr>
          <p:nvPr/>
        </p:nvSpPr>
        <p:spPr>
          <a:xfrm xmlns:a="http://schemas.openxmlformats.org/drawingml/2006/main">
            <a:off x="609600" y="1524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4F46E5"/>
                </a:solidFill>
                <a:latin typeface="Segoe UI"/>
                <a:ea typeface="Segoe UI"/>
                <a:cs typeface="Segoe UI"/>
              </a:defRPr>
            </a:defPPr>
          </a:lstStyle>
          <a:p xmlns:a="http://schemas.openxmlformats.org/drawingml/2006/main">
            <a:pPr>
              <a:defRPr sz="2400" b="1">
                <a:solidFill>
                  <a:srgbClr val="4F46E5"/>
                </a:solidFill>
                <a:latin typeface="Segoe UI"/>
                <a:ea typeface="Segoe UI"/>
                <a:cs typeface="Segoe UI"/>
              </a:defRPr>
            </a:pPr>
            <a:r>
              <a:rPr sz="2400" b="1">
                <a:solidFill>
                  <a:srgbClr val="4F46E5"/>
                </a:solidFill>
                <a:latin typeface="Segoe UI"/>
                <a:ea typeface="Segoe UI"/>
                <a:cs typeface="Segoe UI"/>
              </a:rPr>
              <a:t>Nhóm 06  ·  DBMS330284</a:t>
            </a:r>
          </a:p>
        </p:txBody>
      </p:sp>
      <p:sp>
        <p:nvSpPr>
          <p:cNvPr id="5" name="">
            <a:extLst xmlns:a="http://schemas.openxmlformats.org/drawingml/2006/main">
              <a:ext uri="{FF2B5EF4-FFF2-40B4-BE49-F238E27FC236}">
                <a16:creationId xmlns:a16="http://schemas.microsoft.com/office/drawing/2014/main" id="{432FAFF0-2E65-48FE-AE17-C2682B4EF29D}"/>
              </a:ext>
            </a:extLst>
          </p:cNvPr>
          <p:cNvSpPr>
            <a:spLocks xmlns:a="http://schemas.openxmlformats.org/drawingml/2006/main" noGrp="1"/>
          </p:cNvSpPr>
          <p:nvPr/>
        </p:nvSpPr>
        <p:spPr>
          <a:xfrm xmlns:a="http://schemas.openxmlformats.org/drawingml/2006/main">
            <a:off x="609600" y="2362200"/>
            <a:ext cx="10972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243B"/>
                </a:solidFill>
                <a:latin typeface="Segoe UI"/>
                <a:ea typeface="Segoe UI"/>
                <a:cs typeface="Segoe UI"/>
              </a:defRPr>
            </a:defPPr>
          </a:lstStyle>
          <a:p xmlns:a="http://schemas.openxmlformats.org/drawingml/2006/main">
            <a:pPr>
              <a:defRPr sz="2550" b="0">
                <a:solidFill>
                  <a:srgbClr val="17243B"/>
                </a:solidFill>
                <a:latin typeface="Segoe UI"/>
                <a:ea typeface="Segoe UI"/>
                <a:cs typeface="Segoe UI"/>
              </a:defRPr>
            </a:pPr>
            <a:r>
              <a:rPr sz="2550" b="0">
                <a:solidFill>
                  <a:srgbClr val="17243B"/>
                </a:solidFill>
                <a:latin typeface="Segoe UI"/>
                <a:ea typeface="Segoe UI"/>
                <a:cs typeface="Segoe UI"/>
              </a:rPr>
              <a:t>Hồ sơ và danh mục</a:t>
            </a:r>
          </a:p>
          <a:p xmlns:a="http://schemas.openxmlformats.org/drawingml/2006/main">
            <a:pPr>
              <a:defRPr sz="2550" b="0">
                <a:solidFill>
                  <a:srgbClr val="17243B"/>
                </a:solidFill>
                <a:latin typeface="Segoe UI"/>
                <a:ea typeface="Segoe UI"/>
                <a:cs typeface="Segoe UI"/>
              </a:defRPr>
            </a:pPr>
            <a:r>
              <a:rPr sz="2550" b="0">
                <a:solidFill>
                  <a:srgbClr val="17243B"/>
                </a:solidFill>
                <a:latin typeface="Segoe UI"/>
                <a:ea typeface="Segoe UI"/>
                <a:cs typeface="Segoe UI"/>
              </a:rPr>
              <a:t>Chấm công và các khoản phát sinh</a:t>
            </a:r>
          </a:p>
          <a:p xmlns:a="http://schemas.openxmlformats.org/drawingml/2006/main">
            <a:pPr>
              <a:defRPr sz="2550" b="0">
                <a:solidFill>
                  <a:srgbClr val="17243B"/>
                </a:solidFill>
                <a:latin typeface="Segoe UI"/>
                <a:ea typeface="Segoe UI"/>
                <a:cs typeface="Segoe UI"/>
              </a:defRPr>
            </a:pPr>
            <a:r>
              <a:rPr sz="2550" b="0">
                <a:solidFill>
                  <a:srgbClr val="17243B"/>
                </a:solidFill>
                <a:latin typeface="Segoe UI"/>
                <a:ea typeface="Segoe UI"/>
                <a:cs typeface="Segoe UI"/>
              </a:rPr>
              <a:t>Tính, chốt và xem phiếu lương</a:t>
            </a:r>
          </a:p>
        </p:txBody>
      </p:sp>
      <p:sp>
        <p:nvSpPr>
          <p:cNvPr id="6" name="">
            <a:extLst xmlns:a="http://schemas.openxmlformats.org/drawingml/2006/main">
              <a:ext uri="{FF2B5EF4-FFF2-40B4-BE49-F238E27FC236}">
                <a16:creationId xmlns:a16="http://schemas.microsoft.com/office/drawing/2014/main" id="{06CE1984-2300-4FEB-88E3-E8392C175277}"/>
              </a:ext>
            </a:extLst>
          </p:cNvPr>
          <p:cNvSpPr>
            <a:spLocks xmlns:a="http://schemas.openxmlformats.org/drawingml/2006/main" noGrp="1"/>
          </p:cNvSpPr>
          <p:nvPr/>
        </p:nvSpPr>
        <p:spPr>
          <a:xfrm xmlns:a="http://schemas.openxmlformats.org/drawingml/2006/main">
            <a:off x="609600" y="4667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F46E5"/>
                </a:solidFill>
                <a:latin typeface="Segoe UI"/>
                <a:ea typeface="Segoe UI"/>
                <a:cs typeface="Segoe UI"/>
              </a:defRPr>
            </a:defPPr>
          </a:lstStyle>
          <a:p xmlns:a="http://schemas.openxmlformats.org/drawingml/2006/main">
            <a:pPr>
              <a:defRPr sz="2550" b="1">
                <a:solidFill>
                  <a:srgbClr val="4F46E5"/>
                </a:solidFill>
                <a:latin typeface="Segoe UI"/>
                <a:ea typeface="Segoe UI"/>
                <a:cs typeface="Segoe UI"/>
              </a:defRPr>
            </a:pPr>
            <a:r>
              <a:rPr sz="2550" b="1">
                <a:solidFill>
                  <a:srgbClr val="4F46E5"/>
                </a:solidFill>
                <a:latin typeface="Segoe UI"/>
                <a:ea typeface="Segoe UI"/>
                <a:cs typeface="Segoe UI"/>
              </a:rPr>
              <a:t>SQL Server  +  Java Swing  +  JDBC</a:t>
            </a:r>
          </a:p>
        </p:txBody>
      </p:sp>
      <p:sp>
        <p:nvSpPr>
          <p:cNvPr id="7" name="">
            <a:extLst xmlns:a="http://schemas.openxmlformats.org/drawingml/2006/main">
              <a:ext uri="{FF2B5EF4-FFF2-40B4-BE49-F238E27FC236}">
                <a16:creationId xmlns:a16="http://schemas.microsoft.com/office/drawing/2014/main" id="{9D963CB6-8B7C-4144-AF55-4278FA5309EF}"/>
              </a:ext>
            </a:extLst>
          </p:cNvPr>
          <p:cNvSpPr>
            <a:spLocks xmlns:a="http://schemas.openxmlformats.org/drawingml/2006/main" noGrp="1"/>
          </p:cNvSpPr>
          <p:nvPr/>
        </p:nvSpPr>
        <p:spPr>
          <a:xfrm xmlns:a="http://schemas.openxmlformats.org/drawingml/2006/main">
            <a:off x="609600" y="5410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243B"/>
                </a:solidFill>
                <a:latin typeface="Segoe UI"/>
                <a:ea typeface="Segoe UI"/>
                <a:cs typeface="Segoe UI"/>
              </a:defRPr>
            </a:defPPr>
          </a:lstStyle>
          <a:p xmlns:a="http://schemas.openxmlformats.org/drawingml/2006/main">
            <a:pPr>
              <a:defRPr sz="2100" b="0">
                <a:solidFill>
                  <a:srgbClr val="17243B"/>
                </a:solidFill>
                <a:latin typeface="Segoe UI"/>
                <a:ea typeface="Segoe UI"/>
                <a:cs typeface="Segoe UI"/>
              </a:defRPr>
            </a:pPr>
            <a:r>
              <a:rPr sz="2100" b="0">
                <a:solidFill>
                  <a:srgbClr val="17243B"/>
                </a:solidFill>
                <a:latin typeface="Segoe UI"/>
                <a:ea typeface="Segoe UI"/>
                <a:cs typeface="Segoe UI"/>
              </a:rPr>
              <a:t>Demo nối tiếp 10/2026: A 730.000đ, B 0đ</a:t>
            </a:r>
          </a:p>
        </p:txBody>
      </p:sp>
    </p:spTree>
    <p:extLst>
      <p:ext uri="{BB962C8B-B14F-4D97-AF65-F5344CB8AC3E}">
        <p14:creationId xmlns:p14="http://schemas.microsoft.com/office/powerpoint/2010/main" val="538762297"/>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3CD191-82B4-48DC-9BE4-7E108B1E25C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Mô hình dữ liệu và snapshot lương</a:t>
            </a:r>
          </a:p>
        </p:txBody>
      </p:sp>
      <p:sp>
        <p:nvSpPr>
          <p:cNvPr id="2" name="">
            <a:extLst xmlns:a="http://schemas.openxmlformats.org/drawingml/2006/main">
              <a:ext uri="{FF2B5EF4-FFF2-40B4-BE49-F238E27FC236}">
                <a16:creationId xmlns:a16="http://schemas.microsoft.com/office/drawing/2014/main" id="{EA875F97-3ED3-414C-AFB2-00ABF9C2025E}"/>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TV1  Nguyễn Minh Trí  24110359</a:t>
            </a:r>
          </a:p>
        </p:txBody>
      </p:sp>
      <p:sp>
        <p:nvSpPr>
          <p:cNvPr id="3" name="">
            <a:extLst xmlns:a="http://schemas.openxmlformats.org/drawingml/2006/main">
              <a:ext uri="{FF2B5EF4-FFF2-40B4-BE49-F238E27FC236}">
                <a16:creationId xmlns:a16="http://schemas.microsoft.com/office/drawing/2014/main" id="{8BAED270-3D8E-4036-A178-290908296489}"/>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2</a:t>
            </a:r>
          </a:p>
        </p:txBody>
      </p:sp>
      <p:pic>
        <p:nvPicPr>
          <p:cNvPr id="4" name="">
            <a:extLst xmlns:a="http://schemas.openxmlformats.org/drawingml/2006/main">
              <a:ext uri="{FF2B5EF4-FFF2-40B4-BE49-F238E27FC236}">
                <a16:creationId xmlns:a16="http://schemas.microsoft.com/office/drawing/2014/main" id="{E2EFF7DE-7053-4E78-ABDA-1ABB777ECDAD}"/>
              </a:ext>
            </a:extLst>
          </p:cNvPr>
          <p:cNvPicPr>
            <a:picLocks xmlns:a="http://schemas.openxmlformats.org/drawingml/2006/main" noChangeAspect="1"/>
          </p:cNvPicPr>
          <p:nvPr/>
        </p:nvPicPr>
        <p:blipFill>
          <a:blip xmlns:r="http://schemas.openxmlformats.org/officeDocument/2006/relationships" xmlns:a="http://schemas.openxmlformats.org/drawingml/2006/main" r:embed="Ra22b345160034b79"/>
          <a:stretch xmlns:a="http://schemas.openxmlformats.org/drawingml/2006/main"/>
        </p:blipFill>
        <p:spPr>
          <a:xfrm xmlns:a="http://schemas.openxmlformats.org/drawingml/2006/main">
            <a:off x="1687116" y="1409700"/>
            <a:ext cx="5655469" cy="452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EFC54FF-07A6-4A3E-A730-E68EC30D3FC8}"/>
              </a:ext>
            </a:extLst>
          </p:cNvPr>
          <p:cNvSpPr>
            <a:spLocks xmlns:a="http://schemas.openxmlformats.org/drawingml/2006/main" noGrp="1"/>
          </p:cNvSpPr>
          <p:nvPr/>
        </p:nvSpPr>
        <p:spPr>
          <a:xfrm xmlns:a="http://schemas.openxmlformats.org/drawingml/2006/main">
            <a:off x="8743950" y="1628775"/>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F46E5"/>
                </a:solidFill>
                <a:latin typeface="Segoe UI"/>
                <a:ea typeface="Segoe UI"/>
                <a:cs typeface="Segoe UI"/>
              </a:defRPr>
            </a:defPPr>
          </a:lstStyle>
          <a:p xmlns:a="http://schemas.openxmlformats.org/drawingml/2006/main">
            <a:pPr>
              <a:defRPr sz="2550" b="1">
                <a:solidFill>
                  <a:srgbClr val="4F46E5"/>
                </a:solidFill>
                <a:latin typeface="Segoe UI"/>
                <a:ea typeface="Segoe UI"/>
                <a:cs typeface="Segoe UI"/>
              </a:defRPr>
            </a:pPr>
            <a:r>
              <a:rPr sz="2550" b="1">
                <a:solidFill>
                  <a:srgbClr val="4F46E5"/>
                </a:solidFill>
                <a:latin typeface="Segoe UI"/>
                <a:ea typeface="Segoe UI"/>
                <a:cs typeface="Segoe UI"/>
              </a:rPr>
              <a:t>10 bảng</a:t>
            </a:r>
          </a:p>
        </p:txBody>
      </p:sp>
      <p:sp>
        <p:nvSpPr>
          <p:cNvPr id="6" name="">
            <a:extLst xmlns:a="http://schemas.openxmlformats.org/drawingml/2006/main">
              <a:ext uri="{FF2B5EF4-FFF2-40B4-BE49-F238E27FC236}">
                <a16:creationId xmlns:a16="http://schemas.microsoft.com/office/drawing/2014/main" id="{0F0E9566-49B7-4B9D-A8A2-C4BE92CBA12D}"/>
              </a:ext>
            </a:extLst>
          </p:cNvPr>
          <p:cNvSpPr>
            <a:spLocks xmlns:a="http://schemas.openxmlformats.org/drawingml/2006/main" noGrp="1"/>
          </p:cNvSpPr>
          <p:nvPr/>
        </p:nvSpPr>
        <p:spPr>
          <a:xfrm xmlns:a="http://schemas.openxmlformats.org/drawingml/2006/main">
            <a:off x="8743950" y="2276475"/>
            <a:ext cx="28384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7243B"/>
                </a:solidFill>
                <a:latin typeface="Segoe UI"/>
                <a:ea typeface="Segoe UI"/>
                <a:cs typeface="Segoe UI"/>
              </a:defRPr>
            </a:defPPr>
          </a:lstStyle>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PK / FK / UNIQUE</a:t>
            </a:r>
          </a:p>
          <a:p xmlns:a="http://schemas.openxmlformats.org/drawingml/2006/main">
            <a:r>
              <a:t/>
            </a:r>
          </a:p>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Nguồn nghiệp vụ</a:t>
            </a:r>
          </a:p>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tách riêng</a:t>
            </a:r>
          </a:p>
          <a:p xmlns:a="http://schemas.openxmlformats.org/drawingml/2006/main">
            <a:r>
              <a:t/>
            </a:r>
          </a:p>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Snapshot giữ</a:t>
            </a:r>
          </a:p>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mức lương kỳ cũ</a:t>
            </a:r>
          </a:p>
        </p:txBody>
      </p:sp>
    </p:spTree>
    <p:extLst>
      <p:ext uri="{BB962C8B-B14F-4D97-AF65-F5344CB8AC3E}">
        <p14:creationId xmlns:p14="http://schemas.microsoft.com/office/powerpoint/2010/main" val="1600914155"/>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AF22FA-069A-46A6-BAF8-B1E4469442C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Ràng buộc nhân viên và transaction hồ sơ</a:t>
            </a:r>
          </a:p>
        </p:txBody>
      </p:sp>
      <p:sp>
        <p:nvSpPr>
          <p:cNvPr id="2" name="">
            <a:extLst xmlns:a="http://schemas.openxmlformats.org/drawingml/2006/main">
              <a:ext uri="{FF2B5EF4-FFF2-40B4-BE49-F238E27FC236}">
                <a16:creationId xmlns:a16="http://schemas.microsoft.com/office/drawing/2014/main" id="{4B904B4E-68DB-4838-9060-96ADE2089E16}"/>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TV1  Nguyễn Minh Trí  24110359</a:t>
            </a:r>
          </a:p>
        </p:txBody>
      </p:sp>
      <p:sp>
        <p:nvSpPr>
          <p:cNvPr id="3" name="">
            <a:extLst xmlns:a="http://schemas.openxmlformats.org/drawingml/2006/main">
              <a:ext uri="{FF2B5EF4-FFF2-40B4-BE49-F238E27FC236}">
                <a16:creationId xmlns:a16="http://schemas.microsoft.com/office/drawing/2014/main" id="{A37C4E78-4937-4AE5-BF79-FF03A79D337A}"/>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3</a:t>
            </a:r>
          </a:p>
        </p:txBody>
      </p:sp>
      <p:sp>
        <p:nvSpPr>
          <p:cNvPr id="4" name="">
            <a:extLst xmlns:a="http://schemas.openxmlformats.org/drawingml/2006/main">
              <a:ext uri="{FF2B5EF4-FFF2-40B4-BE49-F238E27FC236}">
                <a16:creationId xmlns:a16="http://schemas.microsoft.com/office/drawing/2014/main" id="{CF9F7030-1146-40D3-AEEE-20C68B39C232}"/>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Khóa và kiểm tra dữ liệu</a:t>
            </a:r>
          </a:p>
        </p:txBody>
      </p:sp>
      <p:sp>
        <p:nvSpPr>
          <p:cNvPr id="5" name="">
            <a:extLst xmlns:a="http://schemas.openxmlformats.org/drawingml/2006/main">
              <a:ext uri="{FF2B5EF4-FFF2-40B4-BE49-F238E27FC236}">
                <a16:creationId xmlns:a16="http://schemas.microsoft.com/office/drawing/2014/main" id="{95840D2E-067E-49D1-A45E-6331F7A5D316}"/>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FK danh mục, email duy nhất, lương không âm, đủ 18 tuổi theo ngày</a:t>
            </a:r>
          </a:p>
        </p:txBody>
      </p:sp>
      <p:sp>
        <p:nvSpPr>
          <p:cNvPr id="6" name="">
            <a:extLst xmlns:a="http://schemas.openxmlformats.org/drawingml/2006/main">
              <a:ext uri="{FF2B5EF4-FFF2-40B4-BE49-F238E27FC236}">
                <a16:creationId xmlns:a16="http://schemas.microsoft.com/office/drawing/2014/main" id="{5BF89338-CDB7-4F4D-BA0C-3E24FE6FDC8C}"/>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Hồ sơ và tài khoản</a:t>
            </a:r>
          </a:p>
        </p:txBody>
      </p:sp>
      <p:sp>
        <p:nvSpPr>
          <p:cNvPr id="7" name="">
            <a:extLst xmlns:a="http://schemas.openxmlformats.org/drawingml/2006/main">
              <a:ext uri="{FF2B5EF4-FFF2-40B4-BE49-F238E27FC236}">
                <a16:creationId xmlns:a16="http://schemas.microsoft.com/office/drawing/2014/main" id="{55E5B196-50B3-429E-B30A-EA41815236D8}"/>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Stored procedure ghi cùng transaction, lỗi rollback cả hai phần</a:t>
            </a:r>
          </a:p>
        </p:txBody>
      </p:sp>
      <p:sp>
        <p:nvSpPr>
          <p:cNvPr id="8" name="">
            <a:extLst xmlns:a="http://schemas.openxmlformats.org/drawingml/2006/main">
              <a:ext uri="{FF2B5EF4-FFF2-40B4-BE49-F238E27FC236}">
                <a16:creationId xmlns:a16="http://schemas.microsoft.com/office/drawing/2014/main" id="{10083270-8A91-4ADD-AAF7-42859A62F234}"/>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Index nhân sự</a:t>
            </a:r>
          </a:p>
        </p:txBody>
      </p:sp>
      <p:sp>
        <p:nvSpPr>
          <p:cNvPr id="9" name="">
            <a:extLst xmlns:a="http://schemas.openxmlformats.org/drawingml/2006/main">
              <a:ext uri="{FF2B5EF4-FFF2-40B4-BE49-F238E27FC236}">
                <a16:creationId xmlns:a16="http://schemas.microsoft.com/office/drawing/2014/main" id="{7018AAFE-7741-4E98-B5DE-9D0A3C9813A1}"/>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Lượt lịch sử: 5.000 dòng tạm, logical reads 75 xuống 10</a:t>
            </a:r>
          </a:p>
        </p:txBody>
      </p:sp>
    </p:spTree>
    <p:extLst>
      <p:ext uri="{BB962C8B-B14F-4D97-AF65-F5344CB8AC3E}">
        <p14:creationId xmlns:p14="http://schemas.microsoft.com/office/powerpoint/2010/main" val="1526956616"/>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3C4661-1101-40C2-B726-BDADAE6B843B}"/>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Chấm công và toàn vẹn theo ngày</a:t>
            </a:r>
          </a:p>
        </p:txBody>
      </p:sp>
      <p:sp>
        <p:nvSpPr>
          <p:cNvPr id="2" name="">
            <a:extLst xmlns:a="http://schemas.openxmlformats.org/drawingml/2006/main">
              <a:ext uri="{FF2B5EF4-FFF2-40B4-BE49-F238E27FC236}">
                <a16:creationId xmlns:a16="http://schemas.microsoft.com/office/drawing/2014/main" id="{A8EFEFAE-B0AB-4C6F-A3E8-69C315B800EE}"/>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TV2  Phạm Minh Quân  24110311</a:t>
            </a:r>
          </a:p>
        </p:txBody>
      </p:sp>
      <p:sp>
        <p:nvSpPr>
          <p:cNvPr id="3" name="">
            <a:extLst xmlns:a="http://schemas.openxmlformats.org/drawingml/2006/main">
              <a:ext uri="{FF2B5EF4-FFF2-40B4-BE49-F238E27FC236}">
                <a16:creationId xmlns:a16="http://schemas.microsoft.com/office/drawing/2014/main" id="{676A42B9-208F-4AEE-A4E5-EAD242E26B1F}"/>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4</a:t>
            </a:r>
          </a:p>
        </p:txBody>
      </p:sp>
      <p:sp>
        <p:nvSpPr>
          <p:cNvPr id="4" name="">
            <a:extLst xmlns:a="http://schemas.openxmlformats.org/drawingml/2006/main">
              <a:ext uri="{FF2B5EF4-FFF2-40B4-BE49-F238E27FC236}">
                <a16:creationId xmlns:a16="http://schemas.microsoft.com/office/drawing/2014/main" id="{F9088B09-5F09-41FB-B90B-11D15617AF78}"/>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Một nhân viên, một ngày</a:t>
            </a:r>
          </a:p>
        </p:txBody>
      </p:sp>
      <p:sp>
        <p:nvSpPr>
          <p:cNvPr id="5" name="">
            <a:extLst xmlns:a="http://schemas.openxmlformats.org/drawingml/2006/main">
              <a:ext uri="{FF2B5EF4-FFF2-40B4-BE49-F238E27FC236}">
                <a16:creationId xmlns:a16="http://schemas.microsoft.com/office/drawing/2014/main" id="{29F96B00-7123-4EBB-AF72-E9169A7889DF}"/>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UNIQUE (MaNV, NgayChamCong) ngăn bản ghi trùng</a:t>
            </a:r>
          </a:p>
        </p:txBody>
      </p:sp>
      <p:sp>
        <p:nvSpPr>
          <p:cNvPr id="6" name="">
            <a:extLst xmlns:a="http://schemas.openxmlformats.org/drawingml/2006/main">
              <a:ext uri="{FF2B5EF4-FFF2-40B4-BE49-F238E27FC236}">
                <a16:creationId xmlns:a16="http://schemas.microsoft.com/office/drawing/2014/main" id="{94C4B35A-B3EF-4A63-9AAE-B4FB055AD8C0}"/>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Giờ và trạng thái</a:t>
            </a:r>
          </a:p>
        </p:txBody>
      </p:sp>
      <p:sp>
        <p:nvSpPr>
          <p:cNvPr id="7" name="">
            <a:extLst xmlns:a="http://schemas.openxmlformats.org/drawingml/2006/main">
              <a:ext uri="{FF2B5EF4-FFF2-40B4-BE49-F238E27FC236}">
                <a16:creationId xmlns:a16="http://schemas.microsoft.com/office/drawing/2014/main" id="{B173219A-0663-4BD4-A515-7E4D530CBEF2}"/>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Giờ ra sau giờ vào, dữ liệu hợp lệ trước khi ghi</a:t>
            </a:r>
          </a:p>
        </p:txBody>
      </p:sp>
      <p:sp>
        <p:nvSpPr>
          <p:cNvPr id="8" name="">
            <a:extLst xmlns:a="http://schemas.openxmlformats.org/drawingml/2006/main">
              <a:ext uri="{FF2B5EF4-FFF2-40B4-BE49-F238E27FC236}">
                <a16:creationId xmlns:a16="http://schemas.microsoft.com/office/drawing/2014/main" id="{9E1F4345-85C1-4E32-9302-B8613B2C0CCF}"/>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Nhân viên và kỳ lương</a:t>
            </a:r>
          </a:p>
        </p:txBody>
      </p:sp>
      <p:sp>
        <p:nvSpPr>
          <p:cNvPr id="9" name="">
            <a:extLst xmlns:a="http://schemas.openxmlformats.org/drawingml/2006/main">
              <a:ext uri="{FF2B5EF4-FFF2-40B4-BE49-F238E27FC236}">
                <a16:creationId xmlns:a16="http://schemas.microsoft.com/office/drawing/2014/main" id="{A0F0E17A-3361-4308-88B7-9DBFD9E0A049}"/>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Từ chối người nghỉ việc và chỉnh nguồn của kỳ đã chốt</a:t>
            </a:r>
          </a:p>
        </p:txBody>
      </p:sp>
    </p:spTree>
    <p:extLst>
      <p:ext uri="{BB962C8B-B14F-4D97-AF65-F5344CB8AC3E}">
        <p14:creationId xmlns:p14="http://schemas.microsoft.com/office/powerpoint/2010/main" val="9824000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375727-3B0E-4FA0-B0F9-5311F80AE508}"/>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Ghi theo lô và xử lý lỗi caller</a:t>
            </a:r>
          </a:p>
        </p:txBody>
      </p:sp>
      <p:sp>
        <p:nvSpPr>
          <p:cNvPr id="2" name="">
            <a:extLst xmlns:a="http://schemas.openxmlformats.org/drawingml/2006/main">
              <a:ext uri="{FF2B5EF4-FFF2-40B4-BE49-F238E27FC236}">
                <a16:creationId xmlns:a16="http://schemas.microsoft.com/office/drawing/2014/main" id="{99B21045-404B-4834-8CF8-FA12BB13DA9A}"/>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TV2  Phạm Minh Quân  24110311</a:t>
            </a:r>
          </a:p>
        </p:txBody>
      </p:sp>
      <p:sp>
        <p:nvSpPr>
          <p:cNvPr id="3" name="">
            <a:extLst xmlns:a="http://schemas.openxmlformats.org/drawingml/2006/main">
              <a:ext uri="{FF2B5EF4-FFF2-40B4-BE49-F238E27FC236}">
                <a16:creationId xmlns:a16="http://schemas.microsoft.com/office/drawing/2014/main" id="{6208577C-3292-4A9C-A958-BCED638E6B1E}"/>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5</a:t>
            </a:r>
          </a:p>
        </p:txBody>
      </p:sp>
      <p:sp>
        <p:nvSpPr>
          <p:cNvPr id="4" name="">
            <a:extLst xmlns:a="http://schemas.openxmlformats.org/drawingml/2006/main">
              <a:ext uri="{FF2B5EF4-FFF2-40B4-BE49-F238E27FC236}">
                <a16:creationId xmlns:a16="http://schemas.microsoft.com/office/drawing/2014/main" id="{25F4FAD2-3526-47F7-B742-D1E721E0E550}"/>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sp_GhiNhanChamCong</a:t>
            </a:r>
          </a:p>
        </p:txBody>
      </p:sp>
      <p:sp>
        <p:nvSpPr>
          <p:cNvPr id="5" name="">
            <a:extLst xmlns:a="http://schemas.openxmlformats.org/drawingml/2006/main">
              <a:ext uri="{FF2B5EF4-FFF2-40B4-BE49-F238E27FC236}">
                <a16:creationId xmlns:a16="http://schemas.microsoft.com/office/drawing/2014/main" id="{1719EAC6-A813-46F8-ABA9-B6D9F9BB173B}"/>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Kiểm tra nghiệp vụ và ghi công, caller nhận lỗi SQL</a:t>
            </a:r>
          </a:p>
        </p:txBody>
      </p:sp>
      <p:sp>
        <p:nvSpPr>
          <p:cNvPr id="6" name="">
            <a:extLst xmlns:a="http://schemas.openxmlformats.org/drawingml/2006/main">
              <a:ext uri="{FF2B5EF4-FFF2-40B4-BE49-F238E27FC236}">
                <a16:creationId xmlns:a16="http://schemas.microsoft.com/office/drawing/2014/main" id="{3697FCE8-90DF-4DDE-9DEA-1D1A453A8510}"/>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Batch JDBC</a:t>
            </a:r>
          </a:p>
        </p:txBody>
      </p:sp>
      <p:sp>
        <p:nvSpPr>
          <p:cNvPr id="7" name="">
            <a:extLst xmlns:a="http://schemas.openxmlformats.org/drawingml/2006/main">
              <a:ext uri="{FF2B5EF4-FFF2-40B4-BE49-F238E27FC236}">
                <a16:creationId xmlns:a16="http://schemas.microsoft.com/office/drawing/2014/main" id="{2FE89BB0-E9DC-4034-AEFC-4D9E005E16D5}"/>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Cùng connection, commit khi mọi dòng đạt, rollback nếu một dòng sai</a:t>
            </a:r>
          </a:p>
        </p:txBody>
      </p:sp>
      <p:sp>
        <p:nvSpPr>
          <p:cNvPr id="8" name="">
            <a:extLst xmlns:a="http://schemas.openxmlformats.org/drawingml/2006/main">
              <a:ext uri="{FF2B5EF4-FFF2-40B4-BE49-F238E27FC236}">
                <a16:creationId xmlns:a16="http://schemas.microsoft.com/office/drawing/2014/main" id="{35678D64-83C4-4116-B5C3-0BBCB8B54004}"/>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Function theo phân công</a:t>
            </a:r>
          </a:p>
        </p:txBody>
      </p:sp>
      <p:sp>
        <p:nvSpPr>
          <p:cNvPr id="9" name="">
            <a:extLst xmlns:a="http://schemas.openxmlformats.org/drawingml/2006/main">
              <a:ext uri="{FF2B5EF4-FFF2-40B4-BE49-F238E27FC236}">
                <a16:creationId xmlns:a16="http://schemas.microsoft.com/office/drawing/2014/main" id="{012273CA-E9A8-4851-8772-C5C1B4729023}"/>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fn_TongPhuCap thuộc TV2, payroll gọi từ module tính lương</a:t>
            </a:r>
          </a:p>
        </p:txBody>
      </p:sp>
    </p:spTree>
    <p:extLst>
      <p:ext uri="{BB962C8B-B14F-4D97-AF65-F5344CB8AC3E}">
        <p14:creationId xmlns:p14="http://schemas.microsoft.com/office/powerpoint/2010/main" val="600876537"/>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033C08-DBFF-4A55-B451-1199129623C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Benchmark TV2: Messages và actual plan</a:t>
            </a:r>
          </a:p>
        </p:txBody>
      </p:sp>
      <p:sp>
        <p:nvSpPr>
          <p:cNvPr id="2" name="">
            <a:extLst xmlns:a="http://schemas.openxmlformats.org/drawingml/2006/main">
              <a:ext uri="{FF2B5EF4-FFF2-40B4-BE49-F238E27FC236}">
                <a16:creationId xmlns:a16="http://schemas.microsoft.com/office/drawing/2014/main" id="{36E8B196-64C4-4B54-94D6-E02BC25A2125}"/>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TV2  Phạm Minh Quân  24110311</a:t>
            </a:r>
          </a:p>
        </p:txBody>
      </p:sp>
      <p:sp>
        <p:nvSpPr>
          <p:cNvPr id="3" name="">
            <a:extLst xmlns:a="http://schemas.openxmlformats.org/drawingml/2006/main">
              <a:ext uri="{FF2B5EF4-FFF2-40B4-BE49-F238E27FC236}">
                <a16:creationId xmlns:a16="http://schemas.microsoft.com/office/drawing/2014/main" id="{92522475-72F3-4878-AE94-33CBCA69CEA2}"/>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6</a:t>
            </a:r>
          </a:p>
        </p:txBody>
      </p:sp>
      <p:graphicFrame>
        <p:nvGraphicFramePr>
          <p:cNvPr id="4" name="">
            <a:extLst xmlns:a="http://schemas.openxmlformats.org/drawingml/2006/main">
              <a:ext uri="{FF2B5EF4-FFF2-40B4-BE49-F238E27FC236}">
                <a16:creationId xmlns:a16="http://schemas.microsoft.com/office/drawing/2014/main" id="{23685083-54D5-4A1D-BC34-0F3EF8613B59}"/>
              </a:ext>
            </a:extLst>
          </p:cNvPr>
          <p:cNvGraphicFramePr/>
          <p:nvPr/>
        </p:nvGraphicFramePr>
        <p:xfrm>
          <a:off xmlns:a="http://schemas.openxmlformats.org/drawingml/2006/main" x="609600" y="1933575"/>
          <a:ext xmlns:a="http://schemas.openxmlformats.org/drawingml/2006/main" cx="10972800" cy="3009900"/>
        </p:xfrm>
        <a:graphic xmlns:a="http://schemas.openxmlformats.org/drawingml/2006/main">
          <a:graphicData uri="http://schemas.openxmlformats.org/drawingml/2006/table">
            <a:tbl>
              <a:tblPr/>
              <a:tblGrid>
                <a:gridCol w="6000750"/>
                <a:gridCol w="2486025"/>
                <a:gridCol w="2486025"/>
              </a:tblGrid>
              <a:tr h="752475">
                <a:tc>
                  <a:txBody>
                    <a:bodyPr/>
                    <a:lstStyle/>
                    <a:p>
                      <a:r>
                        <a:rPr sz="1875" b="1">
                          <a:solidFill>
                            <a:srgbClr val="FFFFFF"/>
                          </a:solidFill>
                          <a:latin typeface="Segoe UI"/>
                          <a:ea typeface="Segoe UI"/>
                          <a:cs typeface="Segoe UI"/>
                        </a:rPr>
                        <a:t>Nguồn đo</a:t>
                      </a:r>
                    </a:p>
                  </a:txBody>
                  <a:tcPr marL="123825" marR="123825" marT="85725" marB="85725" anchor="ctr">
                    <a:lnL w="9525">
                      <a:solidFill>
                        <a:srgbClr val="E1E6F0"/>
                      </a:solidFill>
                      <a:prstDash val="solid"/>
                    </a:lnL>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875" b="1">
                          <a:solidFill>
                            <a:srgbClr val="FFFFFF"/>
                          </a:solidFill>
                          <a:latin typeface="Segoe UI"/>
                          <a:ea typeface="Segoe UI"/>
                          <a:cs typeface="Segoe UI"/>
                        </a:rPr>
                        <a:t>Trước</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875" b="1">
                          <a:solidFill>
                            <a:srgbClr val="FFFFFF"/>
                          </a:solidFill>
                          <a:latin typeface="Segoe UI"/>
                          <a:ea typeface="Segoe UI"/>
                          <a:cs typeface="Segoe UI"/>
                        </a:rPr>
                        <a:t>Sau</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r>
              <a:tr h="752475">
                <a:tc>
                  <a:txBody>
                    <a:bodyPr/>
                    <a:lstStyle/>
                    <a:p>
                      <a:r>
                        <a:rPr sz="1875">
                          <a:solidFill>
                            <a:srgbClr val="17243B"/>
                          </a:solidFill>
                          <a:latin typeface="Segoe UI"/>
                          <a:ea typeface="Segoe UI"/>
                          <a:cs typeface="Segoe UI"/>
                        </a:rPr>
                        <a:t>Messages: logical reads</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574</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5</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752475">
                <a:tc>
                  <a:txBody>
                    <a:bodyPr/>
                    <a:lstStyle/>
                    <a:p>
                      <a:r>
                        <a:rPr sz="1875">
                          <a:solidFill>
                            <a:srgbClr val="17243B"/>
                          </a:solidFill>
                          <a:latin typeface="Segoe UI"/>
                          <a:ea typeface="Segoe UI"/>
                          <a:cs typeface="Segoe UI"/>
                        </a:rPr>
                        <a:t>XML: tổng reads operator</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522</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5</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752475">
                <a:tc>
                  <a:txBody>
                    <a:bodyPr/>
                    <a:lstStyle/>
                    <a:p>
                      <a:r>
                        <a:rPr sz="1875">
                          <a:solidFill>
                            <a:srgbClr val="17243B"/>
                          </a:solidFill>
                          <a:latin typeface="Segoe UI"/>
                          <a:ea typeface="Segoe UI"/>
                          <a:cs typeface="Segoe UI"/>
                        </a:rPr>
                        <a:t>Kết quả chi tiết / tổng hợp</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273 / 9 dòng</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875">
                          <a:solidFill>
                            <a:srgbClr val="17243B"/>
                          </a:solidFill>
                          <a:latin typeface="Segoe UI"/>
                          <a:ea typeface="Segoe UI"/>
                          <a:cs typeface="Segoe UI"/>
                        </a:rPr>
                        <a:t>273 / 9 dòng</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6177C8-BBCE-400A-B8F8-7502D971C5E7}"/>
              </a:ext>
            </a:extLst>
          </p:cNvPr>
          <p:cNvSpPr>
            <a:spLocks xmlns:a="http://schemas.openxmlformats.org/drawingml/2006/main" noGrp="1"/>
          </p:cNvSpPr>
          <p:nvPr/>
        </p:nvSpPr>
        <p:spPr>
          <a:xfrm xmlns:a="http://schemas.openxmlformats.org/drawingml/2006/main">
            <a:off x="609600" y="5324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F46E5"/>
                </a:solidFill>
                <a:latin typeface="Segoe UI"/>
                <a:ea typeface="Segoe UI"/>
                <a:cs typeface="Segoe UI"/>
              </a:defRPr>
            </a:defPPr>
          </a:lstStyle>
          <a:p xmlns:a="http://schemas.openxmlformats.org/drawingml/2006/main">
            <a:pPr>
              <a:defRPr sz="1950" b="0">
                <a:solidFill>
                  <a:srgbClr val="4F46E5"/>
                </a:solidFill>
                <a:latin typeface="Segoe UI"/>
                <a:ea typeface="Segoe UI"/>
                <a:cs typeface="Segoe UI"/>
              </a:defRPr>
            </a:pPr>
            <a:r>
              <a:rPr sz="1950" b="0">
                <a:solidFill>
                  <a:srgbClr val="4F46E5"/>
                </a:solidFill>
                <a:latin typeface="Segoe UI"/>
                <a:ea typeface="Segoe UI"/>
                <a:cs typeface="Segoe UI"/>
              </a:rPr>
              <a:t>30.000 dòng tạm, hint, warm cache, một lượt ngày 13/10</a:t>
            </a:r>
          </a:p>
        </p:txBody>
      </p:sp>
      <p:sp>
        <p:nvSpPr>
          <p:cNvPr id="6" name="">
            <a:extLst xmlns:a="http://schemas.openxmlformats.org/drawingml/2006/main">
              <a:ext uri="{FF2B5EF4-FFF2-40B4-BE49-F238E27FC236}">
                <a16:creationId xmlns:a16="http://schemas.microsoft.com/office/drawing/2014/main" id="{EBF1FF89-52EC-4CFF-A354-D546D25F282F}"/>
              </a:ext>
            </a:extLst>
          </p:cNvPr>
          <p:cNvSpPr>
            <a:spLocks xmlns:a="http://schemas.openxmlformats.org/drawingml/2006/main" noGrp="1"/>
          </p:cNvSpPr>
          <p:nvPr/>
        </p:nvSpPr>
        <p:spPr>
          <a:xfrm xmlns:a="http://schemas.openxmlformats.org/drawingml/2006/main">
            <a:off x="609600" y="57912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7243B"/>
                </a:solidFill>
                <a:latin typeface="Segoe UI"/>
                <a:ea typeface="Segoe UI"/>
                <a:cs typeface="Segoe UI"/>
              </a:defRPr>
            </a:defPPr>
          </a:lstStyle>
          <a:p xmlns:a="http://schemas.openxmlformats.org/drawingml/2006/main">
            <a:pPr>
              <a:defRPr sz="1800" b="0">
                <a:solidFill>
                  <a:srgbClr val="17243B"/>
                </a:solidFill>
                <a:latin typeface="Segoe UI"/>
                <a:ea typeface="Segoe UI"/>
                <a:cs typeface="Segoe UI"/>
              </a:defRPr>
            </a:pPr>
            <a:r>
              <a:rPr sz="1800" b="0">
                <a:solidFill>
                  <a:srgbClr val="17243B"/>
                </a:solidFill>
                <a:latin typeface="Segoe UI"/>
                <a:ea typeface="Segoe UI"/>
                <a:cs typeface="Segoe UI"/>
              </a:rPr>
              <a:t>Results đầy đủ khớp, seek + lookup chuyển sang covering seek</a:t>
            </a:r>
          </a:p>
        </p:txBody>
      </p:sp>
    </p:spTree>
    <p:extLst>
      <p:ext uri="{BB962C8B-B14F-4D97-AF65-F5344CB8AC3E}">
        <p14:creationId xmlns:p14="http://schemas.microsoft.com/office/powerpoint/2010/main" val="604967683"/>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B1D58E-0F18-49A5-98BC-BD6273BCF6F9}"/>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Phụ cấp và khấu trừ theo kỳ</a:t>
            </a:r>
          </a:p>
        </p:txBody>
      </p:sp>
      <p:sp>
        <p:nvSpPr>
          <p:cNvPr id="2" name="">
            <a:extLst xmlns:a="http://schemas.openxmlformats.org/drawingml/2006/main">
              <a:ext uri="{FF2B5EF4-FFF2-40B4-BE49-F238E27FC236}">
                <a16:creationId xmlns:a16="http://schemas.microsoft.com/office/drawing/2014/main" id="{485364E3-CD22-42AD-9852-173EE0072B39}"/>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TV3  Trần Tiến Đạt  24110198</a:t>
            </a:r>
          </a:p>
        </p:txBody>
      </p:sp>
      <p:sp>
        <p:nvSpPr>
          <p:cNvPr id="3" name="">
            <a:extLst xmlns:a="http://schemas.openxmlformats.org/drawingml/2006/main">
              <a:ext uri="{FF2B5EF4-FFF2-40B4-BE49-F238E27FC236}">
                <a16:creationId xmlns:a16="http://schemas.microsoft.com/office/drawing/2014/main" id="{EF5A0E17-8036-4644-A5A5-6823B139ED38}"/>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7</a:t>
            </a:r>
          </a:p>
        </p:txBody>
      </p:sp>
      <p:sp>
        <p:nvSpPr>
          <p:cNvPr id="4" name="">
            <a:extLst xmlns:a="http://schemas.openxmlformats.org/drawingml/2006/main">
              <a:ext uri="{FF2B5EF4-FFF2-40B4-BE49-F238E27FC236}">
                <a16:creationId xmlns:a16="http://schemas.microsoft.com/office/drawing/2014/main" id="{050145C2-E9EA-424E-B8CA-84E7E492C223}"/>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PHUCAPNHANVIEN và KHAUTRUNHANVIEN</a:t>
            </a:r>
          </a:p>
        </p:txBody>
      </p:sp>
      <p:sp>
        <p:nvSpPr>
          <p:cNvPr id="5" name="">
            <a:extLst xmlns:a="http://schemas.openxmlformats.org/drawingml/2006/main">
              <a:ext uri="{FF2B5EF4-FFF2-40B4-BE49-F238E27FC236}">
                <a16:creationId xmlns:a16="http://schemas.microsoft.com/office/drawing/2014/main" id="{75747F5E-AC9B-411E-80A1-BF633FC559DC}"/>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Gắn nhân viên, tháng/năm và số tiền từng khoản</a:t>
            </a:r>
          </a:p>
        </p:txBody>
      </p:sp>
      <p:sp>
        <p:nvSpPr>
          <p:cNvPr id="6" name="">
            <a:extLst xmlns:a="http://schemas.openxmlformats.org/drawingml/2006/main">
              <a:ext uri="{FF2B5EF4-FFF2-40B4-BE49-F238E27FC236}">
                <a16:creationId xmlns:a16="http://schemas.microsoft.com/office/drawing/2014/main" id="{513BECF0-249D-4E5E-B277-14725F7249EC}"/>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Ràng buộc dữ liệu</a:t>
            </a:r>
          </a:p>
        </p:txBody>
      </p:sp>
      <p:sp>
        <p:nvSpPr>
          <p:cNvPr id="7" name="">
            <a:extLst xmlns:a="http://schemas.openxmlformats.org/drawingml/2006/main">
              <a:ext uri="{FF2B5EF4-FFF2-40B4-BE49-F238E27FC236}">
                <a16:creationId xmlns:a16="http://schemas.microsoft.com/office/drawing/2014/main" id="{F2CB4810-FBFB-4C69-9795-AB3502ED56C6}"/>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FK nhân viên, tiền không âm, tháng 1–12, năm từ 2020</a:t>
            </a:r>
          </a:p>
        </p:txBody>
      </p:sp>
      <p:sp>
        <p:nvSpPr>
          <p:cNvPr id="8" name="">
            <a:extLst xmlns:a="http://schemas.openxmlformats.org/drawingml/2006/main">
              <a:ext uri="{FF2B5EF4-FFF2-40B4-BE49-F238E27FC236}">
                <a16:creationId xmlns:a16="http://schemas.microsoft.com/office/drawing/2014/main" id="{BF39112D-9EB4-437A-8C08-6BF9C3A69FDB}"/>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Tổng theo kỳ</a:t>
            </a:r>
          </a:p>
        </p:txBody>
      </p:sp>
      <p:sp>
        <p:nvSpPr>
          <p:cNvPr id="9" name="">
            <a:extLst xmlns:a="http://schemas.openxmlformats.org/drawingml/2006/main">
              <a:ext uri="{FF2B5EF4-FFF2-40B4-BE49-F238E27FC236}">
                <a16:creationId xmlns:a16="http://schemas.microsoft.com/office/drawing/2014/main" id="{E48078CA-1826-4B0E-902F-EAB90E30D409}"/>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Function/view cộng các khoản dùng trong công thức lương</a:t>
            </a:r>
          </a:p>
        </p:txBody>
      </p:sp>
    </p:spTree>
    <p:extLst>
      <p:ext uri="{BB962C8B-B14F-4D97-AF65-F5344CB8AC3E}">
        <p14:creationId xmlns:p14="http://schemas.microsoft.com/office/powerpoint/2010/main" val="89844848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BA55F2-17D7-44A8-8206-232A35B03799}"/>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Khoản phát sinh và xóa kỳ nháp</a:t>
            </a:r>
          </a:p>
        </p:txBody>
      </p:sp>
      <p:sp>
        <p:nvSpPr>
          <p:cNvPr id="2" name="">
            <a:extLst xmlns:a="http://schemas.openxmlformats.org/drawingml/2006/main">
              <a:ext uri="{FF2B5EF4-FFF2-40B4-BE49-F238E27FC236}">
                <a16:creationId xmlns:a16="http://schemas.microsoft.com/office/drawing/2014/main" id="{C95C1C7F-0BE3-4CB2-A70C-A3608F388ECE}"/>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TV3  Trần Tiến Đạt  24110198</a:t>
            </a:r>
          </a:p>
        </p:txBody>
      </p:sp>
      <p:sp>
        <p:nvSpPr>
          <p:cNvPr id="3" name="">
            <a:extLst xmlns:a="http://schemas.openxmlformats.org/drawingml/2006/main">
              <a:ext uri="{FF2B5EF4-FFF2-40B4-BE49-F238E27FC236}">
                <a16:creationId xmlns:a16="http://schemas.microsoft.com/office/drawing/2014/main" id="{E62C6683-B233-4DC9-BD1C-36DB33B116E3}"/>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8</a:t>
            </a:r>
          </a:p>
        </p:txBody>
      </p:sp>
      <p:sp>
        <p:nvSpPr>
          <p:cNvPr id="4" name="">
            <a:extLst xmlns:a="http://schemas.openxmlformats.org/drawingml/2006/main">
              <a:ext uri="{FF2B5EF4-FFF2-40B4-BE49-F238E27FC236}">
                <a16:creationId xmlns:a16="http://schemas.microsoft.com/office/drawing/2014/main" id="{5A4B05EF-188C-41C1-884C-B190B3518788}"/>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Function và view</a:t>
            </a:r>
          </a:p>
        </p:txBody>
      </p:sp>
      <p:sp>
        <p:nvSpPr>
          <p:cNvPr id="5" name="">
            <a:extLst xmlns:a="http://schemas.openxmlformats.org/drawingml/2006/main">
              <a:ext uri="{FF2B5EF4-FFF2-40B4-BE49-F238E27FC236}">
                <a16:creationId xmlns:a16="http://schemas.microsoft.com/office/drawing/2014/main" id="{104A241D-AC44-43A3-8546-8F64F7EA845A}"/>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fn_TongKhauTru, vw_TongPhuCapThang tổng hợp tiền theo kỳ</a:t>
            </a:r>
          </a:p>
        </p:txBody>
      </p:sp>
      <p:sp>
        <p:nvSpPr>
          <p:cNvPr id="6" name="">
            <a:extLst xmlns:a="http://schemas.openxmlformats.org/drawingml/2006/main">
              <a:ext uri="{FF2B5EF4-FFF2-40B4-BE49-F238E27FC236}">
                <a16:creationId xmlns:a16="http://schemas.microsoft.com/office/drawing/2014/main" id="{8812A763-EE08-4B05-9B4E-51E1EAFE63CD}"/>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Bảo vệ kỳ đã chốt</a:t>
            </a:r>
          </a:p>
        </p:txBody>
      </p:sp>
      <p:sp>
        <p:nvSpPr>
          <p:cNvPr id="7" name="">
            <a:extLst xmlns:a="http://schemas.openxmlformats.org/drawingml/2006/main">
              <a:ext uri="{FF2B5EF4-FFF2-40B4-BE49-F238E27FC236}">
                <a16:creationId xmlns:a16="http://schemas.microsoft.com/office/drawing/2014/main" id="{26CF4BF2-F889-4E3E-9580-C37AB593CAB8}"/>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Trigger từ chối thay đổi khoản của kỳ DA_CHOT</a:t>
            </a:r>
          </a:p>
        </p:txBody>
      </p:sp>
      <p:sp>
        <p:nvSpPr>
          <p:cNvPr id="8" name="">
            <a:extLst xmlns:a="http://schemas.openxmlformats.org/drawingml/2006/main">
              <a:ext uri="{FF2B5EF4-FFF2-40B4-BE49-F238E27FC236}">
                <a16:creationId xmlns:a16="http://schemas.microsoft.com/office/drawing/2014/main" id="{3EC5FCF2-D6F9-475B-B399-0BED2DC42CFC}"/>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sp_XoaKyLuongChuaChot</a:t>
            </a:r>
          </a:p>
        </p:txBody>
      </p:sp>
      <p:sp>
        <p:nvSpPr>
          <p:cNvPr id="9" name="">
            <a:extLst xmlns:a="http://schemas.openxmlformats.org/drawingml/2006/main">
              <a:ext uri="{FF2B5EF4-FFF2-40B4-BE49-F238E27FC236}">
                <a16:creationId xmlns:a16="http://schemas.microsoft.com/office/drawing/2014/main" id="{7FDD2A47-A14C-40AE-BD60-17904D411EBC}"/>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Khóa header, kiểm trạng thái, xóa chi tiết rồi kỳ, lỗi rollback</a:t>
            </a:r>
          </a:p>
        </p:txBody>
      </p:sp>
    </p:spTree>
    <p:extLst>
      <p:ext uri="{BB962C8B-B14F-4D97-AF65-F5344CB8AC3E}">
        <p14:creationId xmlns:p14="http://schemas.microsoft.com/office/powerpoint/2010/main" val="1545798042"/>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AA668C-A5D6-47EC-8980-788D5FD9DA44}"/>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Giao diện khoản và minh chứng TV3</a:t>
            </a:r>
          </a:p>
        </p:txBody>
      </p:sp>
      <p:sp>
        <p:nvSpPr>
          <p:cNvPr id="2" name="">
            <a:extLst xmlns:a="http://schemas.openxmlformats.org/drawingml/2006/main">
              <a:ext uri="{FF2B5EF4-FFF2-40B4-BE49-F238E27FC236}">
                <a16:creationId xmlns:a16="http://schemas.microsoft.com/office/drawing/2014/main" id="{E4D27098-2FBF-4C77-8A7C-85826D172B40}"/>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TV3  Trần Tiến Đạt  24110198</a:t>
            </a:r>
          </a:p>
        </p:txBody>
      </p:sp>
      <p:sp>
        <p:nvSpPr>
          <p:cNvPr id="3" name="">
            <a:extLst xmlns:a="http://schemas.openxmlformats.org/drawingml/2006/main">
              <a:ext uri="{FF2B5EF4-FFF2-40B4-BE49-F238E27FC236}">
                <a16:creationId xmlns:a16="http://schemas.microsoft.com/office/drawing/2014/main" id="{1680D32F-D1F9-48E8-A35B-ED614D785F55}"/>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9</a:t>
            </a:r>
          </a:p>
        </p:txBody>
      </p:sp>
      <p:sp>
        <p:nvSpPr>
          <p:cNvPr id="4" name="">
            <a:extLst xmlns:a="http://schemas.openxmlformats.org/drawingml/2006/main">
              <a:ext uri="{FF2B5EF4-FFF2-40B4-BE49-F238E27FC236}">
                <a16:creationId xmlns:a16="http://schemas.microsoft.com/office/drawing/2014/main" id="{47718859-47DE-44FB-B982-ACD4D842EE2E}"/>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HR / Payroll quản lý khoản</a:t>
            </a:r>
          </a:p>
        </p:txBody>
      </p:sp>
      <p:sp>
        <p:nvSpPr>
          <p:cNvPr id="5" name="">
            <a:extLst xmlns:a="http://schemas.openxmlformats.org/drawingml/2006/main">
              <a:ext uri="{FF2B5EF4-FFF2-40B4-BE49-F238E27FC236}">
                <a16:creationId xmlns:a16="http://schemas.microsoft.com/office/drawing/2014/main" id="{7C59CB06-F83C-4584-8A42-726A6C786DCC}"/>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Thêm, tải danh sách và xóa qua service/DAO, đối chiếu SQL</a:t>
            </a:r>
          </a:p>
        </p:txBody>
      </p:sp>
      <p:sp>
        <p:nvSpPr>
          <p:cNvPr id="6" name="">
            <a:extLst xmlns:a="http://schemas.openxmlformats.org/drawingml/2006/main">
              <a:ext uri="{FF2B5EF4-FFF2-40B4-BE49-F238E27FC236}">
                <a16:creationId xmlns:a16="http://schemas.microsoft.com/office/drawing/2014/main" id="{57764DAC-CFD5-41C1-8FB1-5E6DF372A23E}"/>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Kỳ chốt và quyền SQL</a:t>
            </a:r>
          </a:p>
        </p:txBody>
      </p:sp>
      <p:sp>
        <p:nvSpPr>
          <p:cNvPr id="7" name="">
            <a:extLst xmlns:a="http://schemas.openxmlformats.org/drawingml/2006/main">
              <a:ext uri="{FF2B5EF4-FFF2-40B4-BE49-F238E27FC236}">
                <a16:creationId xmlns:a16="http://schemas.microsoft.com/office/drawing/2014/main" id="{1CA45C42-E373-4EF5-859C-81D79F15EC97}"/>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Thao tác không hợp lệ bị từ chối, dữ liệu giữ nguyên</a:t>
            </a:r>
          </a:p>
        </p:txBody>
      </p:sp>
      <p:sp>
        <p:nvSpPr>
          <p:cNvPr id="8" name="">
            <a:extLst xmlns:a="http://schemas.openxmlformats.org/drawingml/2006/main">
              <a:ext uri="{FF2B5EF4-FFF2-40B4-BE49-F238E27FC236}">
                <a16:creationId xmlns:a16="http://schemas.microsoft.com/office/drawing/2014/main" id="{946DE306-CD82-49FE-87ED-D816A6717C75}"/>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Benchmark lịch sử 08/10</a:t>
            </a:r>
          </a:p>
        </p:txBody>
      </p:sp>
      <p:sp>
        <p:nvSpPr>
          <p:cNvPr id="9" name="">
            <a:extLst xmlns:a="http://schemas.openxmlformats.org/drawingml/2006/main">
              <a:ext uri="{FF2B5EF4-FFF2-40B4-BE49-F238E27FC236}">
                <a16:creationId xmlns:a16="http://schemas.microsoft.com/office/drawing/2014/main" id="{FDAEDA26-5901-4493-B3B7-D8246D54B4E0}"/>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30.000 dòng tạm, 7 kết quả, logical reads 642 xuống 2</a:t>
            </a:r>
          </a:p>
        </p:txBody>
      </p:sp>
    </p:spTree>
    <p:extLst>
      <p:ext uri="{BB962C8B-B14F-4D97-AF65-F5344CB8AC3E}">
        <p14:creationId xmlns:p14="http://schemas.microsoft.com/office/powerpoint/2010/main" val="930236861"/>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81CB20-918F-457E-A3C7-85391ABE1AB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Công thức lương và fixture demo</a:t>
            </a:r>
          </a:p>
        </p:txBody>
      </p:sp>
      <p:sp>
        <p:nvSpPr>
          <p:cNvPr id="2" name="">
            <a:extLst xmlns:a="http://schemas.openxmlformats.org/drawingml/2006/main">
              <a:ext uri="{FF2B5EF4-FFF2-40B4-BE49-F238E27FC236}">
                <a16:creationId xmlns:a16="http://schemas.microsoft.com/office/drawing/2014/main" id="{5A3DD046-A88A-4557-9D35-F09D83E4BEC3}"/>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TV4  Nguyễn Quang Vinh  24110385</a:t>
            </a:r>
          </a:p>
        </p:txBody>
      </p:sp>
      <p:sp>
        <p:nvSpPr>
          <p:cNvPr id="3" name="">
            <a:extLst xmlns:a="http://schemas.openxmlformats.org/drawingml/2006/main">
              <a:ext uri="{FF2B5EF4-FFF2-40B4-BE49-F238E27FC236}">
                <a16:creationId xmlns:a16="http://schemas.microsoft.com/office/drawing/2014/main" id="{EBFD4AFF-2565-4327-A771-11B40CD48FCD}"/>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10</a:t>
            </a:r>
          </a:p>
        </p:txBody>
      </p:sp>
      <p:sp>
        <p:nvSpPr>
          <p:cNvPr id="4" name="">
            <a:extLst xmlns:a="http://schemas.openxmlformats.org/drawingml/2006/main">
              <a:ext uri="{FF2B5EF4-FFF2-40B4-BE49-F238E27FC236}">
                <a16:creationId xmlns:a16="http://schemas.microsoft.com/office/drawing/2014/main" id="{F8A64E36-D9BA-4ED7-BA00-4F1E9B2C6CC0}"/>
              </a:ext>
            </a:extLst>
          </p:cNvPr>
          <p:cNvSpPr>
            <a:spLocks xmlns:a="http://schemas.openxmlformats.org/drawingml/2006/main" noGrp="1"/>
          </p:cNvSpPr>
          <p:nvPr/>
        </p:nvSpPr>
        <p:spPr>
          <a:xfrm xmlns:a="http://schemas.openxmlformats.org/drawingml/2006/main">
            <a:off x="609600" y="1562100"/>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4F46E5"/>
                </a:solidFill>
                <a:latin typeface="Segoe UI"/>
                <a:ea typeface="Segoe UI"/>
                <a:cs typeface="Segoe UI"/>
              </a:defRPr>
            </a:defPPr>
          </a:lstStyle>
          <a:p xmlns:a="http://schemas.openxmlformats.org/drawingml/2006/main">
            <a:pPr>
              <a:defRPr sz="2250" b="1">
                <a:solidFill>
                  <a:srgbClr val="4F46E5"/>
                </a:solidFill>
                <a:latin typeface="Segoe UI"/>
                <a:ea typeface="Segoe UI"/>
                <a:cs typeface="Segoe UI"/>
              </a:defRPr>
            </a:pPr>
            <a:r>
              <a:rPr sz="2250" b="1">
                <a:solidFill>
                  <a:srgbClr val="4F46E5"/>
                </a:solidFill>
                <a:latin typeface="Segoe UI"/>
                <a:ea typeface="Segoe UI"/>
                <a:cs typeface="Segoe UI"/>
              </a:rPr>
              <a:t>Tiền công = Lương cơ bản / Công chuẩn × Công thực tế</a:t>
            </a:r>
          </a:p>
        </p:txBody>
      </p:sp>
      <p:sp>
        <p:nvSpPr>
          <p:cNvPr id="5" name="">
            <a:extLst xmlns:a="http://schemas.openxmlformats.org/drawingml/2006/main">
              <a:ext uri="{FF2B5EF4-FFF2-40B4-BE49-F238E27FC236}">
                <a16:creationId xmlns:a16="http://schemas.microsoft.com/office/drawing/2014/main" id="{012D7EFE-28B0-4757-9E52-0114540305ED}"/>
              </a:ext>
            </a:extLst>
          </p:cNvPr>
          <p:cNvSpPr>
            <a:spLocks xmlns:a="http://schemas.openxmlformats.org/drawingml/2006/main" noGrp="1"/>
          </p:cNvSpPr>
          <p:nvPr/>
        </p:nvSpPr>
        <p:spPr>
          <a:xfrm xmlns:a="http://schemas.openxmlformats.org/drawingml/2006/main">
            <a:off x="609600" y="24384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243B"/>
                </a:solidFill>
                <a:latin typeface="Segoe UI"/>
                <a:ea typeface="Segoe UI"/>
                <a:cs typeface="Segoe UI"/>
              </a:defRPr>
            </a:defPPr>
          </a:lstStyle>
          <a:p xmlns:a="http://schemas.openxmlformats.org/drawingml/2006/main">
            <a:pPr>
              <a:defRPr sz="2250" b="0">
                <a:solidFill>
                  <a:srgbClr val="17243B"/>
                </a:solidFill>
                <a:latin typeface="Segoe UI"/>
                <a:ea typeface="Segoe UI"/>
                <a:cs typeface="Segoe UI"/>
              </a:defRPr>
            </a:pPr>
            <a:r>
              <a:rPr sz="2250" b="0">
                <a:solidFill>
                  <a:srgbClr val="17243B"/>
                </a:solidFill>
                <a:latin typeface="Segoe UI"/>
                <a:ea typeface="Segoe UI"/>
                <a:cs typeface="Segoe UI"/>
              </a:rPr>
              <a:t>Thực nhận = Tiền công + Phụ cấp − Khấu trừ</a:t>
            </a:r>
          </a:p>
        </p:txBody>
      </p:sp>
      <p:graphicFrame>
        <p:nvGraphicFramePr>
          <p:cNvPr id="6" name="">
            <a:extLst xmlns:a="http://schemas.openxmlformats.org/drawingml/2006/main">
              <a:ext uri="{FF2B5EF4-FFF2-40B4-BE49-F238E27FC236}">
                <a16:creationId xmlns:a16="http://schemas.microsoft.com/office/drawing/2014/main" id="{45520A9A-ADDA-4415-ACDE-63B4C9AD31F6}"/>
              </a:ext>
            </a:extLst>
          </p:cNvPr>
          <p:cNvGraphicFramePr/>
          <p:nvPr/>
        </p:nvGraphicFramePr>
        <p:xfrm>
          <a:off xmlns:a="http://schemas.openxmlformats.org/drawingml/2006/main" x="609600" y="3495675"/>
          <a:ext xmlns:a="http://schemas.openxmlformats.org/drawingml/2006/main" cx="10972800" cy="1981200"/>
        </p:xfrm>
        <a:graphic xmlns:a="http://schemas.openxmlformats.org/drawingml/2006/main">
          <a:graphicData uri="http://schemas.openxmlformats.org/drawingml/2006/table">
            <a:tbl>
              <a:tblPr/>
              <a:tblGrid>
                <a:gridCol w="2381250"/>
                <a:gridCol w="2143125"/>
                <a:gridCol w="2143125"/>
                <a:gridCol w="2143125"/>
                <a:gridCol w="2162175"/>
              </a:tblGrid>
              <a:tr h="660400">
                <a:tc>
                  <a:txBody>
                    <a:bodyPr/>
                    <a:lstStyle/>
                    <a:p>
                      <a:r>
                        <a:rPr sz="1725" b="1">
                          <a:solidFill>
                            <a:srgbClr val="FFFFFF"/>
                          </a:solidFill>
                          <a:latin typeface="Segoe UI"/>
                          <a:ea typeface="Segoe UI"/>
                          <a:cs typeface="Segoe UI"/>
                        </a:rPr>
                        <a:t>Fixture 10/2026</a:t>
                      </a:r>
                    </a:p>
                  </a:txBody>
                  <a:tcPr marL="123825" marR="123825" marT="85725" marB="85725" anchor="ctr">
                    <a:lnL w="9525">
                      <a:solidFill>
                        <a:srgbClr val="E1E6F0"/>
                      </a:solidFill>
                      <a:prstDash val="solid"/>
                    </a:lnL>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725" b="1">
                          <a:solidFill>
                            <a:srgbClr val="FFFFFF"/>
                          </a:solidFill>
                          <a:latin typeface="Segoe UI"/>
                          <a:ea typeface="Segoe UI"/>
                          <a:cs typeface="Segoe UI"/>
                        </a:rPr>
                        <a:t>Tiền công</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725" b="1">
                          <a:solidFill>
                            <a:srgbClr val="FFFFFF"/>
                          </a:solidFill>
                          <a:latin typeface="Segoe UI"/>
                          <a:ea typeface="Segoe UI"/>
                          <a:cs typeface="Segoe UI"/>
                        </a:rPr>
                        <a:t>Phụ cấp</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725" b="1">
                          <a:solidFill>
                            <a:srgbClr val="FFFFFF"/>
                          </a:solidFill>
                          <a:latin typeface="Segoe UI"/>
                          <a:ea typeface="Segoe UI"/>
                          <a:cs typeface="Segoe UI"/>
                        </a:rPr>
                        <a:t>Khấu trừ</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725" b="1">
                          <a:solidFill>
                            <a:srgbClr val="FFFFFF"/>
                          </a:solidFill>
                          <a:latin typeface="Segoe UI"/>
                          <a:ea typeface="Segoe UI"/>
                          <a:cs typeface="Segoe UI"/>
                        </a:rPr>
                        <a:t>Thực nhận</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r>
              <a:tr h="660400">
                <a:tc>
                  <a:txBody>
                    <a:bodyPr/>
                    <a:lstStyle/>
                    <a:p>
                      <a:r>
                        <a:rPr sz="1725">
                          <a:solidFill>
                            <a:srgbClr val="17243B"/>
                          </a:solidFill>
                          <a:latin typeface="Segoe UI"/>
                          <a:ea typeface="Segoe UI"/>
                          <a:cs typeface="Segoe UI"/>
                        </a:rPr>
                        <a:t>A</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1.000.000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730.000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1.000.000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730.000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60400">
                <a:tc>
                  <a:txBody>
                    <a:bodyPr/>
                    <a:lstStyle/>
                    <a:p>
                      <a:r>
                        <a:rPr sz="1725">
                          <a:solidFill>
                            <a:srgbClr val="17243B"/>
                          </a:solidFill>
                          <a:latin typeface="Segoe UI"/>
                          <a:ea typeface="Segoe UI"/>
                          <a:cs typeface="Segoe UI"/>
                        </a:rPr>
                        <a:t>B</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c>
                  <a:txBody>
                    <a:bodyPr/>
                    <a:lstStyle/>
                    <a:p>
                      <a:r>
                        <a:rPr sz="1725">
                          <a:solidFill>
                            <a:srgbClr val="17243B"/>
                          </a:solidFill>
                          <a:latin typeface="Segoe UI"/>
                          <a:ea typeface="Segoe UI"/>
                          <a:cs typeface="Segoe UI"/>
                        </a:rPr>
                        <a:t>0</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bl>
          </a:graphicData>
        </a:graphic>
      </p:graphicFrame>
    </p:spTree>
    <p:extLst>
      <p:ext uri="{BB962C8B-B14F-4D97-AF65-F5344CB8AC3E}">
        <p14:creationId xmlns:p14="http://schemas.microsoft.com/office/powerpoint/2010/main" val="414446311"/>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6A2020-2467-4231-9FE1-19B0C72E29C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Tính lại nháp và bảo toàn lương lịch sử</a:t>
            </a:r>
          </a:p>
        </p:txBody>
      </p:sp>
      <p:sp>
        <p:nvSpPr>
          <p:cNvPr id="2" name="">
            <a:extLst xmlns:a="http://schemas.openxmlformats.org/drawingml/2006/main">
              <a:ext uri="{FF2B5EF4-FFF2-40B4-BE49-F238E27FC236}">
                <a16:creationId xmlns:a16="http://schemas.microsoft.com/office/drawing/2014/main" id="{1C6BE983-D1E2-4769-894A-A2AE642CC0DB}"/>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TV4  Nguyễn Quang Vinh  24110385</a:t>
            </a:r>
          </a:p>
        </p:txBody>
      </p:sp>
      <p:sp>
        <p:nvSpPr>
          <p:cNvPr id="3" name="">
            <a:extLst xmlns:a="http://schemas.openxmlformats.org/drawingml/2006/main">
              <a:ext uri="{FF2B5EF4-FFF2-40B4-BE49-F238E27FC236}">
                <a16:creationId xmlns:a16="http://schemas.microsoft.com/office/drawing/2014/main" id="{CD1E08F1-3109-4154-A7CC-866DFEAB21A2}"/>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11</a:t>
            </a:r>
          </a:p>
        </p:txBody>
      </p:sp>
      <p:sp>
        <p:nvSpPr>
          <p:cNvPr id="4" name="">
            <a:extLst xmlns:a="http://schemas.openxmlformats.org/drawingml/2006/main">
              <a:ext uri="{FF2B5EF4-FFF2-40B4-BE49-F238E27FC236}">
                <a16:creationId xmlns:a16="http://schemas.microsoft.com/office/drawing/2014/main" id="{9FCF1CBF-EDC7-44F8-AD2D-6AE47119D6C4}"/>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Snapshot và LICHSULUONG</a:t>
            </a:r>
          </a:p>
        </p:txBody>
      </p:sp>
      <p:sp>
        <p:nvSpPr>
          <p:cNvPr id="5" name="">
            <a:extLst xmlns:a="http://schemas.openxmlformats.org/drawingml/2006/main">
              <a:ext uri="{FF2B5EF4-FFF2-40B4-BE49-F238E27FC236}">
                <a16:creationId xmlns:a16="http://schemas.microsoft.com/office/drawing/2014/main" id="{CCC9EA8F-F03D-46E2-ADA4-AA58F76257CA}"/>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Ưu tiên mức áp dụng cho kỳ, giữ kết quả khi lương hiện tại đổi</a:t>
            </a:r>
          </a:p>
        </p:txBody>
      </p:sp>
      <p:sp>
        <p:nvSpPr>
          <p:cNvPr id="6" name="">
            <a:extLst xmlns:a="http://schemas.openxmlformats.org/drawingml/2006/main">
              <a:ext uri="{FF2B5EF4-FFF2-40B4-BE49-F238E27FC236}">
                <a16:creationId xmlns:a16="http://schemas.microsoft.com/office/drawing/2014/main" id="{3CC0F925-7278-44EF-BFBF-472417DD4486}"/>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Header và chi tiết cùng transaction</a:t>
            </a:r>
          </a:p>
        </p:txBody>
      </p:sp>
      <p:sp>
        <p:nvSpPr>
          <p:cNvPr id="7" name="">
            <a:extLst xmlns:a="http://schemas.openxmlformats.org/drawingml/2006/main">
              <a:ext uri="{FF2B5EF4-FFF2-40B4-BE49-F238E27FC236}">
                <a16:creationId xmlns:a16="http://schemas.microsoft.com/office/drawing/2014/main" id="{9AE0E224-28E1-409B-A46F-7D65582AEC15}"/>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Nháp được tính lại, kỳ đã chốt bị từ chối</a:t>
            </a:r>
          </a:p>
        </p:txBody>
      </p:sp>
      <p:sp>
        <p:nvSpPr>
          <p:cNvPr id="8" name="">
            <a:extLst xmlns:a="http://schemas.openxmlformats.org/drawingml/2006/main">
              <a:ext uri="{FF2B5EF4-FFF2-40B4-BE49-F238E27FC236}">
                <a16:creationId xmlns:a16="http://schemas.microsoft.com/office/drawing/2014/main" id="{7A2697EA-7F4B-40E0-8D0C-F5003D025C21}"/>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TRY…CATCH và savepoint</a:t>
            </a:r>
          </a:p>
        </p:txBody>
      </p:sp>
      <p:sp>
        <p:nvSpPr>
          <p:cNvPr id="9" name="">
            <a:extLst xmlns:a="http://schemas.openxmlformats.org/drawingml/2006/main">
              <a:ext uri="{FF2B5EF4-FFF2-40B4-BE49-F238E27FC236}">
                <a16:creationId xmlns:a16="http://schemas.microsoft.com/office/drawing/2014/main" id="{F1C6ED47-70AC-4A2A-8E50-99FDBE521409}"/>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Lỗi khôi phục kết quả cũ, không tự commit transaction caller</a:t>
            </a:r>
          </a:p>
        </p:txBody>
      </p:sp>
    </p:spTree>
    <p:extLst>
      <p:ext uri="{BB962C8B-B14F-4D97-AF65-F5344CB8AC3E}">
        <p14:creationId xmlns:p14="http://schemas.microsoft.com/office/powerpoint/2010/main" val="1008652839"/>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244084E-CE91-49F2-ACD5-9A4A7ADEDC0E}"/>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JDBC và kiểm thử payroll</a:t>
            </a:r>
          </a:p>
        </p:txBody>
      </p:sp>
      <p:sp>
        <p:nvSpPr>
          <p:cNvPr id="2" name="">
            <a:extLst xmlns:a="http://schemas.openxmlformats.org/drawingml/2006/main">
              <a:ext uri="{FF2B5EF4-FFF2-40B4-BE49-F238E27FC236}">
                <a16:creationId xmlns:a16="http://schemas.microsoft.com/office/drawing/2014/main" id="{E2F0AE2D-91D4-4031-AEDE-D08C5D169FE9}"/>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TV4  Nguyễn Quang Vinh  24110385</a:t>
            </a:r>
          </a:p>
        </p:txBody>
      </p:sp>
      <p:sp>
        <p:nvSpPr>
          <p:cNvPr id="3" name="">
            <a:extLst xmlns:a="http://schemas.openxmlformats.org/drawingml/2006/main">
              <a:ext uri="{FF2B5EF4-FFF2-40B4-BE49-F238E27FC236}">
                <a16:creationId xmlns:a16="http://schemas.microsoft.com/office/drawing/2014/main" id="{94E872CD-A120-4ACF-A954-EB6FEA9C3973}"/>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12</a:t>
            </a:r>
          </a:p>
        </p:txBody>
      </p:sp>
      <p:sp>
        <p:nvSpPr>
          <p:cNvPr id="4" name="">
            <a:extLst xmlns:a="http://schemas.openxmlformats.org/drawingml/2006/main">
              <a:ext uri="{FF2B5EF4-FFF2-40B4-BE49-F238E27FC236}">
                <a16:creationId xmlns:a16="http://schemas.microsoft.com/office/drawing/2014/main" id="{5C7BA778-AC4C-44AC-8ECF-97E9FA4082D2}"/>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Giao diện gọi SQL</a:t>
            </a:r>
          </a:p>
        </p:txBody>
      </p:sp>
      <p:sp>
        <p:nvSpPr>
          <p:cNvPr id="5" name="">
            <a:extLst xmlns:a="http://schemas.openxmlformats.org/drawingml/2006/main">
              <a:ext uri="{FF2B5EF4-FFF2-40B4-BE49-F238E27FC236}">
                <a16:creationId xmlns:a16="http://schemas.microsoft.com/office/drawing/2014/main" id="{ED97E330-3B1A-44F0-BE58-CC5C9F48DDC6}"/>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Panel và service kiểm quyền, DAO gọi SP và nhận OUTPUT</a:t>
            </a:r>
          </a:p>
        </p:txBody>
      </p:sp>
      <p:sp>
        <p:nvSpPr>
          <p:cNvPr id="6" name="">
            <a:extLst xmlns:a="http://schemas.openxmlformats.org/drawingml/2006/main">
              <a:ext uri="{FF2B5EF4-FFF2-40B4-BE49-F238E27FC236}">
                <a16:creationId xmlns:a16="http://schemas.microsoft.com/office/drawing/2014/main" id="{33E0E705-A60A-4B79-A4C4-9A87A9B30E37}"/>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E2E 10/10 PASS</a:t>
            </a:r>
          </a:p>
        </p:txBody>
      </p:sp>
      <p:sp>
        <p:nvSpPr>
          <p:cNvPr id="7" name="">
            <a:extLst xmlns:a="http://schemas.openxmlformats.org/drawingml/2006/main">
              <a:ext uri="{FF2B5EF4-FFF2-40B4-BE49-F238E27FC236}">
                <a16:creationId xmlns:a16="http://schemas.microsoft.com/office/drawing/2014/main" id="{B95FD23C-8261-4B53-AE0F-1F2F56BB371E}"/>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Công thức, tính lại nháp, rollback và dữ liệu kỳ cũ</a:t>
            </a:r>
          </a:p>
        </p:txBody>
      </p:sp>
      <p:sp>
        <p:nvSpPr>
          <p:cNvPr id="8" name="">
            <a:extLst xmlns:a="http://schemas.openxmlformats.org/drawingml/2006/main">
              <a:ext uri="{FF2B5EF4-FFF2-40B4-BE49-F238E27FC236}">
                <a16:creationId xmlns:a16="http://schemas.microsoft.com/office/drawing/2014/main" id="{0BB98EA4-49D7-46EF-A980-BDF273030E92}"/>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Index khấu trừ</a:t>
            </a:r>
          </a:p>
        </p:txBody>
      </p:sp>
      <p:sp>
        <p:nvSpPr>
          <p:cNvPr id="9" name="">
            <a:extLst xmlns:a="http://schemas.openxmlformats.org/drawingml/2006/main">
              <a:ext uri="{FF2B5EF4-FFF2-40B4-BE49-F238E27FC236}">
                <a16:creationId xmlns:a16="http://schemas.microsoft.com/office/drawing/2014/main" id="{35C1E7E1-6D99-48BC-882E-FF0446A6618E}"/>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30.000 dòng tạm, 128 kết quả, logical reads 547 xuống 4</a:t>
            </a:r>
          </a:p>
        </p:txBody>
      </p:sp>
    </p:spTree>
    <p:extLst>
      <p:ext uri="{BB962C8B-B14F-4D97-AF65-F5344CB8AC3E}">
        <p14:creationId xmlns:p14="http://schemas.microsoft.com/office/powerpoint/2010/main" val="15447637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6B7AC3-2EE9-43BB-BEA0-08FB934EA83F}"/>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Danh tính SQL và bốn database role</a:t>
            </a:r>
          </a:p>
        </p:txBody>
      </p:sp>
      <p:sp>
        <p:nvSpPr>
          <p:cNvPr id="2" name="">
            <a:extLst xmlns:a="http://schemas.openxmlformats.org/drawingml/2006/main">
              <a:ext uri="{FF2B5EF4-FFF2-40B4-BE49-F238E27FC236}">
                <a16:creationId xmlns:a16="http://schemas.microsoft.com/office/drawing/2014/main" id="{BB6F92E7-3FD2-4755-AC22-46932D555984}"/>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BE7D87B3-4A70-4882-8C90-EC3DECC1F2D5}"/>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13</a:t>
            </a:r>
          </a:p>
        </p:txBody>
      </p:sp>
      <p:graphicFrame>
        <p:nvGraphicFramePr>
          <p:cNvPr id="4" name="">
            <a:extLst xmlns:a="http://schemas.openxmlformats.org/drawingml/2006/main">
              <a:ext uri="{FF2B5EF4-FFF2-40B4-BE49-F238E27FC236}">
                <a16:creationId xmlns:a16="http://schemas.microsoft.com/office/drawing/2014/main" id="{B5A085DF-BD51-41C6-814E-FFBC77B1BDFD}"/>
              </a:ext>
            </a:extLst>
          </p:cNvPr>
          <p:cNvGraphicFramePr/>
          <p:nvPr/>
        </p:nvGraphicFramePr>
        <p:xfrm>
          <a:off xmlns:a="http://schemas.openxmlformats.org/drawingml/2006/main" x="609600" y="1714500"/>
          <a:ext xmlns:a="http://schemas.openxmlformats.org/drawingml/2006/main" cx="10972800" cy="3324225"/>
        </p:xfrm>
        <a:graphic xmlns:a="http://schemas.openxmlformats.org/drawingml/2006/main">
          <a:graphicData uri="http://schemas.openxmlformats.org/drawingml/2006/table">
            <a:tbl>
              <a:tblPr/>
              <a:tblGrid>
                <a:gridCol w="4095750"/>
                <a:gridCol w="6877050"/>
              </a:tblGrid>
              <a:tr h="664845">
                <a:tc>
                  <a:txBody>
                    <a:bodyPr/>
                    <a:lstStyle/>
                    <a:p>
                      <a:r>
                        <a:rPr sz="1800" b="1">
                          <a:solidFill>
                            <a:srgbClr val="FFFFFF"/>
                          </a:solidFill>
                          <a:latin typeface="Segoe UI"/>
                          <a:ea typeface="Segoe UI"/>
                          <a:cs typeface="Segoe UI"/>
                        </a:rPr>
                        <a:t>Role</a:t>
                      </a:r>
                    </a:p>
                  </a:txBody>
                  <a:tcPr marL="123825" marR="123825" marT="85725" marB="85725" anchor="ctr">
                    <a:lnL w="9525">
                      <a:solidFill>
                        <a:srgbClr val="E1E6F0"/>
                      </a:solidFill>
                      <a:prstDash val="solid"/>
                    </a:lnL>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800" b="1">
                          <a:solidFill>
                            <a:srgbClr val="FFFFFF"/>
                          </a:solidFill>
                          <a:latin typeface="Segoe UI"/>
                          <a:ea typeface="Segoe UI"/>
                          <a:cs typeface="Segoe UI"/>
                        </a:rPr>
                        <a:t>Phạm vi chính</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r>
              <a:tr h="664845">
                <a:tc>
                  <a:txBody>
                    <a:bodyPr/>
                    <a:lstStyle/>
                    <a:p>
                      <a:r>
                        <a:rPr sz="1800">
                          <a:solidFill>
                            <a:srgbClr val="17243B"/>
                          </a:solidFill>
                          <a:latin typeface="Segoe UI"/>
                          <a:ea typeface="Segoe UI"/>
                          <a:cs typeface="Segoe UI"/>
                        </a:rPr>
                        <a:t>role_DBAdmin</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Quản trị database, quyền server cấp riêng</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64845">
                <a:tc>
                  <a:txBody>
                    <a:bodyPr/>
                    <a:lstStyle/>
                    <a:p>
                      <a:r>
                        <a:rPr sz="1800">
                          <a:solidFill>
                            <a:srgbClr val="17243B"/>
                          </a:solidFill>
                          <a:latin typeface="Segoe UI"/>
                          <a:ea typeface="Segoe UI"/>
                          <a:cs typeface="Segoe UI"/>
                        </a:rPr>
                        <a:t>role_HRManager</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Hồ sơ, chấm công và khoản phát sinh</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64845">
                <a:tc>
                  <a:txBody>
                    <a:bodyPr/>
                    <a:lstStyle/>
                    <a:p>
                      <a:r>
                        <a:rPr sz="1800">
                          <a:solidFill>
                            <a:srgbClr val="17243B"/>
                          </a:solidFill>
                          <a:latin typeface="Segoe UI"/>
                          <a:ea typeface="Segoe UI"/>
                          <a:cs typeface="Segoe UI"/>
                        </a:rPr>
                        <a:t>role_PayrollOfficer</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Tính, chốt, mở lại và xem lương</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64845">
                <a:tc>
                  <a:txBody>
                    <a:bodyPr/>
                    <a:lstStyle/>
                    <a:p>
                      <a:r>
                        <a:rPr sz="1800">
                          <a:solidFill>
                            <a:srgbClr val="17243B"/>
                          </a:solidFill>
                          <a:latin typeface="Segoe UI"/>
                          <a:ea typeface="Segoe UI"/>
                          <a:cs typeface="Segoe UI"/>
                        </a:rPr>
                        <a:t>role_Employee</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Phiếu lương cá nhân theo ORIGINAL_LOGIN()</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A95F98B-921D-4A77-B671-1007D507E384}"/>
              </a:ext>
            </a:extLst>
          </p:cNvPr>
          <p:cNvSpPr>
            <a:spLocks xmlns:a="http://schemas.openxmlformats.org/drawingml/2006/main" noGrp="1"/>
          </p:cNvSpPr>
          <p:nvPr/>
        </p:nvSpPr>
        <p:spPr>
          <a:xfrm xmlns:a="http://schemas.openxmlformats.org/drawingml/2006/main">
            <a:off x="609600" y="54006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F46E5"/>
                </a:solidFill>
                <a:latin typeface="Segoe UI"/>
                <a:ea typeface="Segoe UI"/>
                <a:cs typeface="Segoe UI"/>
              </a:defRPr>
            </a:defPPr>
          </a:lstStyle>
          <a:p xmlns:a="http://schemas.openxmlformats.org/drawingml/2006/main">
            <a:pPr>
              <a:defRPr sz="2025" b="0">
                <a:solidFill>
                  <a:srgbClr val="4F46E5"/>
                </a:solidFill>
                <a:latin typeface="Segoe UI"/>
                <a:ea typeface="Segoe UI"/>
                <a:cs typeface="Segoe UI"/>
              </a:defRPr>
            </a:pPr>
            <a:r>
              <a:rPr sz="2025" b="0">
                <a:solidFill>
                  <a:srgbClr val="4F46E5"/>
                </a:solidFill>
                <a:latin typeface="Segoe UI"/>
                <a:ea typeface="Segoe UI"/>
                <a:cs typeface="Segoe UI"/>
              </a:rPr>
              <a:t>SQL login / user / role / profile khớp trước khi tạo Session</a:t>
            </a:r>
          </a:p>
        </p:txBody>
      </p:sp>
    </p:spTree>
    <p:extLst>
      <p:ext uri="{BB962C8B-B14F-4D97-AF65-F5344CB8AC3E}">
        <p14:creationId xmlns:p14="http://schemas.microsoft.com/office/powerpoint/2010/main" val="2096635282"/>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8F9312-BA9A-4413-91DD-B4B208DD9AFF}"/>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Chốt lương và bảo vệ nguồn</a:t>
            </a:r>
          </a:p>
        </p:txBody>
      </p:sp>
      <p:sp>
        <p:nvSpPr>
          <p:cNvPr id="2" name="">
            <a:extLst xmlns:a="http://schemas.openxmlformats.org/drawingml/2006/main">
              <a:ext uri="{FF2B5EF4-FFF2-40B4-BE49-F238E27FC236}">
                <a16:creationId xmlns:a16="http://schemas.microsoft.com/office/drawing/2014/main" id="{5227876C-D786-4676-B5E5-41547E81A969}"/>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386830B6-80D1-491B-B9CC-E279D3F1BC45}"/>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14</a:t>
            </a:r>
          </a:p>
        </p:txBody>
      </p:sp>
      <p:sp>
        <p:nvSpPr>
          <p:cNvPr id="4" name="">
            <a:extLst xmlns:a="http://schemas.openxmlformats.org/drawingml/2006/main">
              <a:ext uri="{FF2B5EF4-FFF2-40B4-BE49-F238E27FC236}">
                <a16:creationId xmlns:a16="http://schemas.microsoft.com/office/drawing/2014/main" id="{8369A99D-F35E-4EA8-9574-E1071C770DC0}"/>
              </a:ext>
            </a:extLst>
          </p:cNvPr>
          <p:cNvSpPr>
            <a:spLocks xmlns:a="http://schemas.openxmlformats.org/drawingml/2006/main" noGrp="1"/>
          </p:cNvSpPr>
          <p:nvPr/>
        </p:nvSpPr>
        <p:spPr>
          <a:xfrm xmlns:a="http://schemas.openxmlformats.org/drawingml/2006/main">
            <a:off x="609600" y="150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sp_ChotBangLuong</a:t>
            </a:r>
          </a:p>
        </p:txBody>
      </p:sp>
      <p:sp>
        <p:nvSpPr>
          <p:cNvPr id="5" name="">
            <a:extLst xmlns:a="http://schemas.openxmlformats.org/drawingml/2006/main">
              <a:ext uri="{FF2B5EF4-FFF2-40B4-BE49-F238E27FC236}">
                <a16:creationId xmlns:a16="http://schemas.microsoft.com/office/drawing/2014/main" id="{5B725BDD-2E26-4EAF-AB37-2B02ECD03BF3}"/>
              </a:ext>
            </a:extLst>
          </p:cNvPr>
          <p:cNvSpPr>
            <a:spLocks xmlns:a="http://schemas.openxmlformats.org/drawingml/2006/main" noGrp="1"/>
          </p:cNvSpPr>
          <p:nvPr/>
        </p:nvSpPr>
        <p:spPr>
          <a:xfrm xmlns:a="http://schemas.openxmlformats.org/drawingml/2006/main">
            <a:off x="609600" y="19907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Khóa header, kiểm trạng thái, ghi DA_CHOT và NgayChot</a:t>
            </a:r>
          </a:p>
        </p:txBody>
      </p:sp>
      <p:sp>
        <p:nvSpPr>
          <p:cNvPr id="6" name="">
            <a:extLst xmlns:a="http://schemas.openxmlformats.org/drawingml/2006/main">
              <a:ext uri="{FF2B5EF4-FFF2-40B4-BE49-F238E27FC236}">
                <a16:creationId xmlns:a16="http://schemas.microsoft.com/office/drawing/2014/main" id="{19392371-5A2C-4F82-A88B-3C71BA811B80}"/>
              </a:ext>
            </a:extLst>
          </p:cNvPr>
          <p:cNvSpPr>
            <a:spLocks xmlns:a="http://schemas.openxmlformats.org/drawingml/2006/main" noGrp="1"/>
          </p:cNvSpPr>
          <p:nvPr/>
        </p:nvSpPr>
        <p:spPr>
          <a:xfrm xmlns:a="http://schemas.openxmlformats.org/drawingml/2006/main">
            <a:off x="609600" y="2905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Trigger nguồn và chi tiết</a:t>
            </a:r>
          </a:p>
        </p:txBody>
      </p:sp>
      <p:sp>
        <p:nvSpPr>
          <p:cNvPr id="7" name="">
            <a:extLst xmlns:a="http://schemas.openxmlformats.org/drawingml/2006/main">
              <a:ext uri="{FF2B5EF4-FFF2-40B4-BE49-F238E27FC236}">
                <a16:creationId xmlns:a16="http://schemas.microsoft.com/office/drawing/2014/main" id="{4B4C7804-A9D8-40DF-9BBB-DD1892B65100}"/>
              </a:ext>
            </a:extLst>
          </p:cNvPr>
          <p:cNvSpPr>
            <a:spLocks xmlns:a="http://schemas.openxmlformats.org/drawingml/2006/main" noGrp="1"/>
          </p:cNvSpPr>
          <p:nvPr/>
        </p:nvSpPr>
        <p:spPr>
          <a:xfrm xmlns:a="http://schemas.openxmlformats.org/drawingml/2006/main">
            <a:off x="609600" y="3390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Kiểm inserted / deleted, từ chối sửa dữ liệu của kỳ đã chốt</a:t>
            </a:r>
          </a:p>
        </p:txBody>
      </p:sp>
      <p:sp>
        <p:nvSpPr>
          <p:cNvPr id="8" name="">
            <a:extLst xmlns:a="http://schemas.openxmlformats.org/drawingml/2006/main">
              <a:ext uri="{FF2B5EF4-FFF2-40B4-BE49-F238E27FC236}">
                <a16:creationId xmlns:a16="http://schemas.microsoft.com/office/drawing/2014/main" id="{B822D27F-7C37-4826-B0DB-64075B02C313}"/>
              </a:ext>
            </a:extLst>
          </p:cNvPr>
          <p:cNvSpPr>
            <a:spLocks xmlns:a="http://schemas.openxmlformats.org/drawingml/2006/main" noGrp="1"/>
          </p:cNvSpPr>
          <p:nvPr/>
        </p:nvSpPr>
        <p:spPr>
          <a:xfrm xmlns:a="http://schemas.openxmlformats.org/drawingml/2006/main">
            <a:off x="609600" y="4305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F46E5"/>
                </a:solidFill>
                <a:latin typeface="Segoe UI"/>
                <a:ea typeface="Segoe UI"/>
                <a:cs typeface="Segoe UI"/>
              </a:defRPr>
            </a:defPPr>
          </a:lstStyle>
          <a:p xmlns:a="http://schemas.openxmlformats.org/drawingml/2006/main">
            <a:pPr>
              <a:defRPr sz="2175" b="1">
                <a:solidFill>
                  <a:srgbClr val="4F46E5"/>
                </a:solidFill>
                <a:latin typeface="Segoe UI"/>
                <a:ea typeface="Segoe UI"/>
                <a:cs typeface="Segoe UI"/>
              </a:defRPr>
            </a:pPr>
            <a:r>
              <a:rPr sz="2175" b="1">
                <a:solidFill>
                  <a:srgbClr val="4F46E5"/>
                </a:solidFill>
                <a:latin typeface="Segoe UI"/>
                <a:ea typeface="Segoe UI"/>
                <a:cs typeface="Segoe UI"/>
              </a:rPr>
              <a:t>Tiền DECIMAL(18,2)</a:t>
            </a:r>
          </a:p>
        </p:txBody>
      </p:sp>
      <p:sp>
        <p:nvSpPr>
          <p:cNvPr id="9" name="">
            <a:extLst xmlns:a="http://schemas.openxmlformats.org/drawingml/2006/main">
              <a:ext uri="{FF2B5EF4-FFF2-40B4-BE49-F238E27FC236}">
                <a16:creationId xmlns:a16="http://schemas.microsoft.com/office/drawing/2014/main" id="{8DABB569-720A-4818-8F9C-B2BDF8E8C792}"/>
              </a:ext>
            </a:extLst>
          </p:cNvPr>
          <p:cNvSpPr>
            <a:spLocks xmlns:a="http://schemas.openxmlformats.org/drawingml/2006/main" noGrp="1"/>
          </p:cNvSpPr>
          <p:nvPr/>
        </p:nvSpPr>
        <p:spPr>
          <a:xfrm xmlns:a="http://schemas.openxmlformats.org/drawingml/2006/main">
            <a:off x="609600" y="4791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243B"/>
                </a:solidFill>
                <a:latin typeface="Segoe UI"/>
                <a:ea typeface="Segoe UI"/>
                <a:cs typeface="Segoe UI"/>
              </a:defRPr>
            </a:defPPr>
          </a:lstStyle>
          <a:p xmlns:a="http://schemas.openxmlformats.org/drawingml/2006/main">
            <a:pPr>
              <a:defRPr sz="2025" b="0">
                <a:solidFill>
                  <a:srgbClr val="17243B"/>
                </a:solidFill>
                <a:latin typeface="Segoe UI"/>
                <a:ea typeface="Segoe UI"/>
                <a:cs typeface="Segoe UI"/>
              </a:defRPr>
            </a:pPr>
            <a:r>
              <a:rPr sz="2025" b="0">
                <a:solidFill>
                  <a:srgbClr val="17243B"/>
                </a:solidFill>
                <a:latin typeface="Segoe UI"/>
                <a:ea typeface="Segoe UI"/>
                <a:cs typeface="Segoe UI"/>
              </a:rPr>
              <a:t>NULL là 0, cho phép âm, overflow báo lỗi và rollback</a:t>
            </a:r>
          </a:p>
        </p:txBody>
      </p:sp>
    </p:spTree>
    <p:extLst>
      <p:ext uri="{BB962C8B-B14F-4D97-AF65-F5344CB8AC3E}">
        <p14:creationId xmlns:p14="http://schemas.microsoft.com/office/powerpoint/2010/main" val="1341837427"/>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DB3ECA-CA38-4F3D-BDA7-2015FC246F54}"/>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243B"/>
                </a:solidFill>
                <a:latin typeface="Segoe UI"/>
                <a:ea typeface="Segoe UI"/>
                <a:cs typeface="Segoe UI"/>
              </a:defRPr>
            </a:defPPr>
          </a:lstStyle>
          <a:p xmlns:a="http://schemas.openxmlformats.org/drawingml/2006/main">
            <a:pPr>
              <a:defRPr sz="2850" b="1">
                <a:solidFill>
                  <a:srgbClr val="17243B"/>
                </a:solidFill>
                <a:latin typeface="Segoe UI"/>
                <a:ea typeface="Segoe UI"/>
                <a:cs typeface="Segoe UI"/>
              </a:defRPr>
            </a:pPr>
            <a:r>
              <a:rPr sz="2850" b="1">
                <a:solidFill>
                  <a:srgbClr val="17243B"/>
                </a:solidFill>
                <a:latin typeface="Segoe UI"/>
                <a:ea typeface="Segoe UI"/>
                <a:cs typeface="Segoe UI"/>
              </a:rPr>
              <a:t>Kiểm thử và demo nối tiếp tháng 10</a:t>
            </a:r>
          </a:p>
        </p:txBody>
      </p:sp>
      <p:sp>
        <p:nvSpPr>
          <p:cNvPr id="2" name="">
            <a:extLst xmlns:a="http://schemas.openxmlformats.org/drawingml/2006/main">
              <a:ext uri="{FF2B5EF4-FFF2-40B4-BE49-F238E27FC236}">
                <a16:creationId xmlns:a16="http://schemas.microsoft.com/office/drawing/2014/main" id="{844E840E-BFBB-42D0-9801-06240C8C506E}"/>
              </a:ext>
            </a:extLst>
          </p:cNvPr>
          <p:cNvSpPr>
            <a:spLocks xmlns:a="http://schemas.openxmlformats.org/drawingml/2006/main" noGrp="1"/>
          </p:cNvSpPr>
          <p:nvPr/>
        </p:nvSpPr>
        <p:spPr>
          <a:xfrm xmlns:a="http://schemas.openxmlformats.org/drawingml/2006/main">
            <a:off x="609600" y="63531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27A"/>
                </a:solidFill>
                <a:latin typeface="Segoe UI"/>
                <a:ea typeface="Segoe UI"/>
                <a:cs typeface="Segoe UI"/>
              </a:defRPr>
            </a:defPPr>
          </a:lstStyle>
          <a:p xmlns:a="http://schemas.openxmlformats.org/drawingml/2006/main">
            <a:pPr>
              <a:defRPr sz="1350" b="0">
                <a:solidFill>
                  <a:srgbClr val="52627A"/>
                </a:solidFill>
                <a:latin typeface="Segoe UI"/>
                <a:ea typeface="Segoe UI"/>
                <a:cs typeface="Segoe UI"/>
              </a:defRPr>
            </a:pPr>
            <a:r>
              <a:rPr sz="1350" b="0">
                <a:solidFill>
                  <a:srgbClr val="52627A"/>
                </a:solidFill>
                <a:latin typeface="Segoe UI"/>
                <a:ea typeface="Segoe UI"/>
                <a:cs typeface="Segoe UI"/>
              </a:rPr>
              <a:t>TV5  Trần Đức Anh  24110155</a:t>
            </a:r>
          </a:p>
        </p:txBody>
      </p:sp>
      <p:sp>
        <p:nvSpPr>
          <p:cNvPr id="3" name="">
            <a:extLst xmlns:a="http://schemas.openxmlformats.org/drawingml/2006/main">
              <a:ext uri="{FF2B5EF4-FFF2-40B4-BE49-F238E27FC236}">
                <a16:creationId xmlns:a16="http://schemas.microsoft.com/office/drawing/2014/main" id="{054310B8-C4C7-4CBC-92BC-06DFD7B2A26C}"/>
              </a:ext>
            </a:extLst>
          </p:cNvPr>
          <p:cNvSpPr>
            <a:spLocks xmlns:a="http://schemas.openxmlformats.org/drawingml/2006/main" noGrp="1"/>
          </p:cNvSpPr>
          <p:nvPr/>
        </p:nvSpPr>
        <p:spPr>
          <a:xfrm xmlns:a="http://schemas.openxmlformats.org/drawingml/2006/main">
            <a:off x="11087100" y="6257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4F46E5"/>
                </a:solidFill>
                <a:latin typeface="Segoe UI"/>
                <a:ea typeface="Segoe UI"/>
                <a:cs typeface="Segoe UI"/>
              </a:defRPr>
            </a:defPPr>
          </a:lstStyle>
          <a:p xmlns:a="http://schemas.openxmlformats.org/drawingml/2006/main">
            <a:pPr>
              <a:defRPr sz="2100" b="1">
                <a:solidFill>
                  <a:srgbClr val="4F46E5"/>
                </a:solidFill>
                <a:latin typeface="Segoe UI"/>
                <a:ea typeface="Segoe UI"/>
                <a:cs typeface="Segoe UI"/>
              </a:defRPr>
            </a:pPr>
            <a:r>
              <a:rPr sz="2100" b="1">
                <a:solidFill>
                  <a:srgbClr val="4F46E5"/>
                </a:solidFill>
                <a:latin typeface="Segoe UI"/>
                <a:ea typeface="Segoe UI"/>
                <a:cs typeface="Segoe UI"/>
              </a:rPr>
              <a:t>15</a:t>
            </a:r>
          </a:p>
        </p:txBody>
      </p:sp>
      <p:graphicFrame>
        <p:nvGraphicFramePr>
          <p:cNvPr id="4" name="">
            <a:extLst xmlns:a="http://schemas.openxmlformats.org/drawingml/2006/main">
              <a:ext uri="{FF2B5EF4-FFF2-40B4-BE49-F238E27FC236}">
                <a16:creationId xmlns:a16="http://schemas.microsoft.com/office/drawing/2014/main" id="{2494197F-D439-4CDF-AF58-D0C811ED75DF}"/>
              </a:ext>
            </a:extLst>
          </p:cNvPr>
          <p:cNvGraphicFramePr/>
          <p:nvPr/>
        </p:nvGraphicFramePr>
        <p:xfrm>
          <a:off xmlns:a="http://schemas.openxmlformats.org/drawingml/2006/main" x="609600" y="1695450"/>
          <a:ext xmlns:a="http://schemas.openxmlformats.org/drawingml/2006/main" cx="10972800" cy="3238500"/>
        </p:xfrm>
        <a:graphic xmlns:a="http://schemas.openxmlformats.org/drawingml/2006/main">
          <a:graphicData uri="http://schemas.openxmlformats.org/drawingml/2006/table">
            <a:tbl>
              <a:tblPr/>
              <a:tblGrid>
                <a:gridCol w="4095750"/>
                <a:gridCol w="6877050"/>
              </a:tblGrid>
              <a:tr h="647700">
                <a:tc>
                  <a:txBody>
                    <a:bodyPr/>
                    <a:lstStyle/>
                    <a:p>
                      <a:r>
                        <a:rPr sz="1800" b="1">
                          <a:solidFill>
                            <a:srgbClr val="FFFFFF"/>
                          </a:solidFill>
                          <a:latin typeface="Segoe UI"/>
                          <a:ea typeface="Segoe UI"/>
                          <a:cs typeface="Segoe UI"/>
                        </a:rPr>
                        <a:t>Bộ kiểm / fixture</a:t>
                      </a:r>
                    </a:p>
                  </a:txBody>
                  <a:tcPr marL="123825" marR="123825" marT="85725" marB="85725" anchor="ctr">
                    <a:lnL w="9525">
                      <a:solidFill>
                        <a:srgbClr val="E1E6F0"/>
                      </a:solidFill>
                      <a:prstDash val="solid"/>
                    </a:lnL>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c>
                  <a:txBody>
                    <a:bodyPr/>
                    <a:lstStyle/>
                    <a:p>
                      <a:r>
                        <a:rPr sz="1800" b="1">
                          <a:solidFill>
                            <a:srgbClr val="FFFFFF"/>
                          </a:solidFill>
                          <a:latin typeface="Segoe UI"/>
                          <a:ea typeface="Segoe UI"/>
                          <a:cs typeface="Segoe UI"/>
                        </a:rPr>
                        <a:t>Kết quả và phạm vi</a:t>
                      </a:r>
                    </a:p>
                  </a:txBody>
                  <a:tcPr marL="123825" marR="123825" marT="85725" marB="85725" anchor="ctr">
                    <a:lnR w="9525">
                      <a:solidFill>
                        <a:srgbClr val="E1E6F0"/>
                      </a:solidFill>
                      <a:prstDash val="solid"/>
                    </a:lnR>
                    <a:lnT w="9525">
                      <a:solidFill>
                        <a:srgbClr val="E1E6F0"/>
                      </a:solidFill>
                      <a:prstDash val="solid"/>
                    </a:lnT>
                    <a:lnB w="9525">
                      <a:solidFill>
                        <a:srgbClr val="E1E6F0"/>
                      </a:solidFill>
                      <a:prstDash val="solid"/>
                    </a:lnB>
                    <a:solidFill>
                      <a:srgbClr val="17243B"/>
                    </a:solidFill>
                  </a:tcPr>
                </a:tc>
              </a:tr>
              <a:tr h="647700">
                <a:tc>
                  <a:txBody>
                    <a:bodyPr/>
                    <a:lstStyle/>
                    <a:p>
                      <a:r>
                        <a:rPr sz="1800">
                          <a:solidFill>
                            <a:srgbClr val="17243B"/>
                          </a:solidFill>
                          <a:latin typeface="Segoe UI"/>
                          <a:ea typeface="Segoe UI"/>
                          <a:cs typeface="Segoe UI"/>
                        </a:rPr>
                        <a:t>Java offline</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257 assertions PASS, bốn suite</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47700">
                <a:tc>
                  <a:txBody>
                    <a:bodyPr/>
                    <a:lstStyle/>
                    <a:p>
                      <a:r>
                        <a:rPr sz="1800">
                          <a:solidFill>
                            <a:srgbClr val="17243B"/>
                          </a:solidFill>
                          <a:latin typeface="Segoe UI"/>
                          <a:ea typeface="Segoe UI"/>
                          <a:cs typeface="Segoe UI"/>
                        </a:rPr>
                        <a:t>Benchmark TV5 ngày 13/10</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126 xuống 13 reads, 833 dòng khớp</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47700">
                <a:tc>
                  <a:txBody>
                    <a:bodyPr/>
                    <a:lstStyle/>
                    <a:p>
                      <a:r>
                        <a:rPr sz="1800">
                          <a:solidFill>
                            <a:srgbClr val="17243B"/>
                          </a:solidFill>
                          <a:latin typeface="Segoe UI"/>
                          <a:ea typeface="Segoe UI"/>
                          <a:cs typeface="Segoe UI"/>
                        </a:rPr>
                        <a:t>SQL tích hợp</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E2E, quyền và bốn race nguồn PASS</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r h="647700">
                <a:tc>
                  <a:txBody>
                    <a:bodyPr/>
                    <a:lstStyle/>
                    <a:p>
                      <a:r>
                        <a:rPr sz="1800">
                          <a:solidFill>
                            <a:srgbClr val="17243B"/>
                          </a:solidFill>
                          <a:latin typeface="Segoe UI"/>
                          <a:ea typeface="Segoe UI"/>
                          <a:cs typeface="Segoe UI"/>
                        </a:rPr>
                        <a:t>GUI ngày 13/10</a:t>
                      </a:r>
                    </a:p>
                  </a:txBody>
                  <a:tcPr marL="123825" marR="123825" marT="85725" marB="85725" anchor="ctr">
                    <a:lnL w="9525">
                      <a:solidFill>
                        <a:srgbClr val="E1E6F0"/>
                      </a:solidFill>
                      <a:prstDash val="solid"/>
                    </a:lnL>
                    <a:lnR w="9525">
                      <a:solidFill>
                        <a:srgbClr val="E1E6F0"/>
                      </a:solidFill>
                      <a:prstDash val="solid"/>
                    </a:lnR>
                    <a:lnB w="9525">
                      <a:solidFill>
                        <a:srgbClr val="E1E6F0"/>
                      </a:solidFill>
                      <a:prstDash val="solid"/>
                    </a:lnB>
                    <a:solidFill>
                      <a:srgbClr val="FFFFFF"/>
                    </a:solidFill>
                  </a:tcPr>
                </a:tc>
                <a:tc>
                  <a:txBody>
                    <a:bodyPr/>
                    <a:lstStyle/>
                    <a:p>
                      <a:r>
                        <a:rPr sz="1800">
                          <a:solidFill>
                            <a:srgbClr val="17243B"/>
                          </a:solidFill>
                          <a:latin typeface="Segoe UI"/>
                          <a:ea typeface="Segoe UI"/>
                          <a:cs typeface="Segoe UI"/>
                        </a:rPr>
                        <a:t>QA riêng, role, quản trị login, mất kết nối</a:t>
                      </a:r>
                    </a:p>
                  </a:txBody>
                  <a:tcPr marL="123825" marR="123825" marT="85725" marB="85725" anchor="ctr">
                    <a:lnR w="9525">
                      <a:solidFill>
                        <a:srgbClr val="E1E6F0"/>
                      </a:solidFill>
                      <a:prstDash val="solid"/>
                    </a:lnR>
                    <a:lnB w="9525">
                      <a:solidFill>
                        <a:srgbClr val="E1E6F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9A71D63-0980-4058-8B20-35636C97715F}"/>
              </a:ext>
            </a:extLst>
          </p:cNvPr>
          <p:cNvSpPr>
            <a:spLocks xmlns:a="http://schemas.openxmlformats.org/drawingml/2006/main" noGrp="1"/>
          </p:cNvSpPr>
          <p:nvPr/>
        </p:nvSpPr>
        <p:spPr>
          <a:xfrm xmlns:a="http://schemas.openxmlformats.org/drawingml/2006/main">
            <a:off x="609600" y="529590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4F46E5"/>
                </a:solidFill>
                <a:latin typeface="Segoe UI"/>
                <a:ea typeface="Segoe UI"/>
                <a:cs typeface="Segoe UI"/>
              </a:defRPr>
            </a:defPPr>
          </a:lstStyle>
          <a:p xmlns:a="http://schemas.openxmlformats.org/drawingml/2006/main">
            <a:pPr>
              <a:defRPr sz="1950" b="1">
                <a:solidFill>
                  <a:srgbClr val="4F46E5"/>
                </a:solidFill>
                <a:latin typeface="Segoe UI"/>
                <a:ea typeface="Segoe UI"/>
                <a:cs typeface="Segoe UI"/>
              </a:defRPr>
            </a:pPr>
            <a:r>
              <a:rPr sz="1950" b="1">
                <a:solidFill>
                  <a:srgbClr val="4F46E5"/>
                </a:solidFill>
                <a:latin typeface="Segoe UI"/>
                <a:ea typeface="Segoe UI"/>
                <a:cs typeface="Segoe UI"/>
              </a:rPr>
              <a:t>Demo A 730.000đ, B 0đ: tính, chốt, chặn sửa, xem phiếu, mở lại</a:t>
            </a:r>
          </a:p>
        </p:txBody>
      </p:sp>
    </p:spTree>
    <p:extLst>
      <p:ext uri="{BB962C8B-B14F-4D97-AF65-F5344CB8AC3E}">
        <p14:creationId xmlns:p14="http://schemas.microsoft.com/office/powerpoint/2010/main" val="999936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2026-10-13T14:35:14.4230000Z</dcterms:created>
  <dcterms:modified xsi:type="dcterms:W3CDTF">2026-10-13T14:35:14.4230000Z</dcterms:modified>
</coreProperties>
</file>