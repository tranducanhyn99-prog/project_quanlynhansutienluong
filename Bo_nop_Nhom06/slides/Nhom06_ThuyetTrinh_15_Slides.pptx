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00:00 – 00:30</a:t>
            </a:r>
          </a:p>
          <a:p>
            <a:r>
              <a:t>👤 NGƯỜI TRÌNH BÀY: Nguyễn Minh Trí (TV1 - Đại diện nhóm)</a:t>
            </a:r>
          </a:p>
          <a:p>
            <a:r>
              <a:t>🎯 Ý CHÍNH: Giới thiệu đề tài, giảng viên hướng dẫn và danh sách 5 thành viên nhóm 06.</a:t>
            </a:r>
          </a:p>
          <a:p/>
          <a:p>
            <a:r>
              <a:t>🗣 LỜI DẪN THUYẾT TRÌNH GỢI Ý:</a:t>
            </a:r>
          </a:p>
          <a:p>
            <a:r>
              <a:t>"Kính chào Quý Thầy Cô trong Hội đồng. Hôm nay Nhóm 06 xin phép báo cáo Đồ án môn học Hệ Quản trị Cơ sở Dữ liệu với đề tài: 'Hệ thống Quản lý Nhân sự và Tiền lương' (PeopleOS). Đồ án do TS. Phan Thị Thể hướng dẫn, gồm 5 thành viên phụ trách 5 phân hệ chuyên sâu từ CSDL, Transaction đến Giao diện và Bảo mật. Sau đây em xin bắt đầu phần trình bày."</a:t>
            </a:r>
          </a:p>
          <a:p/>
          <a:p>
            <a:r>
              <a:t>📁 CĂN CỨ KỸ THUẬT: docs/Nhom_06_Bao_Cao_Cuoi_Ky_DBMS330284.docx, phân công docs/Ke_hoach_phan_cong_Project_DBMS_Nhom06.md.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00:30 – 01:00</a:t>
            </a:r>
          </a:p>
          <a:p>
            <a:r>
              <a:t>👤 NGƯỜI TRÌNH BÀY: Nguyễn Minh Trí (TV1)</a:t>
            </a:r>
          </a:p>
          <a:p>
            <a:r>
              <a:t>🎯 Ý CHÍNH: Kiến trúc 3 tầng tách biệt, quy trình tiền lương khép kín và giao diện PeopleOS hiện đại.</a:t>
            </a:r>
          </a:p>
          <a:p/>
          <a:p>
            <a:r>
              <a:t>🗣 LỜI DẪN THUYẾT TRÌNH GỢI Ý:</a:t>
            </a:r>
          </a:p>
          <a:p>
            <a:r>
              <a:t>"Hệ thống PeopleOS được xây dựng theo kiến trúc 3 tầng chuẩn mực: Giao diện Java Swing chạy nền không gây treo UI; tầng Service/DAO quản lý kết nối JDBC; và tầng SQL Server đóng vai trò lõi đảm bảo toàn vẹn dữ liệu qua 10 bảng quan hệ, Stored Procedure và Trigger. Dữ liệu demo tháng 10/2026 kiểm chứng từ khâu nhập công đến chốt lương và tra cứu phiếu cá nhân."</a:t>
            </a:r>
          </a:p>
          <a:p/>
          <a:p>
            <a:r>
              <a:t>📁 CĂN CỨ KỸ THUẬT: Báo cáo Chương 1 &amp; Chương 4 (Kiến trúc Java Swing và JDBC).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01:00 – 01:30</a:t>
            </a:r>
          </a:p>
          <a:p>
            <a:r>
              <a:t>👤 NGƯỜI TRÌNH BÀY: Nguyễn Minh Trí (TV1)</a:t>
            </a:r>
          </a:p>
          <a:p>
            <a:r>
              <a:t>🎯 Ý CHÍNH: ERD 10 bảng, chuẩn hóa 3NF loại bỏ dư thừa và snapshot bảo tồn lịch sử lương.</a:t>
            </a:r>
          </a:p>
          <a:p/>
          <a:p>
            <a:r>
              <a:t>🗣 LỜI DẪN THUYẾT TRÌNH GỢI Ý:</a:t>
            </a:r>
          </a:p>
          <a:p>
            <a:r>
              <a:t>"Về thiết kế dữ liệu, hệ thống gồm đúng 10 bảng quan hệ. Để đạt 3NF, em đã phân rã danh mục phòng ban và chức vụ ra khỏi hồ sơ nhân viên để loại bỏ phụ thuộc bắc cầu; tách riêng chấm công và phụ cấp, khấu trừ để loại bỏ nhóm lặp. Điểm đặc biệt là bảng CHITIETBANGLUONG chủ đích lưu snapshot mức lương lúc tính để bảo tồn lịch sử đối soát khi mức lương hiện tại sau này thay đổi."</a:t>
            </a:r>
          </a:p>
          <a:p/>
          <a:p>
            <a:r>
              <a:t>📁 CĂN CỨ KỸ THUẬT: Báo cáo Chương 2 (Thiết kế CSDL và chuẩn hóa); database/01_Module_NhanSu_TV1.sql.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01:30 – 02:00</a:t>
            </a:r>
          </a:p>
          <a:p>
            <a:r>
              <a:t>👤 NGƯỜI TRÌNH BÀY: Nguyễn Minh Trí (TV1)</a:t>
            </a:r>
          </a:p>
          <a:p>
            <a:r>
              <a:t>🎯 Ý CHÍNH: Ràng buộc CHECK tuổi chính xác ngày, sp_ThemNhanVien đảm bảo tính nguyên tử.</a:t>
            </a:r>
          </a:p>
          <a:p/>
          <a:p>
            <a:r>
              <a:t>🗣 LỜI DẪN THUYẾT TRÌNH GỢI Ý:</a:t>
            </a:r>
          </a:p>
          <a:p>
            <a:r>
              <a:t>"Tại phân hệ nhân sự, em thiết lập ràng buộc CHECK tuổi đủ 18 tuổi chính xác theo ngày vào làm bằng hàm DATEADD, chặn CCCD sai định dạng và SĐT không hợp lệ. Thủ tục sp_ThemNhanVien gom việc thêm nhân viên và tài khoản vào một transaction: nếu bước tạo tài khoản lỗi, toàn bộ hồ sơ được rollback lập tức. Nhân viên thôi việc được quản lý bằng trạng thái và trigger chặn xóa cứng để bảo vệ dữ liệu lịch sử."</a:t>
            </a:r>
          </a:p>
          <a:p/>
          <a:p>
            <a:r>
              <a:t>📁 CĂN CỨ KỸ THUẬT: database/01_Module_NhanSu_TV1.sql; testcase TV1_Age_Boundaries.sql.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02:00 – 02:30</a:t>
            </a:r>
          </a:p>
          <a:p>
            <a:r>
              <a:t>👤 NGƯỜI TRÌNH BÀY: Nguyễn Minh Trí (TV1)</a:t>
            </a:r>
          </a:p>
          <a:p>
            <a:r>
              <a:t>🎯 Ý CHÍNH: Covering Index IX_NHANVIEN_HoTen giảm từ 75 xuống 10 logical reads trên 5.000 dòng.</a:t>
            </a:r>
          </a:p>
          <a:p/>
          <a:p>
            <a:r>
              <a:t>🗣 LỜI DẪN THUYẾT TRÌNH GỢI Ý:</a:t>
            </a:r>
          </a:p>
          <a:p>
            <a:r>
              <a:t>"Để tối ưu tra cứu nhân viên, em tạo chỉ mục IX_NHANVIEN_HoTen kèm các cột INCLUDE phòng ban, chức vụ, liên lạc. Thực nghiệm trên 5.000 dòng cho thấy câu truy vấn chuyển từ Clustered Index Scan sang Index Seek thuần túy, số trang đọc giảm từ 75 xuống chỉ còn 10 logical reads. Sau đây em xin nhường phần trình bày phân hệ Chấm công cho bạn Phạm Minh Quân."</a:t>
            </a:r>
          </a:p>
          <a:p/>
          <a:p>
            <a:r>
              <a:t>📁 CĂN CỨ KỸ THUẬT: test_benchmark_index_TV1.sql; log benchmark PR #51.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02:30 – 03:00</a:t>
            </a:r>
          </a:p>
          <a:p>
            <a:r>
              <a:t>👤 NGƯỜI TRÌNH BÀY: Phạm Minh Quân (TV2)</a:t>
            </a:r>
          </a:p>
          <a:p>
            <a:r>
              <a:t>🎯 Ý CHÍNH: Ràng buộc UNIQUE theo ngày, Trigger kiểm tra giờ ra &gt; giờ vào và bảo vệ kỳ chốt.</a:t>
            </a:r>
          </a:p>
          <a:p/>
          <a:p>
            <a:r>
              <a:t>🗣 LỜI DẪN THUYẾT TRÌNH GỢI Ý:</a:t>
            </a:r>
          </a:p>
          <a:p>
            <a:r>
              <a:t>"Kính thưa Thầy Cô, em là Phạm Minh Quân phụ trách phân hệ Chấm công. Điểm mấu chốt của chấm công là quy tắc mỗi nhân viên chỉ có tối đa một bản ghi công mỗi ngày thông qua ràng buộc UNIQUE MaNV và NgayChamCong. Trigger của em kiểm tra tập hợp để đảm bảo giờ ra phải lớn hơn giờ vào, và chặn đứng mọi thao tác chỉnh sửa công nếu kỳ lương của tháng đó đã được kế toán chốt."</a:t>
            </a:r>
          </a:p>
          <a:p/>
          <a:p>
            <a:r>
              <a:t>📁 CĂN CỨ KỸ THUẬT: database/02_Module_ChamCong_TV2.sql; Trigger trg_ChamCong_KiemTraGio.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03:00 – 03:30</a:t>
            </a:r>
          </a:p>
          <a:p>
            <a:r>
              <a:t>👤 NGƯỜI TRÌNH BÀY: Phạm Minh Quân (TV2)</a:t>
            </a:r>
          </a:p>
          <a:p>
            <a:r>
              <a:t>🎯 Ý CHÍNH: sp_GhiNhanChamCong dùng bare THROW, Java Service điều phối batch transaction và rollback toàn lô khi có lỗi.</a:t>
            </a:r>
          </a:p>
          <a:p/>
          <a:p>
            <a:r>
              <a:t>🗣 LỜI DẪN THUYẾT TRÌNH GỢI Ý:</a:t>
            </a:r>
          </a:p>
          <a:p>
            <a:r>
              <a:t>"Khi ghi nhận chấm công hàng loạt, ứng dụng điều phối transaction tại tầng Java thông qua ChamCongService. Tất cả các lệnh gọi sp_GhiNhanChamCong được thực hiện trên cùng một Connection với auto-commit tắt. Nếu có 10 dòng hợp lệ nhưng dòng thứ 11 vi phạm ràng buộc, toàn bộ 10 dòng trước đó đều bị ROLLBACK, đảm bảo dữ liệu công luôn nhất quán."</a:t>
            </a:r>
          </a:p>
          <a:p/>
          <a:p>
            <a:r>
              <a:t>📁 CĂN CỨ KỸ THUẬT: ChamCongService.java; ChamCongDAO.java; Option B PR #52.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03:30 – 04:00</a:t>
            </a:r>
          </a:p>
          <a:p>
            <a:r>
              <a:t>👤 NGƯỜI TRÌNH BÀY: Phạm Minh Quân (TV2)</a:t>
            </a:r>
          </a:p>
          <a:p>
            <a:r>
              <a:t>🎯 Ý CHÍNH: IX_CHAMCONG giảm từ 574 xuống 5 logical reads trên 30.000 dòng, chuyển thành Covering Seek.</a:t>
            </a:r>
          </a:p>
          <a:p/>
          <a:p>
            <a:r>
              <a:t>🗣 LỜI DẪN THUYẾT TRÌNH GỢI Ý:</a:t>
            </a:r>
          </a:p>
          <a:p>
            <a:r>
              <a:t>"Bảng chấm công có lượng bản ghi phát sinh lớn nhất hệ thống. Em tạo chỉ mục bao phủ IX_CHAMCONG_MaNV_Ngay chứa đầy đủ giờ vào, giờ ra và trạng thái. Thử nghiệm với 30.000 dòng, số logical reads giảm ngoạn mục từ 574 xuống chỉ còn 5 reads, CPU và thời gian thực thi gần như về 0 ms. Tiếp theo, em xin mời bạn Trần Tiến Đạt trình bày phân hệ Phụ cấp và Khấu trừ."</a:t>
            </a:r>
          </a:p>
          <a:p/>
          <a:p>
            <a:r>
              <a:t>📁 CĂN CỨ KỸ THUẬT: test_benchmark_index_TV2.sql; canonical v3 evidence PR #44.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04:00 – 04:30</a:t>
            </a:r>
          </a:p>
          <a:p>
            <a:r>
              <a:t>👤 NGƯỜI TRÌNH BÀY: Trần Tiến Đạt (TV3)</a:t>
            </a:r>
          </a:p>
          <a:p>
            <a:r>
              <a:t>🎯 Ý CHÍNH: Cấu trúc 2 bảng phụ cấp/khấu trừ, CHECK số tiền không âm, function tổng hợp theo kỳ.</a:t>
            </a:r>
          </a:p>
          <a:p/>
          <a:p>
            <a:r>
              <a:t>🗣 LỜI DẪN THUYẾT TRÌNH GỢI Ý:</a:t>
            </a:r>
          </a:p>
          <a:p>
            <a:r>
              <a:t>"Kính thưa Thầy Cô, em là Trần Tiến Đạt phụ trách phân hệ Phụ cấp và Khấu trừ. Hai bảng này lưu các khoản biến động hàng tháng của nhân viên, liên kết bằng khóa ngoại và kiểm soát miền giá trị: số tiền không âm, tháng từ 1 đến 12. Mỗi nhân viên có thể có nhiều khoản phụ cấp hoặc khấu trừ trong cùng tháng, và hệ thống tổng hợp chúng tự động qua hàm fn_TongKhauTru để chuyển cho phân hệ tính lương."</a:t>
            </a:r>
          </a:p>
          <a:p/>
          <a:p>
            <a:r>
              <a:t>📁 CĂN CỨ KỸ THUẬT: database/03_phucap_khautru_TV3.sql; PhuCapKhauTruService.java.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04:30 – 05:00</a:t>
            </a:r>
          </a:p>
          <a:p>
            <a:r>
              <a:t>👤 NGƯỜI TRÌNH BÀY: Trần Tiến Đạt (TV3)</a:t>
            </a:r>
          </a:p>
          <a:p>
            <a:r>
              <a:t>🎯 Ý CHÍNH: sp_XoaKyLuongChuaChot xóa an toàn trong transaction, Trigger khóa dữ liệu nguồn của kỳ đã chốt.</a:t>
            </a:r>
          </a:p>
          <a:p/>
          <a:p>
            <a:r>
              <a:t>🗣 LỜI DẪN THUYẾT TRÌNH GỢI Ý:</a:t>
            </a:r>
          </a:p>
          <a:p>
            <a:r>
              <a:t>"Khi cần hủy một kỳ lương nháp đang tính thử, thủ tục sp_XoaKyLuongChuaChot thực hiện xóa chi tiết trước rồi mới xóa header trong một giao dịch an toàn. Ngược lại, khi kỳ lương đã được xác nhận DA_CHOT, các Trigger phụ cấp và khấu trừ sẽ kích hoạt, chặn mọi hành vi thêm, sửa, xóa hoặc đổi tháng của các khoản phát sinh, đảm bảo số liệu kế toán không bị thay đổi ngầm sau lưng."</a:t>
            </a:r>
          </a:p>
          <a:p/>
          <a:p>
            <a:r>
              <a:t>📁 CĂN CỨ KỸ THUẬT: database/03_phucap_khautru_TV3.sql; database/05_Security_Payroll_TV5.sql.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05:00 – 05:30</a:t>
            </a:r>
          </a:p>
          <a:p>
            <a:r>
              <a:t>👤 NGƯỜI TRÌNH BÀY: Trần Tiến Đạt (TV3)</a:t>
            </a:r>
          </a:p>
          <a:p>
            <a:r>
              <a:t>🎯 Ý CHÍNH: IX_PHUCAP giảm 642 xuống 2 reads, IX_KHAUTRU giảm 547 xuống 4 reads trên 30.000 dòng.</a:t>
            </a:r>
          </a:p>
          <a:p/>
          <a:p>
            <a:r>
              <a:t>🗣 LỜI DẪN THUYẾT TRÌNH GỢI Ý:</a:t>
            </a:r>
          </a:p>
          <a:p>
            <a:r>
              <a:t>"Để việc tính lương hàng nghìn nhân viên không bị chậm trễ, em đã thiết lập chỉ mục bao phủ trên cả 2 bảng phụ cấp và khấu trừ theo bộ ba MaNV, Thang và Nam. Kết quả đo đạc thực tế trên tập dữ liệu 30.000 dòng cho thấy số logical reads giảm từ 642 xuống chỉ còn 2 reads ở phụ cấp, và từ 547 xuống 4 reads ở khấu trừ. Sau đây em xin mời bạn Nguyễn Quang Vinh trình bày phân hệ Tính lương."</a:t>
            </a:r>
          </a:p>
          <a:p/>
          <a:p>
            <a:r>
              <a:t>📁 CĂN CỨ KỸ THUẬT: database/tests_TV3/test_benchmark_index_TV3.sql; evidence PR #43.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05:30 – 06:00</a:t>
            </a:r>
          </a:p>
          <a:p>
            <a:r>
              <a:t>👤 NGƯỜI TRÌNH BÀY: Nguyễn Quang Vinh (TV4)</a:t>
            </a:r>
          </a:p>
          <a:p>
            <a:r>
              <a:t>🎯 Ý CHÍNH: Công thức tính tiền công và thực nhận bằng DECIMAL(18,2), khớp fixture A 730.000đ, B 0đ.</a:t>
            </a:r>
          </a:p>
          <a:p/>
          <a:p>
            <a:r>
              <a:t>🗣 LỜI DẪN THUYẾT TRÌNH GỢI Ý:</a:t>
            </a:r>
          </a:p>
          <a:p>
            <a:r>
              <a:t>"Kính thưa Thầy Cô, em là Nguyễn Quang Vinh phụ trách phân hệ Tính lương. Công thức tính lương của hệ thống được chuẩn hóa qua hàm fn_TinhTienCong và fn_TinhThucNhan bằng kiểu số thực chính xác DECIMAL(18,2). Kịch bản kiểm thử tháng 10 minh chứng rõ ràng: Nhân viên A có 1 ngày làm việc trên 26 công chuẩn được 1 triệu tiền công, cộng 730k phụ cấp và trừ 1 triệu khấu trừ cho ra thực nhận đúng 730.000 đồng; nhân viên B không đi làm nhận 0 đồng."</a:t>
            </a:r>
          </a:p>
          <a:p/>
          <a:p>
            <a:r>
              <a:t>📁 CĂN CỨ KỸ THUẬT: database/04_Module_TinhLuong_TV4.sql; PayrollService.java.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06:00 – 06:30</a:t>
            </a:r>
          </a:p>
          <a:p>
            <a:r>
              <a:t>👤 NGƯỜI TRÌNH BÀY: Nguyễn Quang Vinh (TV4)</a:t>
            </a:r>
          </a:p>
          <a:p>
            <a:r>
              <a:t>🎯 Ý CHÍNH: sp_TinhBangLuongThang giữ khóa header, ưu tiên mức lương snapshot lịch sử và dùng savepoint.</a:t>
            </a:r>
          </a:p>
          <a:p/>
          <a:p>
            <a:r>
              <a:t>🗣 LỜI DẪN THUYẾT TRÌNH GỢI Ý:</a:t>
            </a:r>
          </a:p>
          <a:p>
            <a:r>
              <a:t>"Thủ tục sp_TinhBangLuongThang là nghiệp vụ phức tạp nhất, được bảo vệ bằng khóa UPDLOCK/HOLDLOCK để ngăn hai kế toán cùng tính một lúc. Khi tính lại một kỳ quá khứ, thủ tục thông minh ưu tiên lấy mức lương trong LICHSULUONG hoặc snapshot cũ, chứ không lấy nhầm lương mới tăng của hiện tại. SP cũng linh hoạt kiểm tra @@TRANCOUNT để tạo SAVEPOINT, không làm hỏng transaction của thành phần gọi."</a:t>
            </a:r>
          </a:p>
          <a:p/>
          <a:p>
            <a:r>
              <a:t>📁 CĂN CỨ KỸ THUẬT: database/04_Module_TinhLuong_TV4.sql; BangLuongDAO.tinhBangLuongThang.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06:30 – 07:00</a:t>
            </a:r>
          </a:p>
          <a:p>
            <a:r>
              <a:t>👤 NGƯỜI TRÌNH BÀY: Nguyễn Quang Vinh (TV4)</a:t>
            </a:r>
          </a:p>
          <a:p>
            <a:r>
              <a:t>🎯 Ý CHÍNH: Kết nối CallableStatement nhận OUTPUT, bộ kiểm thử E2E đạt 10/10 kịch bản.</a:t>
            </a:r>
          </a:p>
          <a:p/>
          <a:p>
            <a:r>
              <a:t>🗣 LỜI DẪN THUYẾT TRÌNH GỢI Ý:</a:t>
            </a:r>
          </a:p>
          <a:p>
            <a:r>
              <a:t>"Ở tầng ứng dụng, lớp BangLuongDAO kết nối với SQL Server bằng CallableStatement, truyền tham số và nhận về mã bảng lương mới qua tham số OUTPUT. Em đã xây dựng bộ kiểm thử E2E tự động gồm 10 bước kiểm tra toàn diện từ tính mới, tính lại, rollback khi xảy ra sự cố và bảo vệ kỳ chốt, tất cả đều đạt kết quả tuyệt đối. Tiếp theo, em xin mời bạn Trần Đức Anh trình bày phân hệ Bảo mật và Chốt lương."</a:t>
            </a:r>
          </a:p>
          <a:p/>
          <a:p>
            <a:r>
              <a:t>📁 CĂN CỨ KỸ THUẬT: BangLuongDAO.java; test_payroll_e2e.sql; PR #41.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07:00 – 07:30</a:t>
            </a:r>
          </a:p>
          <a:p>
            <a:r>
              <a:t>👤 NGƯỜI TRÌNH BÀY: Trần Đức Anh (TV5)</a:t>
            </a:r>
          </a:p>
          <a:p>
            <a:r>
              <a:t>🎯 Ý CHÍNH: Xác thực 2 lớp, PBKDF2 600.000 vòng, 4 database roles, bảo vệ Employee bằng ORIGINAL_LOGIN().</a:t>
            </a:r>
          </a:p>
          <a:p/>
          <a:p>
            <a:r>
              <a:t>🗣 LỜI DẪN THUYẾT TRÌNH GỢI Ý:</a:t>
            </a:r>
          </a:p>
          <a:p>
            <a:r>
              <a:t>"Kính thưa Thầy Cô, em là Trần Đức Anh phụ trách Kiến trúc, Bảo mật và Đồng thời. Hệ thống áp dụng mô hình bảo mật 2 lớp: SQL Server xác thực Principal kết nối, và ứng dụng kiểm tra băm mật khẩu PBKDF2 với 600 nghìn vòng lặp. Bốn Database Role kiểm soát chặt chẽ quyền hạn: đặc biệt vai trò Employee bị DENY toàn bộ bảng gốc và chỉ được đọc phiếu lương của chính mình thông qua View lọc bằng hàm hệ thống ORIGINAL_LOGIN()."</a:t>
            </a:r>
          </a:p>
          <a:p/>
          <a:p>
            <a:r>
              <a:t>📁 CĂN CỨ KỸ THUẬT: database/05_Security_Payroll_TV5.sql; AuthService.java; PasswordUtil.java.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07:30 – 08:00</a:t>
            </a:r>
          </a:p>
          <a:p>
            <a:r>
              <a:t>👤 NGƯỜI TRÌNH BÀY: Trần Đức Anh (TV5)</a:t>
            </a:r>
          </a:p>
          <a:p>
            <a:r>
              <a:t>🎯 Ý CHÍNH: sp_ChotBangLuong bảo vệ bằng khóa, mở lại an toàn và kiểm soát tranh chấp concurrency.</a:t>
            </a:r>
          </a:p>
          <a:p/>
          <a:p>
            <a:r>
              <a:t>🗣 LỜI DẪN THUYẾT TRÌNH GỢI Ý:</a:t>
            </a:r>
          </a:p>
          <a:p>
            <a:r>
              <a:t>"Nghiệp vụ chốt lương được thực hiện qua sp_ChotBangLuong với khóa UPDLOCK header. Sau khi chốt, toàn bộ dữ liệu nguồn và chi tiết bị phong tỏa. Khi cần điều chỉnh, kế toán phải thực hiện quy trình mở lại có kiểm soát qua sp_HuyChotBangLuong. Trong tình huống tranh chấp đồng thời khi một bên đang chốt và bên kia cố sửa công, cơ chế khóa buộc giao dịch đến sau phải chờ và từ chối ngay khi thấy trạng thái đã chốt."</a:t>
            </a:r>
          </a:p>
          <a:p/>
          <a:p>
            <a:r>
              <a:t>📁 CĂN CỨ KỸ THUẬT: database/05_Security_Payroll_TV5.sql; test_concurrency_demo_TV5.sql.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08:00 – 08:30</a:t>
            </a:r>
          </a:p>
          <a:p>
            <a:r>
              <a:t>👤 NGƯỜI TRÌNH BÀY: Trần Đức Anh (TV5)</a:t>
            </a:r>
          </a:p>
          <a:p>
            <a:r>
              <a:t>🎯 Ý CHÍNH: Chỉ mục giảm từ 126 xuống 13 reads, bộ test Java đạt 257 assertions, đo thời gian chờ khóa đồng thời.</a:t>
            </a:r>
          </a:p>
          <a:p/>
          <a:p>
            <a:r>
              <a:t>🗣 LỜI DẪN THUYẾT TRÌNH GỢI Ý:</a:t>
            </a:r>
          </a:p>
          <a:p>
            <a:r>
              <a:t>"Tại phân hệ TV5, chỉ mục IX_NHANVIEN_MaPB_MaCV giúp giảm logical reads từ 126 xuống 13 trên tập 10 nghìn dòng. Toàn bộ mã nguồn Java được bảo chứng bởi bộ kiểm thử tự động 257 assertions kiểm tra từ UI, bảo mật đến an toàn phiên làm việc. Phép đo concurrency chứng minh các giao dịch cạnh tranh chốt lương được điều phối tuần tự và bảo vệ số liệu an toàn tuyệt đối."</a:t>
            </a:r>
          </a:p>
          <a:p/>
          <a:p>
            <a:r>
              <a:t>📁 CĂN CỨ KỸ THUẬT: test_benchmark_index_TV5.sql; GuiQaRegressionTest.java; SecurityRegressionTest.java.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THỜI LƯỢNG: 08:30 – 10:00 (Thuyết trình) + 5 phút Demo</a:t>
            </a:r>
          </a:p>
          <a:p>
            <a:r>
              <a:t>👤 NGƯỜI TRÌNH BÀY: Toàn bộ Nhóm 06</a:t>
            </a:r>
          </a:p>
          <a:p>
            <a:r>
              <a:t>🎯 Ý CHÍNH: Tổng kết đề tài, cảm ơn Giảng viên hướng dẫn và Hội đồng, chuyển sang phần demo thực tế.</a:t>
            </a:r>
          </a:p>
          <a:p/>
          <a:p>
            <a:r>
              <a:t>🗣 LỜI DẪN THUYẾT TRÌNH GỢI Ý:</a:t>
            </a:r>
          </a:p>
          <a:p>
            <a:r>
              <a:t>"Thay mặt Nhóm 06, em xin chân thành cảm ơn TS. Phan Thị Thể đã tận tình hướng dẫn nhóm trong suốt học kỳ, và cảm ơn Quý Thầy Cô trong Hội đồng đã lắng nghe. Nhóm đã hoàn thành toàn diện hệ thống từ thiết kế CSDL chuẩn hóa, giao dịch, bảo mật đến ứng dụng hoàn chỉnh. Sau đây, nhóm xin kính mời Thầy Cô cùng theo dõi phần Demo trực tiếp phần mềm trên máy tính."</a:t>
            </a:r>
          </a:p>
          <a:p/>
          <a:p>
            <a:r>
              <a:t>📁 CĂN CỨ KỸ THUẬT: Báo cáo Chương 6 (Kết luận và hướng phát triển).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lide_1_img_1.png"/>
          <p:cNvPicPr>
            <a:picLocks noChangeAspect="1"/>
          </p:cNvPicPr>
          <p:nvPr/>
        </p:nvPicPr>
        <p:blipFill>
          <a:blip r:embed="rId2"/>
          <a:stretch>
            <a:fillRect/>
          </a:stretch>
        </p:blipFill>
        <p:spPr>
          <a:xfrm>
            <a:off x="731520" y="502920"/>
            <a:ext cx="960120" cy="1162594"/>
          </a:xfrm>
          <a:prstGeom prst="rect">
            <a:avLst/>
          </a:prstGeom>
        </p:spPr>
      </p:pic>
      <p:sp>
        <p:nvSpPr>
          <p:cNvPr id="4" name="TextBox 3"/>
          <p:cNvSpPr txBox="1"/>
          <p:nvPr/>
        </p:nvSpPr>
        <p:spPr>
          <a:xfrm>
            <a:off x="1920240" y="502920"/>
            <a:ext cx="9509760" cy="1005840"/>
          </a:xfrm>
          <a:prstGeom prst="rect">
            <a:avLst/>
          </a:prstGeom>
          <a:noFill/>
        </p:spPr>
        <p:txBody>
          <a:bodyPr wrap="none" lIns="0" tIns="0">
            <a:spAutoFit/>
          </a:bodyPr>
          <a:lstStyle/>
          <a:p>
            <a:pPr>
              <a:defRPr sz="1600" b="1">
                <a:solidFill>
                  <a:srgbClr val="4F46E5"/>
                </a:solidFill>
                <a:latin typeface="Segoe UI"/>
              </a:defRPr>
            </a:pPr>
            <a:r>
              <a:t>TRƯỜNG ĐẠI HỌC SƯ PHẠM KỸ THUẬT TP. HỒ CHÍ MINH</a:t>
            </a:r>
          </a:p>
          <a:p>
            <a:pPr>
              <a:defRPr sz="1200" b="1">
                <a:solidFill>
                  <a:srgbClr val="64748B"/>
                </a:solidFill>
                <a:latin typeface="Segoe UI"/>
              </a:defRPr>
            </a:pPr>
            <a:r>
              <a:t>KHOA CÔNG NGHỆ THÔNG TIN  •  BỘ MÔN HỆ THỐNG THÔNG TIN</a:t>
            </a:r>
          </a:p>
        </p:txBody>
      </p:sp>
      <p:sp>
        <p:nvSpPr>
          <p:cNvPr id="5" name="Rounded Rectangle 4"/>
          <p:cNvSpPr/>
          <p:nvPr/>
        </p:nvSpPr>
        <p:spPr>
          <a:xfrm>
            <a:off x="731520" y="1691640"/>
            <a:ext cx="10728655" cy="2011680"/>
          </a:xfrm>
          <a:prstGeom prst="roundRect">
            <a:avLst/>
          </a:prstGeom>
          <a:solidFill>
            <a:srgbClr val="EEF2FF"/>
          </a:solidFill>
          <a:ln w="1905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spcAft>
                <a:spcPts val="400"/>
              </a:spcAft>
              <a:defRPr sz="1400" b="1">
                <a:solidFill>
                  <a:srgbClr val="4F46E5"/>
                </a:solidFill>
                <a:latin typeface="Segoe UI"/>
              </a:defRPr>
            </a:pPr>
            <a:r>
              <a:t>BÁO CÁO ĐỒ ÁN MÔN HỌC HỆ QUẢN TRỊ CƠ SỞ DỮ LIỆU</a:t>
            </a:r>
          </a:p>
          <a:p>
            <a:pPr>
              <a:spcAft>
                <a:spcPts val="800"/>
              </a:spcAft>
              <a:defRPr sz="2600" b="1">
                <a:solidFill>
                  <a:srgbClr val="0F172A"/>
                </a:solidFill>
                <a:latin typeface="Segoe UI"/>
              </a:defRPr>
            </a:pPr>
            <a:r>
              <a:t>HỆ THỐNG QUẢN LÝ NHÂN SỰ VÀ TIỀN LƯƠNG (PeopleOS)</a:t>
            </a:r>
          </a:p>
          <a:p>
            <a:pPr>
              <a:defRPr sz="1300" b="1">
                <a:solidFill>
                  <a:srgbClr val="0891B2"/>
                </a:solidFill>
                <a:latin typeface="Segoe UI"/>
              </a:defRPr>
            </a:pPr>
            <a:r>
              <a:t>Mã lớp: DBMS330284_01   |   GVHD: TS. PHAN THỊ THỂ   |   Học kỳ I (2026 - 2027)</a:t>
            </a:r>
          </a:p>
        </p:txBody>
      </p:sp>
      <p:sp>
        <p:nvSpPr>
          <p:cNvPr id="6" name="Rounded Rectangle 5"/>
          <p:cNvSpPr/>
          <p:nvPr/>
        </p:nvSpPr>
        <p:spPr>
          <a:xfrm>
            <a:off x="731520" y="3886200"/>
            <a:ext cx="10728655" cy="224028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914400" y="3977639"/>
          <a:ext cx="10362895" cy="2057400"/>
        </p:xfrm>
        <a:graphic>
          <a:graphicData uri="http://schemas.openxmlformats.org/drawingml/2006/table">
            <a:tbl>
              <a:tblPr firstRow="1" bandRow="1">
                <a:tableStyleId>{5C22544A-7EE6-4342-B048-85BDC9FD1C3A}</a:tableStyleId>
              </a:tblPr>
              <a:tblGrid>
                <a:gridCol w="548640"/>
                <a:gridCol w="2286000"/>
                <a:gridCol w="1280160"/>
                <a:gridCol w="6248095"/>
              </a:tblGrid>
              <a:tr h="342900">
                <a:tc>
                  <a:txBody>
                    <a:bodyPr/>
                    <a:lstStyle/>
                    <a:p>
                      <a:pPr algn="ctr">
                        <a:defRPr sz="1100" b="1">
                          <a:solidFill>
                            <a:srgbClr val="4F46E5"/>
                          </a:solidFill>
                          <a:latin typeface="Segoe UI"/>
                        </a:defRPr>
                      </a:pPr>
                      <a:r>
                        <a:t>STT</a:t>
                      </a:r>
                    </a:p>
                  </a:txBody>
                  <a:tcPr>
                    <a:solidFill>
                      <a:srgbClr val="EEF2FF"/>
                    </a:solidFill>
                  </a:tcPr>
                </a:tc>
                <a:tc>
                  <a:txBody>
                    <a:bodyPr/>
                    <a:lstStyle/>
                    <a:p>
                      <a:pPr algn="ctr">
                        <a:defRPr sz="1100" b="1">
                          <a:solidFill>
                            <a:srgbClr val="4F46E5"/>
                          </a:solidFill>
                          <a:latin typeface="Segoe UI"/>
                        </a:defRPr>
                      </a:pPr>
                      <a:r>
                        <a:t>Thành viên thực hiện</a:t>
                      </a:r>
                    </a:p>
                  </a:txBody>
                  <a:tcPr>
                    <a:solidFill>
                      <a:srgbClr val="EEF2FF"/>
                    </a:solidFill>
                  </a:tcPr>
                </a:tc>
                <a:tc>
                  <a:txBody>
                    <a:bodyPr/>
                    <a:lstStyle/>
                    <a:p>
                      <a:pPr algn="ctr">
                        <a:defRPr sz="1100" b="1">
                          <a:solidFill>
                            <a:srgbClr val="4F46E5"/>
                          </a:solidFill>
                          <a:latin typeface="Segoe UI"/>
                        </a:defRPr>
                      </a:pPr>
                      <a:r>
                        <a:t>MSSV</a:t>
                      </a:r>
                    </a:p>
                  </a:txBody>
                  <a:tcPr>
                    <a:solidFill>
                      <a:srgbClr val="EEF2FF"/>
                    </a:solidFill>
                  </a:tcPr>
                </a:tc>
                <a:tc>
                  <a:txBody>
                    <a:bodyPr/>
                    <a:lstStyle/>
                    <a:p>
                      <a:pPr algn="l">
                        <a:defRPr sz="1100" b="1">
                          <a:solidFill>
                            <a:srgbClr val="4F46E5"/>
                          </a:solidFill>
                          <a:latin typeface="Segoe UI"/>
                        </a:defRPr>
                      </a:pPr>
                      <a:r>
                        <a:t>Phân hệ đảm nhiệm &amp; Vai trò</a:t>
                      </a:r>
                    </a:p>
                  </a:txBody>
                  <a:tcPr>
                    <a:solidFill>
                      <a:srgbClr val="EEF2FF"/>
                    </a:solidFill>
                  </a:tcPr>
                </a:tc>
              </a:tr>
              <a:tr h="342900">
                <a:tc>
                  <a:txBody>
                    <a:bodyPr/>
                    <a:lstStyle/>
                    <a:p>
                      <a:pPr algn="ctr">
                        <a:defRPr sz="1050" b="0">
                          <a:solidFill>
                            <a:srgbClr val="0F172A"/>
                          </a:solidFill>
                          <a:latin typeface="Segoe UI"/>
                        </a:defRPr>
                      </a:pPr>
                      <a:r>
                        <a:t>1</a:t>
                      </a:r>
                    </a:p>
                  </a:txBody>
                  <a:tcPr>
                    <a:solidFill>
                      <a:srgbClr val="FFFFFF"/>
                    </a:solidFill>
                  </a:tcPr>
                </a:tc>
                <a:tc>
                  <a:txBody>
                    <a:bodyPr/>
                    <a:lstStyle/>
                    <a:p>
                      <a:pPr algn="ctr">
                        <a:defRPr sz="1050" b="1">
                          <a:solidFill>
                            <a:srgbClr val="0F172A"/>
                          </a:solidFill>
                          <a:latin typeface="Segoe UI"/>
                        </a:defRPr>
                      </a:pPr>
                      <a:r>
                        <a:t>Nguyễn Minh Trí</a:t>
                      </a:r>
                    </a:p>
                  </a:txBody>
                  <a:tcPr>
                    <a:solidFill>
                      <a:srgbClr val="FFFFFF"/>
                    </a:solidFill>
                  </a:tcPr>
                </a:tc>
                <a:tc>
                  <a:txBody>
                    <a:bodyPr/>
                    <a:lstStyle/>
                    <a:p>
                      <a:pPr algn="ctr">
                        <a:defRPr sz="1050" b="1">
                          <a:solidFill>
                            <a:srgbClr val="0F172A"/>
                          </a:solidFill>
                          <a:latin typeface="Segoe UI"/>
                        </a:defRPr>
                      </a:pPr>
                      <a:r>
                        <a:t>24110359</a:t>
                      </a:r>
                    </a:p>
                  </a:txBody>
                  <a:tcPr>
                    <a:solidFill>
                      <a:srgbClr val="FFFFFF"/>
                    </a:solidFill>
                  </a:tcPr>
                </a:tc>
                <a:tc>
                  <a:txBody>
                    <a:bodyPr/>
                    <a:lstStyle/>
                    <a:p>
                      <a:pPr algn="l">
                        <a:defRPr sz="1050" b="0">
                          <a:solidFill>
                            <a:srgbClr val="1E293B"/>
                          </a:solidFill>
                          <a:latin typeface="Segoe UI"/>
                        </a:defRPr>
                      </a:pPr>
                      <a:r>
                        <a:t>TV1: Thiết kế CSDL 10 bảng (3NF), Module Nhân sự &amp; Quản lý Transaction</a:t>
                      </a:r>
                    </a:p>
                  </a:txBody>
                  <a:tcPr>
                    <a:solidFill>
                      <a:srgbClr val="FFFFFF"/>
                    </a:solidFill>
                  </a:tcPr>
                </a:tc>
              </a:tr>
              <a:tr h="342900">
                <a:tc>
                  <a:txBody>
                    <a:bodyPr/>
                    <a:lstStyle/>
                    <a:p>
                      <a:pPr algn="ctr">
                        <a:defRPr sz="1050" b="0">
                          <a:solidFill>
                            <a:srgbClr val="0F172A"/>
                          </a:solidFill>
                          <a:latin typeface="Segoe UI"/>
                        </a:defRPr>
                      </a:pPr>
                      <a:r>
                        <a:t>2</a:t>
                      </a:r>
                    </a:p>
                  </a:txBody>
                  <a:tcPr>
                    <a:solidFill>
                      <a:srgbClr val="F8FAFC"/>
                    </a:solidFill>
                  </a:tcPr>
                </a:tc>
                <a:tc>
                  <a:txBody>
                    <a:bodyPr/>
                    <a:lstStyle/>
                    <a:p>
                      <a:pPr algn="ctr">
                        <a:defRPr sz="1050" b="1">
                          <a:solidFill>
                            <a:srgbClr val="0F172A"/>
                          </a:solidFill>
                          <a:latin typeface="Segoe UI"/>
                        </a:defRPr>
                      </a:pPr>
                      <a:r>
                        <a:t>Phạm Minh Quân</a:t>
                      </a:r>
                    </a:p>
                  </a:txBody>
                  <a:tcPr>
                    <a:solidFill>
                      <a:srgbClr val="F8FAFC"/>
                    </a:solidFill>
                  </a:tcPr>
                </a:tc>
                <a:tc>
                  <a:txBody>
                    <a:bodyPr/>
                    <a:lstStyle/>
                    <a:p>
                      <a:pPr algn="ctr">
                        <a:defRPr sz="1050" b="1">
                          <a:solidFill>
                            <a:srgbClr val="0F172A"/>
                          </a:solidFill>
                          <a:latin typeface="Segoe UI"/>
                        </a:defRPr>
                      </a:pPr>
                      <a:r>
                        <a:t>24110311</a:t>
                      </a:r>
                    </a:p>
                  </a:txBody>
                  <a:tcPr>
                    <a:solidFill>
                      <a:srgbClr val="F8FAFC"/>
                    </a:solidFill>
                  </a:tcPr>
                </a:tc>
                <a:tc>
                  <a:txBody>
                    <a:bodyPr/>
                    <a:lstStyle/>
                    <a:p>
                      <a:pPr algn="l">
                        <a:defRPr sz="1050" b="0">
                          <a:solidFill>
                            <a:srgbClr val="1E293B"/>
                          </a:solidFill>
                          <a:latin typeface="Segoe UI"/>
                        </a:defRPr>
                      </a:pPr>
                      <a:r>
                        <a:t>TV2: Phân hệ Chấm công theo ngày, Xử lý lô Batch JDBC &amp; Covering Index</a:t>
                      </a:r>
                    </a:p>
                  </a:txBody>
                  <a:tcPr>
                    <a:solidFill>
                      <a:srgbClr val="F8FAFC"/>
                    </a:solidFill>
                  </a:tcPr>
                </a:tc>
              </a:tr>
              <a:tr h="342900">
                <a:tc>
                  <a:txBody>
                    <a:bodyPr/>
                    <a:lstStyle/>
                    <a:p>
                      <a:pPr algn="ctr">
                        <a:defRPr sz="1050" b="0">
                          <a:solidFill>
                            <a:srgbClr val="0F172A"/>
                          </a:solidFill>
                          <a:latin typeface="Segoe UI"/>
                        </a:defRPr>
                      </a:pPr>
                      <a:r>
                        <a:t>3</a:t>
                      </a:r>
                    </a:p>
                  </a:txBody>
                  <a:tcPr>
                    <a:solidFill>
                      <a:srgbClr val="FFFFFF"/>
                    </a:solidFill>
                  </a:tcPr>
                </a:tc>
                <a:tc>
                  <a:txBody>
                    <a:bodyPr/>
                    <a:lstStyle/>
                    <a:p>
                      <a:pPr algn="ctr">
                        <a:defRPr sz="1050" b="1">
                          <a:solidFill>
                            <a:srgbClr val="0F172A"/>
                          </a:solidFill>
                          <a:latin typeface="Segoe UI"/>
                        </a:defRPr>
                      </a:pPr>
                      <a:r>
                        <a:t>Trần Tiến Đạt</a:t>
                      </a:r>
                    </a:p>
                  </a:txBody>
                  <a:tcPr>
                    <a:solidFill>
                      <a:srgbClr val="FFFFFF"/>
                    </a:solidFill>
                  </a:tcPr>
                </a:tc>
                <a:tc>
                  <a:txBody>
                    <a:bodyPr/>
                    <a:lstStyle/>
                    <a:p>
                      <a:pPr algn="ctr">
                        <a:defRPr sz="1050" b="1">
                          <a:solidFill>
                            <a:srgbClr val="0F172A"/>
                          </a:solidFill>
                          <a:latin typeface="Segoe UI"/>
                        </a:defRPr>
                      </a:pPr>
                      <a:r>
                        <a:t>24110198</a:t>
                      </a:r>
                    </a:p>
                  </a:txBody>
                  <a:tcPr>
                    <a:solidFill>
                      <a:srgbClr val="FFFFFF"/>
                    </a:solidFill>
                  </a:tcPr>
                </a:tc>
                <a:tc>
                  <a:txBody>
                    <a:bodyPr/>
                    <a:lstStyle/>
                    <a:p>
                      <a:pPr algn="l">
                        <a:defRPr sz="1050" b="0">
                          <a:solidFill>
                            <a:srgbClr val="1E293B"/>
                          </a:solidFill>
                          <a:latin typeface="Segoe UI"/>
                        </a:defRPr>
                      </a:pPr>
                      <a:r>
                        <a:t>TV3: Phân hệ Phụ cấp &amp; Khấu trừ, Xóa kỳ nháp &amp; Trigger khóa nguồn</a:t>
                      </a:r>
                    </a:p>
                  </a:txBody>
                  <a:tcPr>
                    <a:solidFill>
                      <a:srgbClr val="FFFFFF"/>
                    </a:solidFill>
                  </a:tcPr>
                </a:tc>
              </a:tr>
              <a:tr h="342900">
                <a:tc>
                  <a:txBody>
                    <a:bodyPr/>
                    <a:lstStyle/>
                    <a:p>
                      <a:pPr algn="ctr">
                        <a:defRPr sz="1050" b="0">
                          <a:solidFill>
                            <a:srgbClr val="0F172A"/>
                          </a:solidFill>
                          <a:latin typeface="Segoe UI"/>
                        </a:defRPr>
                      </a:pPr>
                      <a:r>
                        <a:t>4</a:t>
                      </a:r>
                    </a:p>
                  </a:txBody>
                  <a:tcPr>
                    <a:solidFill>
                      <a:srgbClr val="F8FAFC"/>
                    </a:solidFill>
                  </a:tcPr>
                </a:tc>
                <a:tc>
                  <a:txBody>
                    <a:bodyPr/>
                    <a:lstStyle/>
                    <a:p>
                      <a:pPr algn="ctr">
                        <a:defRPr sz="1050" b="1">
                          <a:solidFill>
                            <a:srgbClr val="0F172A"/>
                          </a:solidFill>
                          <a:latin typeface="Segoe UI"/>
                        </a:defRPr>
                      </a:pPr>
                      <a:r>
                        <a:t>Nguyễn Quang Vinh</a:t>
                      </a:r>
                    </a:p>
                  </a:txBody>
                  <a:tcPr>
                    <a:solidFill>
                      <a:srgbClr val="F8FAFC"/>
                    </a:solidFill>
                  </a:tcPr>
                </a:tc>
                <a:tc>
                  <a:txBody>
                    <a:bodyPr/>
                    <a:lstStyle/>
                    <a:p>
                      <a:pPr algn="ctr">
                        <a:defRPr sz="1050" b="1">
                          <a:solidFill>
                            <a:srgbClr val="0F172A"/>
                          </a:solidFill>
                          <a:latin typeface="Segoe UI"/>
                        </a:defRPr>
                      </a:pPr>
                      <a:r>
                        <a:t>24110385</a:t>
                      </a:r>
                    </a:p>
                  </a:txBody>
                  <a:tcPr>
                    <a:solidFill>
                      <a:srgbClr val="F8FAFC"/>
                    </a:solidFill>
                  </a:tcPr>
                </a:tc>
                <a:tc>
                  <a:txBody>
                    <a:bodyPr/>
                    <a:lstStyle/>
                    <a:p>
                      <a:pPr algn="l">
                        <a:defRPr sz="1050" b="0">
                          <a:solidFill>
                            <a:srgbClr val="1E293B"/>
                          </a:solidFill>
                          <a:latin typeface="Segoe UI"/>
                        </a:defRPr>
                      </a:pPr>
                      <a:r>
                        <a:t>TV4: Nghiệp vụ Tính lương, Snapshot lịch sử, Savepoint &amp; Payroll E2E</a:t>
                      </a:r>
                    </a:p>
                  </a:txBody>
                  <a:tcPr>
                    <a:solidFill>
                      <a:srgbClr val="F8FAFC"/>
                    </a:solidFill>
                  </a:tcPr>
                </a:tc>
              </a:tr>
              <a:tr h="342900">
                <a:tc>
                  <a:txBody>
                    <a:bodyPr/>
                    <a:lstStyle/>
                    <a:p>
                      <a:pPr algn="ctr">
                        <a:defRPr sz="1050" b="0">
                          <a:solidFill>
                            <a:srgbClr val="0F172A"/>
                          </a:solidFill>
                          <a:latin typeface="Segoe UI"/>
                        </a:defRPr>
                      </a:pPr>
                      <a:r>
                        <a:t>5</a:t>
                      </a:r>
                    </a:p>
                  </a:txBody>
                  <a:tcPr>
                    <a:solidFill>
                      <a:srgbClr val="FFFFFF"/>
                    </a:solidFill>
                  </a:tcPr>
                </a:tc>
                <a:tc>
                  <a:txBody>
                    <a:bodyPr/>
                    <a:lstStyle/>
                    <a:p>
                      <a:pPr algn="ctr">
                        <a:defRPr sz="1050" b="1">
                          <a:solidFill>
                            <a:srgbClr val="0F172A"/>
                          </a:solidFill>
                          <a:latin typeface="Segoe UI"/>
                        </a:defRPr>
                      </a:pPr>
                      <a:r>
                        <a:t>Trần Đức Anh</a:t>
                      </a:r>
                    </a:p>
                  </a:txBody>
                  <a:tcPr>
                    <a:solidFill>
                      <a:srgbClr val="FFFFFF"/>
                    </a:solidFill>
                  </a:tcPr>
                </a:tc>
                <a:tc>
                  <a:txBody>
                    <a:bodyPr/>
                    <a:lstStyle/>
                    <a:p>
                      <a:pPr algn="ctr">
                        <a:defRPr sz="1050" b="1">
                          <a:solidFill>
                            <a:srgbClr val="0F172A"/>
                          </a:solidFill>
                          <a:latin typeface="Segoe UI"/>
                        </a:defRPr>
                      </a:pPr>
                      <a:r>
                        <a:t>24110155</a:t>
                      </a:r>
                    </a:p>
                  </a:txBody>
                  <a:tcPr>
                    <a:solidFill>
                      <a:srgbClr val="FFFFFF"/>
                    </a:solidFill>
                  </a:tcPr>
                </a:tc>
                <a:tc>
                  <a:txBody>
                    <a:bodyPr/>
                    <a:lstStyle/>
                    <a:p>
                      <a:pPr algn="l">
                        <a:defRPr sz="1050" b="0">
                          <a:solidFill>
                            <a:srgbClr val="1E293B"/>
                          </a:solidFill>
                          <a:latin typeface="Segoe UI"/>
                        </a:defRPr>
                      </a:pPr>
                      <a:r>
                        <a:t>TV5: Kiến trúc 3 tầng, Phân quyền 4 Roles, Chốt lương &amp; Xử lý đồng thời</a:t>
                      </a:r>
                    </a:p>
                  </a:txBody>
                  <a:tcPr>
                    <a:solidFill>
                      <a:srgbClr val="FFFFFF"/>
                    </a:solidFill>
                  </a:tcPr>
                </a:tc>
              </a:tr>
            </a:tbl>
          </a:graphicData>
        </a:graphic>
      </p:graphicFrame>
      <p:sp>
        <p:nvSpPr>
          <p:cNvPr id="8" name="Rectangle 7"/>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Báo cáo Đồ án cuối kỳ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TỔNG QUAN ĐỀ TÀI</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Tổng quan Bài toán &amp; Kiến trúc Hệ thống PeopleOS</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02</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Mục tiêu bài toán quản lý</a:t>
            </a:r>
          </a:p>
          <a:p>
            <a:pPr>
              <a:spcAft>
                <a:spcPts val="300"/>
              </a:spcAft>
              <a:defRPr sz="1200">
                <a:solidFill>
                  <a:srgbClr val="1E293B"/>
                </a:solidFill>
                <a:latin typeface="Segoe UI"/>
              </a:defRPr>
            </a:pPr>
            <a:r>
              <a:rPr b="1">
                <a:solidFill>
                  <a:srgbClr val="0F172A"/>
                </a:solidFill>
              </a:rPr>
              <a:t>• Quản lý tập trung: </a:t>
            </a:r>
            <a:r>
              <a:rPr b="0"/>
              <a:t>20 hồ sơ nhân sự, danh mục phòng ban, chức vụ, trạng thái công tác.</a:t>
            </a:r>
          </a:p>
          <a:p>
            <a:pPr>
              <a:spcAft>
                <a:spcPts val="300"/>
              </a:spcAft>
              <a:defRPr sz="1200">
                <a:solidFill>
                  <a:srgbClr val="1E293B"/>
                </a:solidFill>
                <a:latin typeface="Segoe UI"/>
              </a:defRPr>
            </a:pPr>
            <a:r>
              <a:rPr b="1">
                <a:solidFill>
                  <a:srgbClr val="0F172A"/>
                </a:solidFill>
              </a:rPr>
              <a:t>• Quy trình tiền lương khép kín: </a:t>
            </a:r>
            <a:r>
              <a:rPr b="0"/>
              <a:t>Chấm công hàng ngày -&gt; Ghi nhận phụ cấp/khấu trừ -&gt; Tính lương -&gt; Chốt kỳ.</a:t>
            </a:r>
          </a:p>
          <a:p>
            <a:pPr>
              <a:spcAft>
                <a:spcPts val="300"/>
              </a:spcAft>
              <a:defRPr sz="1200">
                <a:solidFill>
                  <a:srgbClr val="1E293B"/>
                </a:solidFill>
                <a:latin typeface="Segoe UI"/>
              </a:defRPr>
            </a:pPr>
            <a:r>
              <a:rPr b="1">
                <a:solidFill>
                  <a:srgbClr val="0F172A"/>
                </a:solidFill>
              </a:rPr>
              <a:t>• Bảo đảm toàn vẹn dữ liệu: </a:t>
            </a:r>
            <a:r>
              <a:rPr b="0"/>
              <a:t>Không lặp công, khóa chỉnh sửa kỳ đã chốt bằng Trigger.</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Kiến trúc 3 tầng (Three-Tier Architecture)</a:t>
            </a:r>
          </a:p>
          <a:p>
            <a:pPr>
              <a:spcAft>
                <a:spcPts val="300"/>
              </a:spcAft>
              <a:defRPr sz="1200">
                <a:solidFill>
                  <a:srgbClr val="1E293B"/>
                </a:solidFill>
                <a:latin typeface="Segoe UI"/>
              </a:defRPr>
            </a:pPr>
            <a:r>
              <a:rPr b="1">
                <a:solidFill>
                  <a:srgbClr val="0F172A"/>
                </a:solidFill>
              </a:rPr>
              <a:t>• Presentation Layer: </a:t>
            </a:r>
            <a:r>
              <a:rPr b="0"/>
              <a:t>Java Swing PeopleOS Light Theme, tác vụ nền bất đồng bộ SwingWorker.</a:t>
            </a:r>
          </a:p>
          <a:p>
            <a:pPr>
              <a:spcAft>
                <a:spcPts val="300"/>
              </a:spcAft>
              <a:defRPr sz="1200">
                <a:solidFill>
                  <a:srgbClr val="1E293B"/>
                </a:solidFill>
                <a:latin typeface="Segoe UI"/>
              </a:defRPr>
            </a:pPr>
            <a:r>
              <a:rPr b="1">
                <a:solidFill>
                  <a:srgbClr val="0F172A"/>
                </a:solidFill>
              </a:rPr>
              <a:t>• Business / Data Access: </a:t>
            </a:r>
            <a:r>
              <a:rPr b="0"/>
              <a:t>Service điều phối giao dịch, DAO kết nối JDBC bảo mật.</a:t>
            </a:r>
          </a:p>
          <a:p>
            <a:pPr>
              <a:spcAft>
                <a:spcPts val="300"/>
              </a:spcAft>
              <a:defRPr sz="1200">
                <a:solidFill>
                  <a:srgbClr val="1E293B"/>
                </a:solidFill>
                <a:latin typeface="Segoe UI"/>
              </a:defRPr>
            </a:pPr>
            <a:r>
              <a:rPr b="1">
                <a:solidFill>
                  <a:srgbClr val="0F172A"/>
                </a:solidFill>
              </a:rPr>
              <a:t>• Database Layer: </a:t>
            </a:r>
            <a:r>
              <a:rPr b="0"/>
              <a:t>SQL Server 10 bảng đạt 3NF, 14 Stored Procedures, 5 Functions, 9 Triggers, 4 Roles.</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Kịch bản Demo thực tế</a:t>
            </a:r>
          </a:p>
          <a:p>
            <a:pPr>
              <a:spcAft>
                <a:spcPts val="300"/>
              </a:spcAft>
              <a:defRPr sz="1200">
                <a:solidFill>
                  <a:srgbClr val="1E293B"/>
                </a:solidFill>
                <a:latin typeface="Segoe UI"/>
              </a:defRPr>
            </a:pPr>
            <a:r>
              <a:rPr b="1">
                <a:solidFill>
                  <a:srgbClr val="0F172A"/>
                </a:solidFill>
              </a:rPr>
              <a:t>• Dữ liệu thực tế tháng 10/2026: </a:t>
            </a:r>
            <a:r>
              <a:rPr b="0"/>
              <a:t>20 nhân sự đa phòng ban, Nhân viên A (730.000đ), Nhân viên B (0đ).</a:t>
            </a:r>
          </a:p>
          <a:p>
            <a:pPr>
              <a:spcAft>
                <a:spcPts val="300"/>
              </a:spcAft>
              <a:defRPr sz="1200">
                <a:solidFill>
                  <a:srgbClr val="1E293B"/>
                </a:solidFill>
                <a:latin typeface="Segoe UI"/>
              </a:defRPr>
            </a:pPr>
            <a:r>
              <a:rPr b="1">
                <a:solidFill>
                  <a:srgbClr val="0F172A"/>
                </a:solidFill>
              </a:rPr>
              <a:t>• Luồng trải nghiệm xuyên suốt qua 4 vai trò: </a:t>
            </a:r>
            <a:r>
              <a:rPr b="0"/>
              <a:t>Admin -&gt; HR -&gt; Payroll -&gt; Employee.</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2_img_1.png"/>
          <p:cNvPicPr>
            <a:picLocks noChangeAspect="1"/>
          </p:cNvPicPr>
          <p:nvPr/>
        </p:nvPicPr>
        <p:blipFill>
          <a:blip r:embed="rId2"/>
          <a:stretch>
            <a:fillRect/>
          </a:stretch>
        </p:blipFill>
        <p:spPr>
          <a:xfrm>
            <a:off x="6355080" y="1417320"/>
            <a:ext cx="4967935" cy="3104959"/>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2.1: Giao diện Tổng quan Dashboard PeopleOS</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TV1: Nguyễn Minh Trí — Đại diện nhóm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PHÂN HỆ NHÂN SỰ — TV1 NGUYỄN MINH TRÍ (24110359)</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Mô hình Dữ liệu 10 Bảng &amp; Chuẩn hóa 3NF</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03</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Cấu trúc 10 bảng nghiệp vụ</a:t>
            </a:r>
          </a:p>
          <a:p>
            <a:pPr>
              <a:spcAft>
                <a:spcPts val="300"/>
              </a:spcAft>
              <a:defRPr sz="1200">
                <a:solidFill>
                  <a:srgbClr val="1E293B"/>
                </a:solidFill>
                <a:latin typeface="Segoe UI"/>
              </a:defRPr>
            </a:pPr>
            <a:r>
              <a:rPr b="1">
                <a:solidFill>
                  <a:srgbClr val="0F172A"/>
                </a:solidFill>
              </a:rPr>
              <a:t>• Bảng danh mục &amp; nhân sự: </a:t>
            </a:r>
            <a:r>
              <a:rPr b="0"/>
              <a:t>PHONGBAN, CHUCVU, NHANVIEN, TAIKHOAN.</a:t>
            </a:r>
          </a:p>
          <a:p>
            <a:pPr>
              <a:spcAft>
                <a:spcPts val="300"/>
              </a:spcAft>
              <a:defRPr sz="1200">
                <a:solidFill>
                  <a:srgbClr val="1E293B"/>
                </a:solidFill>
                <a:latin typeface="Segoe UI"/>
              </a:defRPr>
            </a:pPr>
            <a:r>
              <a:rPr b="1">
                <a:solidFill>
                  <a:srgbClr val="0F172A"/>
                </a:solidFill>
              </a:rPr>
              <a:t>• Bảng công tác &amp; quyền lợi: </a:t>
            </a:r>
            <a:r>
              <a:rPr b="0"/>
              <a:t>CHAMCONG, PHUCAPNHANVIEN, KHAUTRUNHANVIEN.</a:t>
            </a:r>
          </a:p>
          <a:p>
            <a:pPr>
              <a:spcAft>
                <a:spcPts val="300"/>
              </a:spcAft>
              <a:defRPr sz="1200">
                <a:solidFill>
                  <a:srgbClr val="1E293B"/>
                </a:solidFill>
                <a:latin typeface="Segoe UI"/>
              </a:defRPr>
            </a:pPr>
            <a:r>
              <a:rPr b="1">
                <a:solidFill>
                  <a:srgbClr val="0F172A"/>
                </a:solidFill>
              </a:rPr>
              <a:t>• Bảng tiền lương: </a:t>
            </a:r>
            <a:r>
              <a:rPr b="0"/>
              <a:t>BANGLUONG, CHITIETBANGLUONG, LICHSULUONG.</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Khử phụ thuộc bắc cầu đạt chuẩn 3NF</a:t>
            </a:r>
          </a:p>
          <a:p>
            <a:pPr>
              <a:spcAft>
                <a:spcPts val="300"/>
              </a:spcAft>
              <a:defRPr sz="1200">
                <a:solidFill>
                  <a:srgbClr val="1E293B"/>
                </a:solidFill>
                <a:latin typeface="Segoe UI"/>
              </a:defRPr>
            </a:pPr>
            <a:r>
              <a:rPr b="1">
                <a:solidFill>
                  <a:srgbClr val="0F172A"/>
                </a:solidFill>
              </a:rPr>
              <a:t>• Tách PHONGBAN và CHUCVU độc lập: </a:t>
            </a:r>
            <a:r>
              <a:rPr b="0"/>
              <a:t>Khử phụ thuộc bắc cầu qua MaPB, MaCV.</a:t>
            </a:r>
          </a:p>
          <a:p>
            <a:pPr>
              <a:spcAft>
                <a:spcPts val="300"/>
              </a:spcAft>
              <a:defRPr sz="1200">
                <a:solidFill>
                  <a:srgbClr val="1E293B"/>
                </a:solidFill>
                <a:latin typeface="Segoe UI"/>
              </a:defRPr>
            </a:pPr>
            <a:r>
              <a:rPr b="1">
                <a:solidFill>
                  <a:srgbClr val="0F172A"/>
                </a:solidFill>
              </a:rPr>
              <a:t>• Tách riêng PHUCAP và KHAUTRU: </a:t>
            </a:r>
            <a:r>
              <a:rPr b="0"/>
              <a:t>Quản lý biến động theo tháng, hỗ trợ nợ/tạm ứng.</a:t>
            </a:r>
          </a:p>
          <a:p>
            <a:pPr>
              <a:spcAft>
                <a:spcPts val="300"/>
              </a:spcAft>
              <a:defRPr sz="1200">
                <a:solidFill>
                  <a:srgbClr val="1E293B"/>
                </a:solidFill>
                <a:latin typeface="Segoe UI"/>
              </a:defRPr>
            </a:pPr>
            <a:r>
              <a:rPr b="1">
                <a:solidFill>
                  <a:srgbClr val="0F172A"/>
                </a:solidFill>
              </a:rPr>
              <a:t>• Chuẩn hóa 3NF: </a:t>
            </a:r>
            <a:r>
              <a:rPr b="0"/>
              <a:t>Mọi thuộc tính không khóa đều phụ thuộc trực tiếp vào khóa chính.</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Snapshot lịch sử lương có chủ đích</a:t>
            </a:r>
          </a:p>
          <a:p>
            <a:pPr>
              <a:spcAft>
                <a:spcPts val="300"/>
              </a:spcAft>
              <a:defRPr sz="1200">
                <a:solidFill>
                  <a:srgbClr val="1E293B"/>
                </a:solidFill>
                <a:latin typeface="Segoe UI"/>
              </a:defRPr>
            </a:pPr>
            <a:r>
              <a:rPr b="1">
                <a:solidFill>
                  <a:srgbClr val="0F172A"/>
                </a:solidFill>
              </a:rPr>
              <a:t>• CHITIETBANGLUONG lưu snapshot: </a:t>
            </a:r>
            <a:r>
              <a:rPr b="0"/>
              <a:t>LuongCoBan, TienCong, TongPhuCap, TongKhauTru, ThucNhan.</a:t>
            </a:r>
          </a:p>
          <a:p>
            <a:pPr>
              <a:spcAft>
                <a:spcPts val="300"/>
              </a:spcAft>
              <a:defRPr sz="1200">
                <a:solidFill>
                  <a:srgbClr val="1E293B"/>
                </a:solidFill>
                <a:latin typeface="Segoe UI"/>
              </a:defRPr>
            </a:pPr>
            <a:r>
              <a:rPr b="1">
                <a:solidFill>
                  <a:srgbClr val="0F172A"/>
                </a:solidFill>
              </a:rPr>
              <a:t>• Bảo đảm tính bất biến: </a:t>
            </a:r>
            <a:r>
              <a:rPr b="0"/>
              <a:t>Khi nhân viên tăng lương hiện tại, bảng lương quá khứ không bị sai lệch.</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3_img_1.png"/>
          <p:cNvPicPr>
            <a:picLocks noChangeAspect="1"/>
          </p:cNvPicPr>
          <p:nvPr/>
        </p:nvPicPr>
        <p:blipFill>
          <a:blip r:embed="rId2"/>
          <a:stretch>
            <a:fillRect/>
          </a:stretch>
        </p:blipFill>
        <p:spPr>
          <a:xfrm>
            <a:off x="6355080" y="1417320"/>
            <a:ext cx="4967935" cy="3974348"/>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3.1: Sơ đồ thực thể - liên kết (ERD) 10 bảng cơ sở dữ liệu</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TV1: Nguyễn Minh Trí — 24110359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PHÂN HỆ NHÂN SỰ — TV1 NGUYỄN MINH TRÍ (24110359)</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Ràng buộc Toàn vẹn &amp; Transaction Hồ sơ Nhân viên</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04</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Ràng buộc toàn vẹn miền dữ liệu (Constraints)</a:t>
            </a:r>
          </a:p>
          <a:p>
            <a:pPr>
              <a:spcAft>
                <a:spcPts val="300"/>
              </a:spcAft>
              <a:defRPr sz="1200">
                <a:solidFill>
                  <a:srgbClr val="1E293B"/>
                </a:solidFill>
                <a:latin typeface="Segoe UI"/>
              </a:defRPr>
            </a:pPr>
            <a:r>
              <a:rPr b="1">
                <a:solidFill>
                  <a:srgbClr val="0F172A"/>
                </a:solidFill>
              </a:rPr>
              <a:t>• CHECK tuổi lao động: </a:t>
            </a:r>
            <a:r>
              <a:rPr b="0"/>
              <a:t>NgaySinh &lt;= DATEADD(YEAR, -18, NgayVaoLam) (đủ 18 tuổi).</a:t>
            </a:r>
          </a:p>
          <a:p>
            <a:pPr>
              <a:spcAft>
                <a:spcPts val="300"/>
              </a:spcAft>
              <a:defRPr sz="1200">
                <a:solidFill>
                  <a:srgbClr val="1E293B"/>
                </a:solidFill>
                <a:latin typeface="Segoe UI"/>
              </a:defRPr>
            </a:pPr>
            <a:r>
              <a:rPr b="1">
                <a:solidFill>
                  <a:srgbClr val="0F172A"/>
                </a:solidFill>
              </a:rPr>
              <a:t>• CHECK định dạng chuẩn: </a:t>
            </a:r>
            <a:r>
              <a:rPr b="0"/>
              <a:t>CCCD đúng 12 chữ số, Số điện thoại đúng 10 số (đầu 0).</a:t>
            </a:r>
          </a:p>
          <a:p>
            <a:pPr>
              <a:spcAft>
                <a:spcPts val="300"/>
              </a:spcAft>
              <a:defRPr sz="1200">
                <a:solidFill>
                  <a:srgbClr val="1E293B"/>
                </a:solidFill>
                <a:latin typeface="Segoe UI"/>
              </a:defRPr>
            </a:pPr>
            <a:r>
              <a:rPr b="1">
                <a:solidFill>
                  <a:srgbClr val="0F172A"/>
                </a:solidFill>
              </a:rPr>
              <a:t>• Ràng buộc UNIQUE: </a:t>
            </a:r>
            <a:r>
              <a:rPr b="0"/>
              <a:t>CCCD, Số điện thoại, Email không trùng lặp toàn hệ thống.</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Procedure sp_ThemNhanVien &amp; Transaction</a:t>
            </a:r>
          </a:p>
          <a:p>
            <a:pPr>
              <a:spcAft>
                <a:spcPts val="300"/>
              </a:spcAft>
              <a:defRPr sz="1200">
                <a:solidFill>
                  <a:srgbClr val="1E293B"/>
                </a:solidFill>
                <a:latin typeface="Segoe UI"/>
              </a:defRPr>
            </a:pPr>
            <a:r>
              <a:rPr b="1">
                <a:solidFill>
                  <a:srgbClr val="0F172A"/>
                </a:solidFill>
              </a:rPr>
              <a:t>• SET XACT_ABORT ON &amp; TRY...CATCH: </a:t>
            </a:r>
            <a:r>
              <a:rPr b="0"/>
              <a:t>Tự động hoàn tác toàn bộ khi có lỗi vi phạm.</a:t>
            </a:r>
          </a:p>
          <a:p>
            <a:pPr>
              <a:spcAft>
                <a:spcPts val="300"/>
              </a:spcAft>
              <a:defRPr sz="1200">
                <a:solidFill>
                  <a:srgbClr val="1E293B"/>
                </a:solidFill>
                <a:latin typeface="Segoe UI"/>
              </a:defRPr>
            </a:pPr>
            <a:r>
              <a:rPr b="1">
                <a:solidFill>
                  <a:srgbClr val="0F172A"/>
                </a:solidFill>
              </a:rPr>
              <a:t>• Tự động ghi nhận lịch sử lương: </a:t>
            </a:r>
            <a:r>
              <a:rPr b="0"/>
              <a:t>Trigger trg_NhanVien_LichSuLuong chèn LICHSULUONG.</a:t>
            </a:r>
          </a:p>
          <a:p>
            <a:pPr>
              <a:spcAft>
                <a:spcPts val="300"/>
              </a:spcAft>
              <a:defRPr sz="1200">
                <a:solidFill>
                  <a:srgbClr val="1E293B"/>
                </a:solidFill>
                <a:latin typeface="Segoe UI"/>
              </a:defRPr>
            </a:pPr>
            <a:r>
              <a:rPr b="1">
                <a:solidFill>
                  <a:srgbClr val="0F172A"/>
                </a:solidFill>
              </a:rPr>
              <a:t>• Đồng bộ tài khoản ứng dụng: </a:t>
            </a:r>
            <a:r>
              <a:rPr b="0"/>
              <a:t>Tạo tự động thông tin TAIKHOAN liên kết nhân sự.</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Bảo vệ lịch sử công tác</a:t>
            </a:r>
          </a:p>
          <a:p>
            <a:pPr>
              <a:spcAft>
                <a:spcPts val="300"/>
              </a:spcAft>
              <a:defRPr sz="1200">
                <a:solidFill>
                  <a:srgbClr val="1E293B"/>
                </a:solidFill>
                <a:latin typeface="Segoe UI"/>
              </a:defRPr>
            </a:pPr>
            <a:r>
              <a:rPr b="1">
                <a:solidFill>
                  <a:srgbClr val="0F172A"/>
                </a:solidFill>
              </a:rPr>
              <a:t>• Cập nhật NGHI_VIEC: </a:t>
            </a:r>
            <a:r>
              <a:rPr b="0"/>
              <a:t>Tự động ghi nhận NgayNghiViec vào ngày hiện tại.</a:t>
            </a:r>
          </a:p>
          <a:p>
            <a:pPr>
              <a:spcAft>
                <a:spcPts val="300"/>
              </a:spcAft>
              <a:defRPr sz="1200">
                <a:solidFill>
                  <a:srgbClr val="1E293B"/>
                </a:solidFill>
                <a:latin typeface="Segoe UI"/>
              </a:defRPr>
            </a:pPr>
            <a:r>
              <a:rPr b="1">
                <a:solidFill>
                  <a:srgbClr val="0F172A"/>
                </a:solidFill>
              </a:rPr>
              <a:t>• Trigger trg_NhanVien_KhongXoaKhiDaPhatSinhLuong: </a:t>
            </a:r>
            <a:r>
              <a:rPr b="0"/>
              <a:t>Chặn xóa nhân viên đã có công/lương.</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4_img_1.png"/>
          <p:cNvPicPr>
            <a:picLocks noChangeAspect="1"/>
          </p:cNvPicPr>
          <p:nvPr/>
        </p:nvPicPr>
        <p:blipFill>
          <a:blip r:embed="rId2"/>
          <a:stretch>
            <a:fillRect/>
          </a:stretch>
        </p:blipFill>
        <p:spPr>
          <a:xfrm>
            <a:off x="6355080" y="1417320"/>
            <a:ext cx="4967935" cy="3210621"/>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4.1: Màn hình Quản lý hồ sơ nhân viên (NhanVienPanel)</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TV1: Nguyễn Minh Trí — 24110359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PHÂN HỆ NHÂN SỰ — TV1 NGUYỄN MINH TRÍ (24110359)</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Tối ưu hóa Truy vấn &amp; Chỉ mục Phân hệ Nhân sự</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05</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Chỉ mục Nonclustered IX_NHANVIEN_HoTen</a:t>
            </a:r>
          </a:p>
          <a:p>
            <a:pPr>
              <a:spcAft>
                <a:spcPts val="300"/>
              </a:spcAft>
              <a:defRPr sz="1200">
                <a:solidFill>
                  <a:srgbClr val="1E293B"/>
                </a:solidFill>
                <a:latin typeface="Segoe UI"/>
              </a:defRPr>
            </a:pPr>
            <a:r>
              <a:rPr b="1">
                <a:solidFill>
                  <a:srgbClr val="0F172A"/>
                </a:solidFill>
              </a:rPr>
              <a:t>• Cột khóa tìm kiếm: </a:t>
            </a:r>
            <a:r>
              <a:rPr b="0"/>
              <a:t>HoTen phục vụ tra cứu nhanh theo tên nhân viên.</a:t>
            </a:r>
          </a:p>
          <a:p>
            <a:pPr>
              <a:spcAft>
                <a:spcPts val="300"/>
              </a:spcAft>
              <a:defRPr sz="1200">
                <a:solidFill>
                  <a:srgbClr val="1E293B"/>
                </a:solidFill>
                <a:latin typeface="Segoe UI"/>
              </a:defRPr>
            </a:pPr>
            <a:r>
              <a:rPr b="1">
                <a:solidFill>
                  <a:srgbClr val="0F172A"/>
                </a:solidFill>
              </a:rPr>
              <a:t>• Mệnh đề INCLUDE: </a:t>
            </a:r>
            <a:r>
              <a:rPr b="0"/>
              <a:t>MaNV, SoDienThoai, Email, MaPB, MaCV, TrangThai.</a:t>
            </a:r>
          </a:p>
          <a:p>
            <a:pPr>
              <a:spcAft>
                <a:spcPts val="300"/>
              </a:spcAft>
              <a:defRPr sz="1200">
                <a:solidFill>
                  <a:srgbClr val="1E293B"/>
                </a:solidFill>
                <a:latin typeface="Segoe UI"/>
              </a:defRPr>
            </a:pPr>
            <a:r>
              <a:rPr b="1">
                <a:solidFill>
                  <a:srgbClr val="0F172A"/>
                </a:solidFill>
              </a:rPr>
              <a:t>• Covering Index: </a:t>
            </a:r>
            <a:r>
              <a:rPr b="0"/>
              <a:t>Loại bỏ hoàn toàn thao tác Key Lookup về bảng gốc.</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Đo lường hiệu năng với STATISTICS IO/TIME</a:t>
            </a:r>
          </a:p>
          <a:p>
            <a:pPr>
              <a:spcAft>
                <a:spcPts val="300"/>
              </a:spcAft>
              <a:defRPr sz="1200">
                <a:solidFill>
                  <a:srgbClr val="1E293B"/>
                </a:solidFill>
                <a:latin typeface="Segoe UI"/>
              </a:defRPr>
            </a:pPr>
            <a:r>
              <a:rPr b="1">
                <a:solidFill>
                  <a:srgbClr val="0F172A"/>
                </a:solidFill>
              </a:rPr>
              <a:t>• Trước tối ưu (Clustered Scan): </a:t>
            </a:r>
            <a:r>
              <a:rPr b="0"/>
              <a:t>Đọc 75 logical reads trên bảng nhân sự.</a:t>
            </a:r>
          </a:p>
          <a:p>
            <a:pPr>
              <a:spcAft>
                <a:spcPts val="300"/>
              </a:spcAft>
              <a:defRPr sz="1200">
                <a:solidFill>
                  <a:srgbClr val="1E293B"/>
                </a:solidFill>
                <a:latin typeface="Segoe UI"/>
              </a:defRPr>
            </a:pPr>
            <a:r>
              <a:rPr b="1">
                <a:solidFill>
                  <a:srgbClr val="0F172A"/>
                </a:solidFill>
              </a:rPr>
              <a:t>• Sau tối ưu (Index Seek): </a:t>
            </a:r>
            <a:r>
              <a:rPr b="0"/>
              <a:t>Giảm xuống chỉ còn 10 logical reads (tối ưu 86.7%).</a:t>
            </a:r>
          </a:p>
          <a:p>
            <a:pPr>
              <a:spcAft>
                <a:spcPts val="300"/>
              </a:spcAft>
              <a:defRPr sz="1200">
                <a:solidFill>
                  <a:srgbClr val="1E293B"/>
                </a:solidFill>
                <a:latin typeface="Segoe UI"/>
              </a:defRPr>
            </a:pPr>
            <a:r>
              <a:rPr b="1">
                <a:solidFill>
                  <a:srgbClr val="0F172A"/>
                </a:solidFill>
              </a:rPr>
              <a:t>• Thời gian CPU: </a:t>
            </a:r>
            <a:r>
              <a:rPr b="0"/>
              <a:t>Giảm về ~0ms, phản hồi tức thì trên thanh tìm kiếm UI.</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Khung nhìn tổng hợp vw_NhanVien_PhongBan_ChucVu</a:t>
            </a:r>
          </a:p>
          <a:p>
            <a:pPr>
              <a:spcAft>
                <a:spcPts val="300"/>
              </a:spcAft>
              <a:defRPr sz="1200">
                <a:solidFill>
                  <a:srgbClr val="1E293B"/>
                </a:solidFill>
                <a:latin typeface="Segoe UI"/>
              </a:defRPr>
            </a:pPr>
            <a:r>
              <a:rPr b="1">
                <a:solidFill>
                  <a:srgbClr val="0F172A"/>
                </a:solidFill>
              </a:rPr>
              <a:t>• JOIN 3 bảng: </a:t>
            </a:r>
            <a:r>
              <a:rPr b="0"/>
              <a:t>NHANVIEN + PHONGBAN + CHUCVU.</a:t>
            </a:r>
          </a:p>
          <a:p>
            <a:pPr>
              <a:spcAft>
                <a:spcPts val="300"/>
              </a:spcAft>
              <a:defRPr sz="1200">
                <a:solidFill>
                  <a:srgbClr val="1E293B"/>
                </a:solidFill>
                <a:latin typeface="Segoe UI"/>
              </a:defRPr>
            </a:pPr>
            <a:r>
              <a:t>• Phục vụ hiển thị danh sách nhân sự đầy đủ tên phòng, tên chức vụ trên giao diện.</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5_img_1.png"/>
          <p:cNvPicPr>
            <a:picLocks noChangeAspect="1"/>
          </p:cNvPicPr>
          <p:nvPr/>
        </p:nvPicPr>
        <p:blipFill>
          <a:blip r:embed="rId2"/>
          <a:stretch>
            <a:fillRect/>
          </a:stretch>
        </p:blipFill>
        <p:spPr>
          <a:xfrm>
            <a:off x="6355080" y="1417320"/>
            <a:ext cx="4967935" cy="2437100"/>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5.1: Actual Execution Plan truy vấn nhân viên (75 -&gt; 10 reads)</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TV1: Nguyễn Minh Trí — 24110359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PHÂN HỆ CHẤM CÔNG — TV2 PHẠM MINH QUÂN (24110311)</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Phân hệ Chấm công &amp; Quy tắc Toàn vẹn theo Ngày</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06</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Cấu trúc bảng dữ liệu CHAMCONG</a:t>
            </a:r>
          </a:p>
          <a:p>
            <a:pPr>
              <a:spcAft>
                <a:spcPts val="300"/>
              </a:spcAft>
              <a:defRPr sz="1200">
                <a:solidFill>
                  <a:srgbClr val="1E293B"/>
                </a:solidFill>
                <a:latin typeface="Segoe UI"/>
              </a:defRPr>
            </a:pPr>
            <a:r>
              <a:rPr b="1">
                <a:solidFill>
                  <a:srgbClr val="0F172A"/>
                </a:solidFill>
              </a:rPr>
              <a:t>• Khóa chính đơn: </a:t>
            </a:r>
            <a:r>
              <a:rPr b="0"/>
              <a:t>MaChamCong (IDENTITY INT).</a:t>
            </a:r>
          </a:p>
          <a:p>
            <a:pPr>
              <a:spcAft>
                <a:spcPts val="300"/>
              </a:spcAft>
              <a:defRPr sz="1200">
                <a:solidFill>
                  <a:srgbClr val="1E293B"/>
                </a:solidFill>
                <a:latin typeface="Segoe UI"/>
              </a:defRPr>
            </a:pPr>
            <a:r>
              <a:rPr b="1">
                <a:solidFill>
                  <a:srgbClr val="0F172A"/>
                </a:solidFill>
              </a:rPr>
              <a:t>• Khóa ngoại tham chiếu: </a:t>
            </a:r>
            <a:r>
              <a:rPr b="0"/>
              <a:t>MaNV liên kết bảng NHANVIEN.</a:t>
            </a:r>
          </a:p>
          <a:p>
            <a:pPr>
              <a:spcAft>
                <a:spcPts val="300"/>
              </a:spcAft>
              <a:defRPr sz="1200">
                <a:solidFill>
                  <a:srgbClr val="1E293B"/>
                </a:solidFill>
                <a:latin typeface="Segoe UI"/>
              </a:defRPr>
            </a:pPr>
            <a:r>
              <a:rPr b="1">
                <a:solidFill>
                  <a:srgbClr val="0F172A"/>
                </a:solidFill>
              </a:rPr>
              <a:t>• Ràng buộc duy nhất UQ_CHAMCONG_MaNV_Ngay: </a:t>
            </a:r>
            <a:r>
              <a:rPr b="0"/>
              <a:t>Mỗi nhân viên chỉ có 1 bản ghi mỗi ngày.</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Bộ ràng buộc toàn vẹn thời gian &amp; trạng thái</a:t>
            </a:r>
          </a:p>
          <a:p>
            <a:pPr>
              <a:spcAft>
                <a:spcPts val="300"/>
              </a:spcAft>
              <a:defRPr sz="1200">
                <a:solidFill>
                  <a:srgbClr val="1E293B"/>
                </a:solidFill>
                <a:latin typeface="Segoe UI"/>
              </a:defRPr>
            </a:pPr>
            <a:r>
              <a:rPr b="1">
                <a:solidFill>
                  <a:srgbClr val="0F172A"/>
                </a:solidFill>
              </a:rPr>
              <a:t>• CHECK thời gian: </a:t>
            </a:r>
            <a:r>
              <a:rPr b="0"/>
              <a:t>NgayChamCong &lt;= CAST(GETDATE() AS DATE) (không chấm tương lai).</a:t>
            </a:r>
          </a:p>
          <a:p>
            <a:pPr>
              <a:spcAft>
                <a:spcPts val="300"/>
              </a:spcAft>
              <a:defRPr sz="1200">
                <a:solidFill>
                  <a:srgbClr val="1E293B"/>
                </a:solidFill>
                <a:latin typeface="Segoe UI"/>
              </a:defRPr>
            </a:pPr>
            <a:r>
              <a:rPr b="1">
                <a:solidFill>
                  <a:srgbClr val="0F172A"/>
                </a:solidFill>
              </a:rPr>
              <a:t>• CHECK trạng thái: </a:t>
            </a:r>
            <a:r>
              <a:rPr b="0"/>
              <a:t>TrangThai IN ('CO_MAT', 'DI_TRE', 'VE_SOM', 'VANG').</a:t>
            </a:r>
          </a:p>
          <a:p>
            <a:pPr>
              <a:spcAft>
                <a:spcPts val="300"/>
              </a:spcAft>
              <a:defRPr sz="1200">
                <a:solidFill>
                  <a:srgbClr val="1E293B"/>
                </a:solidFill>
                <a:latin typeface="Segoe UI"/>
              </a:defRPr>
            </a:pPr>
            <a:r>
              <a:rPr b="1">
                <a:solidFill>
                  <a:srgbClr val="0F172A"/>
                </a:solidFill>
              </a:rPr>
              <a:t>• Trigger trg_ChamCong_KiemTraGio: </a:t>
            </a:r>
            <a:r>
              <a:rPr b="0"/>
              <a:t>Giờ ra GioRa bắt buộc phải lớn hơn giờ vào GioVao.</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Trigger bảo vệ nhân viên đã nghỉ việc</a:t>
            </a:r>
          </a:p>
          <a:p>
            <a:pPr>
              <a:spcAft>
                <a:spcPts val="300"/>
              </a:spcAft>
              <a:defRPr sz="1200">
                <a:solidFill>
                  <a:srgbClr val="1E293B"/>
                </a:solidFill>
                <a:latin typeface="Segoe UI"/>
              </a:defRPr>
            </a:pPr>
            <a:r>
              <a:rPr b="1">
                <a:solidFill>
                  <a:srgbClr val="0F172A"/>
                </a:solidFill>
              </a:rPr>
              <a:t>• Trigger trg_ChamCong_KiemTraNhanVien: </a:t>
            </a:r>
            <a:r>
              <a:rPr b="0"/>
              <a:t>Chặn chấm công nếu TrangThai &lt;&gt; 'DANG_LAM_VIEC'.</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6_img_1.png"/>
          <p:cNvPicPr>
            <a:picLocks noChangeAspect="1"/>
          </p:cNvPicPr>
          <p:nvPr/>
        </p:nvPicPr>
        <p:blipFill>
          <a:blip r:embed="rId2"/>
          <a:stretch>
            <a:fillRect/>
          </a:stretch>
        </p:blipFill>
        <p:spPr>
          <a:xfrm>
            <a:off x="6355080" y="1417320"/>
            <a:ext cx="4967935" cy="3104959"/>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6.1: Giao diện Ghi nhận chấm công chi tiết (ChamCongPanel)</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TV2: Phạm Minh Quân — 24110311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PHÂN HỆ CHẤM CÔNG — TV2 PHẠM MINH QUÂN (24110311)</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Nhập công theo Lô &amp; Xử lý Giao dịch Batch JDBC</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07</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Thủ tục sp_GhiNhanChamCong</a:t>
            </a:r>
          </a:p>
          <a:p>
            <a:pPr>
              <a:spcAft>
                <a:spcPts val="300"/>
              </a:spcAft>
              <a:defRPr sz="1200">
                <a:solidFill>
                  <a:srgbClr val="1E293B"/>
                </a:solidFill>
                <a:latin typeface="Segoe UI"/>
              </a:defRPr>
            </a:pPr>
            <a:r>
              <a:rPr b="1">
                <a:solidFill>
                  <a:srgbClr val="0F172A"/>
                </a:solidFill>
              </a:rPr>
              <a:t>• Tham số đầu vào: </a:t>
            </a:r>
            <a:r>
              <a:rPr b="0"/>
              <a:t>MaNV, NgayChamCong, GioVao, GioRa, TrangThai, GhiChu.</a:t>
            </a:r>
          </a:p>
          <a:p>
            <a:pPr>
              <a:spcAft>
                <a:spcPts val="300"/>
              </a:spcAft>
              <a:defRPr sz="1200">
                <a:solidFill>
                  <a:srgbClr val="1E293B"/>
                </a:solidFill>
                <a:latin typeface="Segoe UI"/>
              </a:defRPr>
            </a:pPr>
            <a:r>
              <a:rPr b="1">
                <a:solidFill>
                  <a:srgbClr val="0F172A"/>
                </a:solidFill>
              </a:rPr>
              <a:t>• Tham số ngõ ra @MaChamCong OUTPUT: </a:t>
            </a:r>
            <a:r>
              <a:rPr b="0"/>
              <a:t>Trả về mã chấm công vừa được cấp phát.</a:t>
            </a:r>
          </a:p>
          <a:p>
            <a:pPr>
              <a:spcAft>
                <a:spcPts val="300"/>
              </a:spcAft>
              <a:defRPr sz="1200">
                <a:solidFill>
                  <a:srgbClr val="1E293B"/>
                </a:solidFill>
                <a:latin typeface="Segoe UI"/>
              </a:defRPr>
            </a:pPr>
            <a:r>
              <a:rPr b="1">
                <a:solidFill>
                  <a:srgbClr val="0F172A"/>
                </a:solidFill>
              </a:rPr>
              <a:t>• Kiểm tra tính hợp lệ: </a:t>
            </a:r>
            <a:r>
              <a:rPr b="0"/>
              <a:t>Báo lỗi chi tiết khi vi phạm quy tắc ca làm việc.</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Giao dịch Batch JDBC hiệu năng cao</a:t>
            </a:r>
          </a:p>
          <a:p>
            <a:pPr>
              <a:spcAft>
                <a:spcPts val="300"/>
              </a:spcAft>
              <a:defRPr sz="1200">
                <a:solidFill>
                  <a:srgbClr val="1E293B"/>
                </a:solidFill>
                <a:latin typeface="Segoe UI"/>
              </a:defRPr>
            </a:pPr>
            <a:r>
              <a:t>• Sử dụng PreparedStatement.addBatch() và executeBatch() nhập công hàng loạt.</a:t>
            </a:r>
          </a:p>
          <a:p>
            <a:pPr>
              <a:spcAft>
                <a:spcPts val="300"/>
              </a:spcAft>
              <a:defRPr sz="1200">
                <a:solidFill>
                  <a:srgbClr val="1E293B"/>
                </a:solidFill>
                <a:latin typeface="Segoe UI"/>
              </a:defRPr>
            </a:pPr>
            <a:r>
              <a:rPr b="1">
                <a:solidFill>
                  <a:srgbClr val="0F172A"/>
                </a:solidFill>
              </a:rPr>
              <a:t>• Điều khiển giao dịch thủ công: </a:t>
            </a:r>
            <a:r>
              <a:rPr b="0"/>
              <a:t>setAutoCommit(false) bảo đảm tính nguyên tử.</a:t>
            </a:r>
          </a:p>
          <a:p>
            <a:pPr>
              <a:spcAft>
                <a:spcPts val="300"/>
              </a:spcAft>
              <a:defRPr sz="1200">
                <a:solidFill>
                  <a:srgbClr val="1E293B"/>
                </a:solidFill>
                <a:latin typeface="Segoe UI"/>
              </a:defRPr>
            </a:pPr>
            <a:r>
              <a:rPr b="1">
                <a:solidFill>
                  <a:srgbClr val="0F172A"/>
                </a:solidFill>
              </a:rPr>
              <a:t>• Tự động Rollback: </a:t>
            </a:r>
            <a:r>
              <a:rPr b="0"/>
              <a:t>Hoàn tác 100% nếu có bất kỳ bản ghi nào trong lô bị lỗi.</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Khung nhìn tổng hợp vw_TongHopChamCongThang</a:t>
            </a:r>
          </a:p>
          <a:p>
            <a:pPr>
              <a:spcAft>
                <a:spcPts val="300"/>
              </a:spcAft>
              <a:defRPr sz="1200">
                <a:solidFill>
                  <a:srgbClr val="1E293B"/>
                </a:solidFill>
                <a:latin typeface="Segoe UI"/>
              </a:defRPr>
            </a:pPr>
            <a:r>
              <a:rPr b="1">
                <a:solidFill>
                  <a:srgbClr val="0F172A"/>
                </a:solidFill>
              </a:rPr>
              <a:t>• Gom nhóm theo MaNV, Thang, Nam: </a:t>
            </a:r>
            <a:r>
              <a:rPr b="0"/>
              <a:t>Tính tổng ngày có mặt, đi trễ, về sớm, vắng.</a:t>
            </a:r>
          </a:p>
          <a:p>
            <a:pPr>
              <a:spcAft>
                <a:spcPts val="300"/>
              </a:spcAft>
              <a:defRPr sz="1200">
                <a:solidFill>
                  <a:srgbClr val="1E293B"/>
                </a:solidFill>
                <a:latin typeface="Segoe UI"/>
              </a:defRPr>
            </a:pPr>
            <a:r>
              <a:t>• Cung cấp số liệu ngày công thực tế cho module tính lương của TV4.</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7_img_1.png"/>
          <p:cNvPicPr>
            <a:picLocks noChangeAspect="1"/>
          </p:cNvPicPr>
          <p:nvPr/>
        </p:nvPicPr>
        <p:blipFill>
          <a:blip r:embed="rId2"/>
          <a:stretch>
            <a:fillRect/>
          </a:stretch>
        </p:blipFill>
        <p:spPr>
          <a:xfrm>
            <a:off x="6355080" y="1417320"/>
            <a:ext cx="4967935" cy="3104959"/>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7.1: Giao diện Tổng hợp công tháng &amp; Chấm công theo lô</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TV2: Phạm Minh Quân — 24110311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PHÂN HỆ CHẤM CÔNG — TV2 PHẠM MINH QUÂN (24110311)</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Đo lường Hiệu năng Chỉ mục Phân hệ Chấm công</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08</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Chỉ mục Covering IX_CHAMCONG_Ngay_MaNV</a:t>
            </a:r>
          </a:p>
          <a:p>
            <a:pPr>
              <a:spcAft>
                <a:spcPts val="300"/>
              </a:spcAft>
              <a:defRPr sz="1200">
                <a:solidFill>
                  <a:srgbClr val="1E293B"/>
                </a:solidFill>
                <a:latin typeface="Segoe UI"/>
              </a:defRPr>
            </a:pPr>
            <a:r>
              <a:rPr b="1">
                <a:solidFill>
                  <a:srgbClr val="0F172A"/>
                </a:solidFill>
              </a:rPr>
              <a:t>• Khóa chỉ mục kép: </a:t>
            </a:r>
            <a:r>
              <a:rPr b="0"/>
              <a:t>(NgayChamCong, MaNV) tối ưu hóa truy vấn lọc theo ngày.</a:t>
            </a:r>
          </a:p>
          <a:p>
            <a:pPr>
              <a:spcAft>
                <a:spcPts val="300"/>
              </a:spcAft>
              <a:defRPr sz="1200">
                <a:solidFill>
                  <a:srgbClr val="1E293B"/>
                </a:solidFill>
                <a:latin typeface="Segoe UI"/>
              </a:defRPr>
            </a:pPr>
            <a:r>
              <a:rPr b="1">
                <a:solidFill>
                  <a:srgbClr val="0F172A"/>
                </a:solidFill>
              </a:rPr>
              <a:t>• Mệnh đề INCLUDE: </a:t>
            </a:r>
            <a:r>
              <a:rPr b="0"/>
              <a:t>(GioVao, GioRa, TrangThai) chứa đầy đủ dữ liệu hiển thị.</a:t>
            </a:r>
          </a:p>
          <a:p>
            <a:pPr>
              <a:spcAft>
                <a:spcPts val="300"/>
              </a:spcAft>
              <a:defRPr sz="1200">
                <a:solidFill>
                  <a:srgbClr val="1E293B"/>
                </a:solidFill>
                <a:latin typeface="Segoe UI"/>
              </a:defRPr>
            </a:pPr>
            <a:r>
              <a:rPr b="1">
                <a:solidFill>
                  <a:srgbClr val="0F172A"/>
                </a:solidFill>
              </a:rPr>
              <a:t>• Loại bỏ Key Lookup: </a:t>
            </a:r>
            <a:r>
              <a:rPr b="0"/>
              <a:t>Giảm tải đọc trang đĩa xuống mức tối thiểu.</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So sánh hiệu năng trước và sau tối ưu</a:t>
            </a:r>
          </a:p>
          <a:p>
            <a:pPr>
              <a:spcAft>
                <a:spcPts val="300"/>
              </a:spcAft>
              <a:defRPr sz="1200">
                <a:solidFill>
                  <a:srgbClr val="1E293B"/>
                </a:solidFill>
                <a:latin typeface="Segoe UI"/>
              </a:defRPr>
            </a:pPr>
            <a:r>
              <a:rPr b="1">
                <a:solidFill>
                  <a:srgbClr val="0F172A"/>
                </a:solidFill>
              </a:rPr>
              <a:t>• Trước tối ưu (Table Scan): </a:t>
            </a:r>
            <a:r>
              <a:rPr b="0"/>
              <a:t>Đọc 574 logical reads trên tập dữ liệu kiểm thử.</a:t>
            </a:r>
          </a:p>
          <a:p>
            <a:pPr>
              <a:spcAft>
                <a:spcPts val="300"/>
              </a:spcAft>
              <a:defRPr sz="1200">
                <a:solidFill>
                  <a:srgbClr val="1E293B"/>
                </a:solidFill>
                <a:latin typeface="Segoe UI"/>
              </a:defRPr>
            </a:pPr>
            <a:r>
              <a:rPr b="1">
                <a:solidFill>
                  <a:srgbClr val="0F172A"/>
                </a:solidFill>
              </a:rPr>
              <a:t>• Sau tối ưu (Index Seek): </a:t>
            </a:r>
            <a:r>
              <a:rPr b="0"/>
              <a:t>Giảm mạnh xuống còn 5 logical reads (tối ưu 99.1%).</a:t>
            </a:r>
          </a:p>
          <a:p>
            <a:pPr>
              <a:spcAft>
                <a:spcPts val="300"/>
              </a:spcAft>
              <a:defRPr sz="1200">
                <a:solidFill>
                  <a:srgbClr val="1E293B"/>
                </a:solidFill>
                <a:latin typeface="Segoe UI"/>
              </a:defRPr>
            </a:pPr>
            <a:r>
              <a:rPr b="1">
                <a:solidFill>
                  <a:srgbClr val="0F172A"/>
                </a:solidFill>
              </a:rPr>
              <a:t>• Execution Plan: </a:t>
            </a:r>
            <a:r>
              <a:rPr b="0"/>
              <a:t>Chuyển từ Clustered Scan sang Index Seek hoàn toàn.</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Ứng dụng thực tế trên ChamCongPanel</a:t>
            </a:r>
          </a:p>
          <a:p>
            <a:pPr>
              <a:spcAft>
                <a:spcPts val="300"/>
              </a:spcAft>
              <a:defRPr sz="1200">
                <a:solidFill>
                  <a:srgbClr val="1E293B"/>
                </a:solidFill>
                <a:latin typeface="Segoe UI"/>
              </a:defRPr>
            </a:pPr>
            <a:r>
              <a:t>• Tải bảng chấm công 20 nhân viên trong tháng mượt mà, không giật lag giao diện.</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8_img_1.png"/>
          <p:cNvPicPr>
            <a:picLocks noChangeAspect="1"/>
          </p:cNvPicPr>
          <p:nvPr/>
        </p:nvPicPr>
        <p:blipFill>
          <a:blip r:embed="rId2"/>
          <a:stretch>
            <a:fillRect/>
          </a:stretch>
        </p:blipFill>
        <p:spPr>
          <a:xfrm>
            <a:off x="6355080" y="1417320"/>
            <a:ext cx="4967935" cy="1327937"/>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8.1: Actual Execution Plan: Covering Index Seek (574 -&gt; 5 reads)</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TV2: Phạm Minh Quân — 24110311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PHỤ CẤP &amp; KHẤU TRỪ — TV3 TRẦN TIẾN ĐẠT (24110198)</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Quản lý Khoản Phụ cấp &amp; Khấu trừ theo Kỳ lương</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09</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Phân loại phụ cấp chức vụ vs phụ cấp phát sinh</a:t>
            </a:r>
          </a:p>
          <a:p>
            <a:pPr>
              <a:spcAft>
                <a:spcPts val="300"/>
              </a:spcAft>
              <a:defRPr sz="1200">
                <a:solidFill>
                  <a:srgbClr val="1E293B"/>
                </a:solidFill>
                <a:latin typeface="Segoe UI"/>
              </a:defRPr>
            </a:pPr>
            <a:r>
              <a:rPr b="1">
                <a:solidFill>
                  <a:srgbClr val="0F172A"/>
                </a:solidFill>
              </a:rPr>
              <a:t>• Phụ cấp chức vụ cố định: </a:t>
            </a:r>
            <a:r>
              <a:rPr b="0"/>
              <a:t>Lưu tại CHUCVU.PhuCapChucVu (Giám đốc 5tr, Trưởng phòng 3tr...).</a:t>
            </a:r>
          </a:p>
          <a:p>
            <a:pPr>
              <a:spcAft>
                <a:spcPts val="300"/>
              </a:spcAft>
              <a:defRPr sz="1200">
                <a:solidFill>
                  <a:srgbClr val="1E293B"/>
                </a:solidFill>
                <a:latin typeface="Segoe UI"/>
              </a:defRPr>
            </a:pPr>
            <a:r>
              <a:rPr b="1">
                <a:solidFill>
                  <a:srgbClr val="0F172A"/>
                </a:solidFill>
              </a:rPr>
              <a:t>• Phụ cấp phát sinh theo kỳ: </a:t>
            </a:r>
            <a:r>
              <a:rPr b="0"/>
              <a:t>Lưu tại PHUCAPNHANVIEN (Ăn trưa 730k, dự án, trách nhiệm).</a:t>
            </a:r>
          </a:p>
          <a:p>
            <a:pPr>
              <a:spcAft>
                <a:spcPts val="300"/>
              </a:spcAft>
              <a:defRPr sz="1200">
                <a:solidFill>
                  <a:srgbClr val="1E293B"/>
                </a:solidFill>
                <a:latin typeface="Segoe UI"/>
              </a:defRPr>
            </a:pPr>
            <a:r>
              <a:rPr b="1">
                <a:solidFill>
                  <a:srgbClr val="0F172A"/>
                </a:solidFill>
              </a:rPr>
              <a:t>• Ràng buộc toàn vẹn: </a:t>
            </a:r>
            <a:r>
              <a:rPr b="0"/>
              <a:t>Thang (1-12), Nam (&gt;= 2020), SoTien &gt;= 0.</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Quản lý khấu trừ minh bạch</a:t>
            </a:r>
          </a:p>
          <a:p>
            <a:pPr>
              <a:spcAft>
                <a:spcPts val="300"/>
              </a:spcAft>
              <a:defRPr sz="1200">
                <a:solidFill>
                  <a:srgbClr val="1E293B"/>
                </a:solidFill>
                <a:latin typeface="Segoe UI"/>
              </a:defRPr>
            </a:pPr>
            <a:r>
              <a:rPr b="1">
                <a:solidFill>
                  <a:srgbClr val="0F172A"/>
                </a:solidFill>
              </a:rPr>
              <a:t>• Bảng KHAUTRUNHANVIEN: </a:t>
            </a:r>
            <a:r>
              <a:rPr b="0"/>
              <a:t>Ghi nhận tạm ứng lương, BHXH, phạt đi trễ kèm lý do cụ thể.</a:t>
            </a:r>
          </a:p>
          <a:p>
            <a:pPr>
              <a:spcAft>
                <a:spcPts val="300"/>
              </a:spcAft>
              <a:defRPr sz="1200">
                <a:solidFill>
                  <a:srgbClr val="1E293B"/>
                </a:solidFill>
                <a:latin typeface="Segoe UI"/>
              </a:defRPr>
            </a:pPr>
            <a:r>
              <a:t>• Tự động tính toán tổng khấu trừ cho từng nhân viên trước khi tính lương thực nhận.</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Scalar Functions tổng hợp khoản tiền</a:t>
            </a:r>
          </a:p>
          <a:p>
            <a:pPr>
              <a:spcAft>
                <a:spcPts val="300"/>
              </a:spcAft>
              <a:defRPr sz="1200">
                <a:solidFill>
                  <a:srgbClr val="1E293B"/>
                </a:solidFill>
                <a:latin typeface="Segoe UI"/>
              </a:defRPr>
            </a:pPr>
            <a:r>
              <a:rPr b="1">
                <a:solidFill>
                  <a:srgbClr val="0F172A"/>
                </a:solidFill>
              </a:rPr>
              <a:t>• fn_TongPhuCap(@MaNV, @Thang, @Nam): </a:t>
            </a:r>
            <a:r>
              <a:rPr b="0"/>
              <a:t>Trả về tổng tiền phụ cấp trong kỳ.</a:t>
            </a:r>
          </a:p>
          <a:p>
            <a:pPr>
              <a:spcAft>
                <a:spcPts val="300"/>
              </a:spcAft>
              <a:defRPr sz="1200">
                <a:solidFill>
                  <a:srgbClr val="1E293B"/>
                </a:solidFill>
                <a:latin typeface="Segoe UI"/>
              </a:defRPr>
            </a:pPr>
            <a:r>
              <a:rPr b="1">
                <a:solidFill>
                  <a:srgbClr val="0F172A"/>
                </a:solidFill>
              </a:rPr>
              <a:t>• fn_TongKhauTru(@MaNV, @Thang, @Nam): </a:t>
            </a:r>
            <a:r>
              <a:rPr b="0"/>
              <a:t>Trả về tổng tiền khấu trừ trong kỳ.</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9_img_1.png"/>
          <p:cNvPicPr>
            <a:picLocks noChangeAspect="1"/>
          </p:cNvPicPr>
          <p:nvPr/>
        </p:nvPicPr>
        <p:blipFill>
          <a:blip r:embed="rId2"/>
          <a:stretch>
            <a:fillRect/>
          </a:stretch>
        </p:blipFill>
        <p:spPr>
          <a:xfrm>
            <a:off x="6355080" y="1417320"/>
            <a:ext cx="4967935" cy="3104959"/>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9.1: Màn hình Quản lý Phụ cấp &amp; Khấu trừ (PhuCapKhauTruPanel)</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TV3: Trần Tiến Đạt — 24110198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PHỤ CẤP &amp; KHẤU TRỪ — TV3 TRẦN TIẾN ĐẠT (24110198)</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Xóa Kỳ lương Nháp &amp; Trigger Bảo vệ Dữ liệu sau Chốt</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10</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Thủ tục sp_XoaKyLuongChuaChot an toàn</a:t>
            </a:r>
          </a:p>
          <a:p>
            <a:pPr>
              <a:spcAft>
                <a:spcPts val="300"/>
              </a:spcAft>
              <a:defRPr sz="1200">
                <a:solidFill>
                  <a:srgbClr val="1E293B"/>
                </a:solidFill>
                <a:latin typeface="Segoe UI"/>
              </a:defRPr>
            </a:pPr>
            <a:r>
              <a:rPr b="1">
                <a:solidFill>
                  <a:srgbClr val="0F172A"/>
                </a:solidFill>
              </a:rPr>
              <a:t>• Kiểm tra trạng thái kỳ lương: </a:t>
            </a:r>
            <a:r>
              <a:rPr b="0"/>
              <a:t>Chỉ cho phép xóa khi TrangThai = 'CHUA_CHOT'.</a:t>
            </a:r>
          </a:p>
          <a:p>
            <a:pPr>
              <a:spcAft>
                <a:spcPts val="300"/>
              </a:spcAft>
              <a:defRPr sz="1200">
                <a:solidFill>
                  <a:srgbClr val="1E293B"/>
                </a:solidFill>
                <a:latin typeface="Segoe UI"/>
              </a:defRPr>
            </a:pPr>
            <a:r>
              <a:rPr b="1">
                <a:solidFill>
                  <a:srgbClr val="0F172A"/>
                </a:solidFill>
              </a:rPr>
              <a:t>• Xóa tuần tự toàn vẹn: </a:t>
            </a:r>
            <a:r>
              <a:rPr b="0"/>
              <a:t>Xóa CHITIETBANGLUONG trước, sau đó xóa BANGLUONG.</a:t>
            </a:r>
          </a:p>
          <a:p>
            <a:pPr>
              <a:spcAft>
                <a:spcPts val="300"/>
              </a:spcAft>
              <a:defRPr sz="1200">
                <a:solidFill>
                  <a:srgbClr val="1E293B"/>
                </a:solidFill>
                <a:latin typeface="Segoe UI"/>
              </a:defRPr>
            </a:pPr>
            <a:r>
              <a:rPr b="1">
                <a:solidFill>
                  <a:srgbClr val="0F172A"/>
                </a:solidFill>
              </a:rPr>
              <a:t>• Từ chối tuyệt đối khi kỳ đã chốt: </a:t>
            </a:r>
            <a:r>
              <a:rPr b="0"/>
              <a:t>Bảo vệ dữ liệu sổ sách kế toán.</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Bộ 2 Triggers bảo vệ phụ cấp và khấu trừ</a:t>
            </a:r>
          </a:p>
          <a:p>
            <a:pPr>
              <a:spcAft>
                <a:spcPts val="300"/>
              </a:spcAft>
              <a:defRPr sz="1200">
                <a:solidFill>
                  <a:srgbClr val="1E293B"/>
                </a:solidFill>
                <a:latin typeface="Segoe UI"/>
              </a:defRPr>
            </a:pPr>
            <a:r>
              <a:rPr b="1">
                <a:solidFill>
                  <a:srgbClr val="0F172A"/>
                </a:solidFill>
              </a:rPr>
              <a:t>• trg_PhuCap_KhongSuaKhiDaChotLuong: </a:t>
            </a:r>
            <a:r>
              <a:rPr b="0"/>
              <a:t>Chặn INSERT/UPDATE/DELETE phụ cấp kỳ đã chốt.</a:t>
            </a:r>
          </a:p>
          <a:p>
            <a:pPr>
              <a:spcAft>
                <a:spcPts val="300"/>
              </a:spcAft>
              <a:defRPr sz="1200">
                <a:solidFill>
                  <a:srgbClr val="1E293B"/>
                </a:solidFill>
                <a:latin typeface="Segoe UI"/>
              </a:defRPr>
            </a:pPr>
            <a:r>
              <a:rPr b="1">
                <a:solidFill>
                  <a:srgbClr val="0F172A"/>
                </a:solidFill>
              </a:rPr>
              <a:t>• trg_KhauTru_KhongSuaKhiDaChotLuong: </a:t>
            </a:r>
            <a:r>
              <a:rPr b="0"/>
              <a:t>Chặn INSERT/UPDATE/DELETE khấu trừ kỳ đã chốt.</a:t>
            </a:r>
          </a:p>
          <a:p>
            <a:pPr>
              <a:spcAft>
                <a:spcPts val="300"/>
              </a:spcAft>
              <a:defRPr sz="1200">
                <a:solidFill>
                  <a:srgbClr val="1E293B"/>
                </a:solidFill>
                <a:latin typeface="Segoe UI"/>
              </a:defRPr>
            </a:pPr>
            <a:r>
              <a:rPr b="1">
                <a:solidFill>
                  <a:srgbClr val="0F172A"/>
                </a:solidFill>
              </a:rPr>
              <a:t>• Cơ chế Set-based: </a:t>
            </a:r>
            <a:r>
              <a:rPr b="0"/>
              <a:t>Dùng UNION giữa inserted và deleted kiểm tra toàn bộ dòng.</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Toàn vẹn dữ liệu sổ sách</a:t>
            </a:r>
          </a:p>
          <a:p>
            <a:pPr>
              <a:spcAft>
                <a:spcPts val="300"/>
              </a:spcAft>
              <a:defRPr sz="1200">
                <a:solidFill>
                  <a:srgbClr val="1E293B"/>
                </a:solidFill>
                <a:latin typeface="Segoe UI"/>
              </a:defRPr>
            </a:pPr>
            <a:r>
              <a:t>• Ngăn chặn mọi hành vi can thiệp trái phép vào kỳ lương đã đóng.</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10_img_1.png"/>
          <p:cNvPicPr>
            <a:picLocks noChangeAspect="1"/>
          </p:cNvPicPr>
          <p:nvPr/>
        </p:nvPicPr>
        <p:blipFill>
          <a:blip r:embed="rId2"/>
          <a:stretch>
            <a:fillRect/>
          </a:stretch>
        </p:blipFill>
        <p:spPr>
          <a:xfrm>
            <a:off x="6355080" y="1417320"/>
            <a:ext cx="4967935" cy="3165939"/>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10.1: Minh chứng Trigger từ chối thay đổi dữ liệu của kỳ đã chốt</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TV3: Trần Tiến Đạt — 24110198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PHỤ CẤP &amp; KHẤU TRỪ — TV3 TRẦN TIẾN ĐẠT (24110198)</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Đo lường Hiệu năng Chỉ mục Phụ cấp &amp; Khấu trừ</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11</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Chỉ mục Composite IX_PHUCAP_MaNV_ThangNam</a:t>
            </a:r>
          </a:p>
          <a:p>
            <a:pPr>
              <a:spcAft>
                <a:spcPts val="300"/>
              </a:spcAft>
              <a:defRPr sz="1200">
                <a:solidFill>
                  <a:srgbClr val="1E293B"/>
                </a:solidFill>
                <a:latin typeface="Segoe UI"/>
              </a:defRPr>
            </a:pPr>
            <a:r>
              <a:rPr b="1">
                <a:solidFill>
                  <a:srgbClr val="0F172A"/>
                </a:solidFill>
              </a:rPr>
              <a:t>• Khóa phức hợp 3 cột: </a:t>
            </a:r>
            <a:r>
              <a:rPr b="0"/>
              <a:t>(MaNV, Thang, Nam) khớp chính xác điều kiện WHERE của UDF.</a:t>
            </a:r>
          </a:p>
          <a:p>
            <a:pPr>
              <a:spcAft>
                <a:spcPts val="300"/>
              </a:spcAft>
              <a:defRPr sz="1200">
                <a:solidFill>
                  <a:srgbClr val="1E293B"/>
                </a:solidFill>
                <a:latin typeface="Segoe UI"/>
              </a:defRPr>
            </a:pPr>
            <a:r>
              <a:rPr b="1">
                <a:solidFill>
                  <a:srgbClr val="0F172A"/>
                </a:solidFill>
              </a:rPr>
              <a:t>• Mệnh đề INCLUDE: </a:t>
            </a:r>
            <a:r>
              <a:rPr b="0"/>
              <a:t>(SoTien, TenPhuCap) triệt tiêu hoàn toàn Key Lookup.</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Kết quả đo lường thực tế trên SQL Server</a:t>
            </a:r>
          </a:p>
          <a:p>
            <a:pPr>
              <a:spcAft>
                <a:spcPts val="300"/>
              </a:spcAft>
              <a:defRPr sz="1200">
                <a:solidFill>
                  <a:srgbClr val="1E293B"/>
                </a:solidFill>
                <a:latin typeface="Segoe UI"/>
              </a:defRPr>
            </a:pPr>
            <a:r>
              <a:rPr b="1">
                <a:solidFill>
                  <a:srgbClr val="0F172A"/>
                </a:solidFill>
              </a:rPr>
              <a:t>• Trước tối ưu: </a:t>
            </a:r>
            <a:r>
              <a:rPr b="0"/>
              <a:t>Quét toàn bộ bảng phụ cấp với 642 logical reads.</a:t>
            </a:r>
          </a:p>
          <a:p>
            <a:pPr>
              <a:spcAft>
                <a:spcPts val="300"/>
              </a:spcAft>
              <a:defRPr sz="1200">
                <a:solidFill>
                  <a:srgbClr val="1E293B"/>
                </a:solidFill>
                <a:latin typeface="Segoe UI"/>
              </a:defRPr>
            </a:pPr>
            <a:r>
              <a:rPr b="1">
                <a:solidFill>
                  <a:srgbClr val="0F172A"/>
                </a:solidFill>
              </a:rPr>
              <a:t>• Sau tối ưu: </a:t>
            </a:r>
            <a:r>
              <a:rPr b="0"/>
              <a:t>Index Seek chính xác vào đúng kỳ lương với 2 logical reads.</a:t>
            </a:r>
          </a:p>
          <a:p>
            <a:pPr>
              <a:spcAft>
                <a:spcPts val="300"/>
              </a:spcAft>
              <a:defRPr sz="1200">
                <a:solidFill>
                  <a:srgbClr val="1E293B"/>
                </a:solidFill>
                <a:latin typeface="Segoe UI"/>
              </a:defRPr>
            </a:pPr>
            <a:r>
              <a:rPr b="1">
                <a:solidFill>
                  <a:srgbClr val="0F172A"/>
                </a:solidFill>
              </a:rPr>
              <a:t>• Tỷ lệ cải thiện: </a:t>
            </a:r>
            <a:r>
              <a:rPr b="0"/>
              <a:t>Giảm 99.7% số lượt đọc trang đĩa, CPU về 0ms.</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Tối ưu hóa tính toán bảng lương hàng loạt</a:t>
            </a:r>
          </a:p>
          <a:p>
            <a:pPr>
              <a:spcAft>
                <a:spcPts val="300"/>
              </a:spcAft>
              <a:defRPr sz="1200">
                <a:solidFill>
                  <a:srgbClr val="1E293B"/>
                </a:solidFill>
                <a:latin typeface="Segoe UI"/>
              </a:defRPr>
            </a:pPr>
            <a:r>
              <a:t>• Khi sp_TinhBangLuongThang duyệt 20 nhân viên, tốc độ tính toán tăng gấp nhiều lần.</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11_img_1.png"/>
          <p:cNvPicPr>
            <a:picLocks noChangeAspect="1"/>
          </p:cNvPicPr>
          <p:nvPr/>
        </p:nvPicPr>
        <p:blipFill>
          <a:blip r:embed="rId2"/>
          <a:stretch>
            <a:fillRect/>
          </a:stretch>
        </p:blipFill>
        <p:spPr>
          <a:xfrm>
            <a:off x="6355080" y="1417320"/>
            <a:ext cx="4967935" cy="3527461"/>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11.1: Bằng chứng Statistics IO giảm từ 642 xuống 2 logical reads</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TV3: Trần Tiến Đạt — 24110198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TÍNH TOÁN TIỀN LƯƠNG — TV4 NGUYỄN QUANG VINH (24110385)</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Công thức Tính lương &amp; Đối soát Fixture Demo</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12</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Công thức tính lương gộp &amp; lương thực nhận</a:t>
            </a:r>
          </a:p>
          <a:p>
            <a:pPr>
              <a:spcAft>
                <a:spcPts val="300"/>
              </a:spcAft>
              <a:defRPr sz="1200">
                <a:solidFill>
                  <a:srgbClr val="1E293B"/>
                </a:solidFill>
                <a:latin typeface="Segoe UI"/>
              </a:defRPr>
            </a:pPr>
            <a:r>
              <a:rPr b="1">
                <a:solidFill>
                  <a:srgbClr val="0F172A"/>
                </a:solidFill>
              </a:rPr>
              <a:t>• Tiền công: </a:t>
            </a:r>
            <a:r>
              <a:rPr b="0"/>
              <a:t>TienCong = (LuongCoBan / NgayCongChuan) * NgayCongThucTe.</a:t>
            </a:r>
          </a:p>
          <a:p>
            <a:pPr>
              <a:spcAft>
                <a:spcPts val="300"/>
              </a:spcAft>
              <a:defRPr sz="1200">
                <a:solidFill>
                  <a:srgbClr val="1E293B"/>
                </a:solidFill>
                <a:latin typeface="Segoe UI"/>
              </a:defRPr>
            </a:pPr>
            <a:r>
              <a:rPr b="1">
                <a:solidFill>
                  <a:srgbClr val="0F172A"/>
                </a:solidFill>
              </a:rPr>
              <a:t>• Thực nhận: </a:t>
            </a:r>
            <a:r>
              <a:rPr b="0"/>
              <a:t>ThucNhan = fn_TinhThucNhan(TienCong, TongPhuCap, TongKhauTru).</a:t>
            </a:r>
          </a:p>
          <a:p>
            <a:pPr>
              <a:spcAft>
                <a:spcPts val="300"/>
              </a:spcAft>
              <a:defRPr sz="1200">
                <a:solidFill>
                  <a:srgbClr val="1E293B"/>
                </a:solidFill>
                <a:latin typeface="Segoe UI"/>
              </a:defRPr>
            </a:pPr>
            <a:r>
              <a:rPr b="1">
                <a:solidFill>
                  <a:srgbClr val="0F172A"/>
                </a:solidFill>
              </a:rPr>
              <a:t>• Quy tắc kẹp sàn: </a:t>
            </a:r>
            <a:r>
              <a:rPr b="0"/>
              <a:t>Nếu khấu trừ &gt; thu nhập thì ThucNhan được kẹp về 0đ (không âm).</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Đối soát Fixture Demo tháng 10/2026</a:t>
            </a:r>
          </a:p>
          <a:p>
            <a:pPr>
              <a:spcAft>
                <a:spcPts val="300"/>
              </a:spcAft>
              <a:defRPr sz="1200">
                <a:solidFill>
                  <a:srgbClr val="1E293B"/>
                </a:solidFill>
                <a:latin typeface="Segoe UI"/>
              </a:defRPr>
            </a:pPr>
            <a:r>
              <a:rPr b="1">
                <a:solidFill>
                  <a:srgbClr val="0F172A"/>
                </a:solidFill>
              </a:rPr>
              <a:t>• Nhân viên A (Nguyễn Tuấn Anh): </a:t>
            </a:r>
            <a:r>
              <a:rPr b="0"/>
              <a:t>1 công (1tr) + 730k phụ cấp - 1tr tạm ứng = 730.000đ.</a:t>
            </a:r>
          </a:p>
          <a:p>
            <a:pPr>
              <a:spcAft>
                <a:spcPts val="300"/>
              </a:spcAft>
              <a:defRPr sz="1200">
                <a:solidFill>
                  <a:srgbClr val="1E293B"/>
                </a:solidFill>
                <a:latin typeface="Segoe UI"/>
              </a:defRPr>
            </a:pPr>
            <a:r>
              <a:rPr b="1">
                <a:solidFill>
                  <a:srgbClr val="0F172A"/>
                </a:solidFill>
              </a:rPr>
              <a:t>• Nhân viên B (Trần Thị Bảo Bình): </a:t>
            </a:r>
            <a:r>
              <a:rPr b="0"/>
              <a:t>0 công (0đ) + 0 phụ cấp - 0 khấu trừ = 0đ.</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Hàm vô hướng fn_TinhTienCong</a:t>
            </a:r>
          </a:p>
          <a:p>
            <a:pPr>
              <a:spcAft>
                <a:spcPts val="300"/>
              </a:spcAft>
              <a:defRPr sz="1200">
                <a:solidFill>
                  <a:srgbClr val="1E293B"/>
                </a:solidFill>
                <a:latin typeface="Segoe UI"/>
              </a:defRPr>
            </a:pPr>
            <a:r>
              <a:t>• Kiểm tra đầu vào NULL, ngày công chuẩn &lt;= 0 thì trả về 0; làm tròn 2 chữ số thập phân.</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12_img_1.png"/>
          <p:cNvPicPr>
            <a:picLocks noChangeAspect="1"/>
          </p:cNvPicPr>
          <p:nvPr/>
        </p:nvPicPr>
        <p:blipFill>
          <a:blip r:embed="rId2"/>
          <a:stretch>
            <a:fillRect/>
          </a:stretch>
        </p:blipFill>
        <p:spPr>
          <a:xfrm>
            <a:off x="6355080" y="1417320"/>
            <a:ext cx="4967935" cy="3104959"/>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12.1: Màn hình Tính lương tháng 10/2026 và kết quả đối soát</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TV4: Nguyễn Quang Vinh — 24110385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TÍNH TOÁN TIỀN LƯƠNG — TV4 NGUYỄN QUANG VINH (24110385)</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Thủ tục Tính lương &amp; Bảo tồn Snapshot Lịch sử</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13</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Stored Procedure sp_TinhBangLuongThang</a:t>
            </a:r>
          </a:p>
          <a:p>
            <a:pPr>
              <a:spcAft>
                <a:spcPts val="300"/>
              </a:spcAft>
              <a:defRPr sz="1200">
                <a:solidFill>
                  <a:srgbClr val="1E293B"/>
                </a:solidFill>
                <a:latin typeface="Segoe UI"/>
              </a:defRPr>
            </a:pPr>
            <a:r>
              <a:t>• Khóa header bằng UPDLOCK/HOLDLOCK ngăn tranh chấp giữa hai kế toán.</a:t>
            </a:r>
          </a:p>
          <a:p>
            <a:pPr>
              <a:spcAft>
                <a:spcPts val="300"/>
              </a:spcAft>
              <a:defRPr sz="1200">
                <a:solidFill>
                  <a:srgbClr val="1E293B"/>
                </a:solidFill>
                <a:latin typeface="Segoe UI"/>
              </a:defRPr>
            </a:pPr>
            <a:r>
              <a:rPr b="1">
                <a:solidFill>
                  <a:srgbClr val="0F172A"/>
                </a:solidFill>
              </a:rPr>
              <a:t>• Kiểm tra dữ liệu nguồn: </a:t>
            </a:r>
            <a:r>
              <a:rPr b="0"/>
              <a:t>Bắt buộc đã có dữ liệu chấm công của tháng trước khi tính.</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Snapshot lịch sử lương có thứ tự ưu tiên</a:t>
            </a:r>
          </a:p>
          <a:p>
            <a:pPr>
              <a:spcAft>
                <a:spcPts val="300"/>
              </a:spcAft>
              <a:defRPr sz="1200">
                <a:solidFill>
                  <a:srgbClr val="1E293B"/>
                </a:solidFill>
                <a:latin typeface="Segoe UI"/>
              </a:defRPr>
            </a:pPr>
            <a:r>
              <a:rPr b="1">
                <a:solidFill>
                  <a:srgbClr val="0F172A"/>
                </a:solidFill>
              </a:rPr>
              <a:t>• Ưu tiên 1: </a:t>
            </a:r>
            <a:r>
              <a:rPr b="0"/>
              <a:t>Đọc từ LICHSULUONG với TuThang &lt;= kỳ tính lương.</a:t>
            </a:r>
          </a:p>
          <a:p>
            <a:pPr>
              <a:spcAft>
                <a:spcPts val="300"/>
              </a:spcAft>
              <a:defRPr sz="1200">
                <a:solidFill>
                  <a:srgbClr val="1E293B"/>
                </a:solidFill>
                <a:latin typeface="Segoe UI"/>
              </a:defRPr>
            </a:pPr>
            <a:r>
              <a:rPr b="1">
                <a:solidFill>
                  <a:srgbClr val="0F172A"/>
                </a:solidFill>
              </a:rPr>
              <a:t>• Ưu tiên 2: </a:t>
            </a:r>
            <a:r>
              <a:rPr b="0"/>
              <a:t>Giữ mức lương cũ đã lưu trong CHITIETBANGLUONG nếu là kỳ quá khứ.</a:t>
            </a:r>
          </a:p>
          <a:p>
            <a:pPr>
              <a:spcAft>
                <a:spcPts val="300"/>
              </a:spcAft>
              <a:defRPr sz="1200">
                <a:solidFill>
                  <a:srgbClr val="1E293B"/>
                </a:solidFill>
                <a:latin typeface="Segoe UI"/>
              </a:defRPr>
            </a:pPr>
            <a:r>
              <a:rPr b="1">
                <a:solidFill>
                  <a:srgbClr val="0F172A"/>
                </a:solidFill>
              </a:rPr>
              <a:t>• Tránh sai lệch: </a:t>
            </a:r>
            <a:r>
              <a:rPr b="0"/>
              <a:t>Tăng lương hiện tại không làm thay đổi bảng lương các tháng trước.</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Giao dịch phân tầng với Savepoint</a:t>
            </a:r>
          </a:p>
          <a:p>
            <a:pPr>
              <a:spcAft>
                <a:spcPts val="300"/>
              </a:spcAft>
              <a:defRPr sz="1200">
                <a:solidFill>
                  <a:srgbClr val="1E293B"/>
                </a:solidFill>
                <a:latin typeface="Segoe UI"/>
              </a:defRPr>
            </a:pPr>
            <a:r>
              <a:rPr b="1">
                <a:solidFill>
                  <a:srgbClr val="0F172A"/>
                </a:solidFill>
              </a:rPr>
              <a:t>• Kiểm tra @@TRANCOUNT: </a:t>
            </a:r>
            <a:r>
              <a:rPr b="0"/>
              <a:t>Nếu caller đã có transaction thì tạo SAVEPOINT TV4_TinhBangLuong.</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13_img_1.png"/>
          <p:cNvPicPr>
            <a:picLocks noChangeAspect="1"/>
          </p:cNvPicPr>
          <p:nvPr/>
        </p:nvPicPr>
        <p:blipFill>
          <a:blip r:embed="rId2"/>
          <a:stretch>
            <a:fillRect/>
          </a:stretch>
        </p:blipFill>
        <p:spPr>
          <a:xfrm>
            <a:off x="6355080" y="1417320"/>
            <a:ext cx="4967935" cy="3500136"/>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13.1: Hộp thoại điều chỉnh công và quy trình tính lại bảng lương</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TV4: Nguyễn Quang Vinh — 24110385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TÍNH TOÁN TIỀN LƯƠNG — TV4 NGUYỄN QUANG VINH (24110385)</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Tích hợp JDBC &amp; Kiểm thử Toàn trình Payroll E2E</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14</a:t>
            </a:r>
          </a:p>
        </p:txBody>
      </p:sp>
      <p:sp>
        <p:nvSpPr>
          <p:cNvPr id="6" name="Rounded Rectangle 5"/>
          <p:cNvSpPr/>
          <p:nvPr/>
        </p:nvSpPr>
        <p:spPr>
          <a:xfrm>
            <a:off x="731520" y="1280160"/>
            <a:ext cx="5212080" cy="153619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1. Kết nối JDBC qua BangLuongDAO</a:t>
            </a:r>
          </a:p>
          <a:p>
            <a:pPr>
              <a:spcAft>
                <a:spcPts val="300"/>
              </a:spcAft>
              <a:defRPr sz="1200">
                <a:solidFill>
                  <a:srgbClr val="1E293B"/>
                </a:solidFill>
                <a:latin typeface="Segoe UI"/>
              </a:defRPr>
            </a:pPr>
            <a:r>
              <a:t>• Sử dụng CallableStatement gọi {CALL dbo.sp_TinhBangLuongThang(?, ?, ?, ?)}.</a:t>
            </a:r>
          </a:p>
          <a:p>
            <a:pPr>
              <a:spcAft>
                <a:spcPts val="300"/>
              </a:spcAft>
              <a:defRPr sz="1200">
                <a:solidFill>
                  <a:srgbClr val="1E293B"/>
                </a:solidFill>
                <a:latin typeface="Segoe UI"/>
              </a:defRPr>
            </a:pPr>
            <a:r>
              <a:t>• Đăng ký tham số ngõ ra registerOutParameter(4, Types.INTEGER) lấy MaBangLuong.</a:t>
            </a:r>
          </a:p>
        </p:txBody>
      </p:sp>
      <p:sp>
        <p:nvSpPr>
          <p:cNvPr id="7" name="Rounded Rectangle 6"/>
          <p:cNvSpPr/>
          <p:nvPr/>
        </p:nvSpPr>
        <p:spPr>
          <a:xfrm>
            <a:off x="731520" y="2944368"/>
            <a:ext cx="5212080" cy="16916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2. Kết quả kiểm thử E2E 10/10 PASS</a:t>
            </a:r>
          </a:p>
          <a:p>
            <a:pPr>
              <a:spcAft>
                <a:spcPts val="300"/>
              </a:spcAft>
              <a:defRPr sz="1200">
                <a:solidFill>
                  <a:srgbClr val="1E293B"/>
                </a:solidFill>
                <a:latin typeface="Segoe UI"/>
              </a:defRPr>
            </a:pPr>
            <a:r>
              <a:t>• Kiểm tra công thức lương cơ bản, tính lại kỳ nháp, rollback khi có lỗi nguồn.</a:t>
            </a:r>
          </a:p>
          <a:p>
            <a:pPr>
              <a:spcAft>
                <a:spcPts val="300"/>
              </a:spcAft>
              <a:defRPr sz="1200">
                <a:solidFill>
                  <a:srgbClr val="1E293B"/>
                </a:solidFill>
                <a:latin typeface="Segoe UI"/>
              </a:defRPr>
            </a:pPr>
            <a:r>
              <a:t>• Kiểm tra ngăn chặn tính lương trên kỳ đã chốt hoặc thiếu dữ liệu chấm công.</a:t>
            </a:r>
          </a:p>
        </p:txBody>
      </p:sp>
      <p:sp>
        <p:nvSpPr>
          <p:cNvPr id="8" name="Rounded Rectangle 7"/>
          <p:cNvSpPr/>
          <p:nvPr/>
        </p:nvSpPr>
        <p:spPr>
          <a:xfrm>
            <a:off x="731520" y="4764024"/>
            <a:ext cx="5212080" cy="14173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91440"/>
          <a:lstStyle/>
          <a:p>
            <a:pPr algn="ctr">
              <a:spcAft>
                <a:spcPts val="600"/>
              </a:spcAft>
              <a:defRPr sz="1350" b="1">
                <a:solidFill>
                  <a:srgbClr val="4F46E5"/>
                </a:solidFill>
                <a:latin typeface="Segoe UI"/>
              </a:defRPr>
            </a:pPr>
            <a:r>
              <a:t>3. Giao diện BangLuongPanel cập nhật thời gian thực</a:t>
            </a:r>
          </a:p>
          <a:p>
            <a:pPr>
              <a:spcAft>
                <a:spcPts val="300"/>
              </a:spcAft>
              <a:defRPr sz="1200">
                <a:solidFill>
                  <a:srgbClr val="1E293B"/>
                </a:solidFill>
                <a:latin typeface="Segoe UI"/>
              </a:defRPr>
            </a:pPr>
            <a:r>
              <a:t>• Bảng tổng hợp kỳ lương và bảng chi tiết 20 nhân viên hiển thị đồng bộ.</a:t>
            </a:r>
          </a:p>
        </p:txBody>
      </p:sp>
      <p:sp>
        <p:nvSpPr>
          <p:cNvPr id="9" name="Rounded Rectangle 8"/>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_14_img_1.png"/>
          <p:cNvPicPr>
            <a:picLocks noChangeAspect="1"/>
          </p:cNvPicPr>
          <p:nvPr/>
        </p:nvPicPr>
        <p:blipFill>
          <a:blip r:embed="rId2"/>
          <a:stretch>
            <a:fillRect/>
          </a:stretch>
        </p:blipFill>
        <p:spPr>
          <a:xfrm>
            <a:off x="6355080" y="1417320"/>
            <a:ext cx="4967935" cy="3309039"/>
          </a:xfrm>
          <a:prstGeom prst="rect">
            <a:avLst/>
          </a:prstGeom>
        </p:spPr>
      </p:pic>
      <p:sp>
        <p:nvSpPr>
          <p:cNvPr id="11" name="Rounded Rectangle 10"/>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14.1: Kết quả kiểm thử tự động 10 bước Payroll E2E đều đạt</a:t>
            </a:r>
          </a:p>
        </p:txBody>
      </p:sp>
      <p:sp>
        <p:nvSpPr>
          <p:cNvPr id="12" name="Rectangle 11"/>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TV4: Nguyễn Quang Vinh — 24110385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BẢO MẬT &amp; ĐỒNG THỜI — TV5 TRẦN ĐỨC ANH (24110155)</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Kiến trúc Bảo mật &amp; Phân quyền 4 Database Roles</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15</a:t>
            </a:r>
          </a:p>
        </p:txBody>
      </p:sp>
      <p:sp>
        <p:nvSpPr>
          <p:cNvPr id="6" name="Rounded Rectangle 5"/>
          <p:cNvSpPr/>
          <p:nvPr/>
        </p:nvSpPr>
        <p:spPr>
          <a:xfrm>
            <a:off x="731520" y="1280160"/>
            <a:ext cx="5212080" cy="118872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109728"/>
          <a:lstStyle/>
          <a:p>
            <a:pPr algn="ctr">
              <a:spcAft>
                <a:spcPts val="400"/>
              </a:spcAft>
              <a:defRPr sz="1350" b="1">
                <a:solidFill>
                  <a:srgbClr val="4F46E5"/>
                </a:solidFill>
                <a:latin typeface="Segoe UI"/>
              </a:defRPr>
            </a:pPr>
            <a:r>
              <a:t>1. Cơ chế Xác thực 2 Lớp (Two-Layer Security)</a:t>
            </a:r>
          </a:p>
          <a:p>
            <a:pPr>
              <a:defRPr sz="1200">
                <a:solidFill>
                  <a:srgbClr val="1E293B"/>
                </a:solidFill>
                <a:latin typeface="Segoe UI"/>
              </a:defRPr>
            </a:pPr>
            <a:r>
              <a:rPr b="1">
                <a:solidFill>
                  <a:srgbClr val="0F172A"/>
                </a:solidFill>
              </a:rPr>
              <a:t>• Lớp 1 (Database Engine): </a:t>
            </a:r>
            <a:r>
              <a:t>Đăng nhập bằng SQL Login cá nhân, mapping qua TAIKHOAN.SqlLogin.</a:t>
            </a:r>
          </a:p>
          <a:p>
            <a:pPr>
              <a:defRPr sz="1200">
                <a:solidFill>
                  <a:srgbClr val="1E293B"/>
                </a:solidFill>
                <a:latin typeface="Segoe UI"/>
              </a:defRPr>
            </a:pPr>
            <a:r>
              <a:rPr b="1">
                <a:solidFill>
                  <a:srgbClr val="0F172A"/>
                </a:solidFill>
              </a:rPr>
              <a:t>• Lớp 2 (Ứng dụng Java): </a:t>
            </a:r>
            <a:r>
              <a:t>Băm mật khẩu PBKDF2-HMAC-SHA256 (600.000 vòng, salt 16 bytes ngẫu nhiên).</a:t>
            </a:r>
          </a:p>
        </p:txBody>
      </p:sp>
      <p:sp>
        <p:nvSpPr>
          <p:cNvPr id="7" name="Rounded Rectangle 6"/>
          <p:cNvSpPr/>
          <p:nvPr/>
        </p:nvSpPr>
        <p:spPr>
          <a:xfrm>
            <a:off x="731520" y="2578608"/>
            <a:ext cx="5212080" cy="251460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841248" y="2688336"/>
          <a:ext cx="4992624" cy="2286000"/>
        </p:xfrm>
        <a:graphic>
          <a:graphicData uri="http://schemas.openxmlformats.org/drawingml/2006/table">
            <a:tbl>
              <a:tblPr firstRow="1" bandRow="1">
                <a:tableStyleId>{5C22544A-7EE6-4342-B048-85BDC9FD1C3A}</a:tableStyleId>
              </a:tblPr>
              <a:tblGrid>
                <a:gridCol w="1298448"/>
                <a:gridCol w="950976"/>
                <a:gridCol w="1060704"/>
                <a:gridCol w="786384"/>
                <a:gridCol w="896112"/>
              </a:tblGrid>
              <a:tr h="381000">
                <a:tc>
                  <a:txBody>
                    <a:bodyPr/>
                    <a:lstStyle/>
                    <a:p>
                      <a:pPr algn="l">
                        <a:defRPr sz="950" b="1">
                          <a:solidFill>
                            <a:srgbClr val="4F46E5"/>
                          </a:solidFill>
                          <a:latin typeface="Segoe UI"/>
                        </a:defRPr>
                      </a:pPr>
                      <a:r>
                        <a:t>Đối tượng CSDL</a:t>
                      </a:r>
                    </a:p>
                  </a:txBody>
                  <a:tcPr marL="18288" marR="18288">
                    <a:solidFill>
                      <a:srgbClr val="EEF2FF"/>
                    </a:solidFill>
                  </a:tcPr>
                </a:tc>
                <a:tc>
                  <a:txBody>
                    <a:bodyPr/>
                    <a:lstStyle/>
                    <a:p>
                      <a:pPr algn="ctr">
                        <a:defRPr sz="950" b="1">
                          <a:solidFill>
                            <a:srgbClr val="4F46E5"/>
                          </a:solidFill>
                          <a:latin typeface="Segoe UI"/>
                        </a:defRPr>
                      </a:pPr>
                      <a:r>
                        <a:t>DBAdmin</a:t>
                      </a:r>
                    </a:p>
                  </a:txBody>
                  <a:tcPr marL="18288" marR="18288">
                    <a:solidFill>
                      <a:srgbClr val="EEF2FF"/>
                    </a:solidFill>
                  </a:tcPr>
                </a:tc>
                <a:tc>
                  <a:txBody>
                    <a:bodyPr/>
                    <a:lstStyle/>
                    <a:p>
                      <a:pPr algn="ctr">
                        <a:defRPr sz="950" b="1">
                          <a:solidFill>
                            <a:srgbClr val="4F46E5"/>
                          </a:solidFill>
                          <a:latin typeface="Segoe UI"/>
                        </a:defRPr>
                      </a:pPr>
                      <a:r>
                        <a:t>HRManager</a:t>
                      </a:r>
                    </a:p>
                  </a:txBody>
                  <a:tcPr marL="18288" marR="18288">
                    <a:solidFill>
                      <a:srgbClr val="EEF2FF"/>
                    </a:solidFill>
                  </a:tcPr>
                </a:tc>
                <a:tc>
                  <a:txBody>
                    <a:bodyPr/>
                    <a:lstStyle/>
                    <a:p>
                      <a:pPr algn="ctr">
                        <a:defRPr sz="950" b="1">
                          <a:solidFill>
                            <a:srgbClr val="4F46E5"/>
                          </a:solidFill>
                          <a:latin typeface="Segoe UI"/>
                        </a:defRPr>
                      </a:pPr>
                      <a:r>
                        <a:t>Payroll</a:t>
                      </a:r>
                    </a:p>
                  </a:txBody>
                  <a:tcPr marL="18288" marR="18288">
                    <a:solidFill>
                      <a:srgbClr val="EEF2FF"/>
                    </a:solidFill>
                  </a:tcPr>
                </a:tc>
                <a:tc>
                  <a:txBody>
                    <a:bodyPr/>
                    <a:lstStyle/>
                    <a:p>
                      <a:pPr algn="ctr">
                        <a:defRPr sz="950" b="1">
                          <a:solidFill>
                            <a:srgbClr val="4F46E5"/>
                          </a:solidFill>
                          <a:latin typeface="Segoe UI"/>
                        </a:defRPr>
                      </a:pPr>
                      <a:r>
                        <a:t>Employee</a:t>
                      </a:r>
                    </a:p>
                  </a:txBody>
                  <a:tcPr marL="18288" marR="18288">
                    <a:solidFill>
                      <a:srgbClr val="EEF2FF"/>
                    </a:solidFill>
                  </a:tcPr>
                </a:tc>
              </a:tr>
              <a:tr h="381000">
                <a:tc>
                  <a:txBody>
                    <a:bodyPr/>
                    <a:lstStyle/>
                    <a:p>
                      <a:pPr algn="l">
                        <a:defRPr sz="900">
                          <a:solidFill>
                            <a:srgbClr val="1E293B"/>
                          </a:solidFill>
                          <a:latin typeface="Segoe UI"/>
                        </a:defRPr>
                      </a:pPr>
                      <a:r>
                        <a:t>Hồ sơ Nhân sự</a:t>
                      </a:r>
                    </a:p>
                  </a:txBody>
                  <a:tcPr marL="18288" marR="18288">
                    <a:solidFill>
                      <a:srgbClr val="FFFFFF"/>
                    </a:solidFill>
                  </a:tcPr>
                </a:tc>
                <a:tc>
                  <a:txBody>
                    <a:bodyPr/>
                    <a:lstStyle/>
                    <a:p>
                      <a:pPr algn="ctr">
                        <a:defRPr sz="900" b="1">
                          <a:solidFill>
                            <a:srgbClr val="10B981"/>
                          </a:solidFill>
                          <a:latin typeface="Segoe UI"/>
                        </a:defRPr>
                      </a:pPr>
                      <a:r>
                        <a:t>Toàn quyền</a:t>
                      </a:r>
                    </a:p>
                  </a:txBody>
                  <a:tcPr marL="18288" marR="18288">
                    <a:solidFill>
                      <a:srgbClr val="FFFFFF"/>
                    </a:solidFill>
                  </a:tcPr>
                </a:tc>
                <a:tc>
                  <a:txBody>
                    <a:bodyPr/>
                    <a:lstStyle/>
                    <a:p>
                      <a:pPr algn="ctr">
                        <a:defRPr sz="900" b="1">
                          <a:solidFill>
                            <a:srgbClr val="10B981"/>
                          </a:solidFill>
                          <a:latin typeface="Segoe UI"/>
                        </a:defRPr>
                      </a:pPr>
                      <a:r>
                        <a:t>CRUD</a:t>
                      </a:r>
                    </a:p>
                  </a:txBody>
                  <a:tcPr marL="18288" marR="18288">
                    <a:solidFill>
                      <a:srgbClr val="FFFFFF"/>
                    </a:solidFill>
                  </a:tcPr>
                </a:tc>
                <a:tc>
                  <a:txBody>
                    <a:bodyPr/>
                    <a:lstStyle/>
                    <a:p>
                      <a:pPr algn="ctr">
                        <a:defRPr sz="900">
                          <a:solidFill>
                            <a:srgbClr val="1E293B"/>
                          </a:solidFill>
                          <a:latin typeface="Segoe UI"/>
                        </a:defRPr>
                      </a:pPr>
                      <a:r>
                        <a:t>SELECT</a:t>
                      </a:r>
                    </a:p>
                  </a:txBody>
                  <a:tcPr marL="18288" marR="18288">
                    <a:solidFill>
                      <a:srgbClr val="FFFFFF"/>
                    </a:solidFill>
                  </a:tcPr>
                </a:tc>
                <a:tc>
                  <a:txBody>
                    <a:bodyPr/>
                    <a:lstStyle/>
                    <a:p>
                      <a:pPr algn="ctr">
                        <a:defRPr sz="900" b="1">
                          <a:solidFill>
                            <a:srgbClr val="EF4444"/>
                          </a:solidFill>
                          <a:latin typeface="Segoe UI"/>
                        </a:defRPr>
                      </a:pPr>
                      <a:r>
                        <a:t>DENY</a:t>
                      </a:r>
                    </a:p>
                  </a:txBody>
                  <a:tcPr marL="18288" marR="18288">
                    <a:solidFill>
                      <a:srgbClr val="FFFFFF"/>
                    </a:solidFill>
                  </a:tcPr>
                </a:tc>
              </a:tr>
              <a:tr h="381000">
                <a:tc>
                  <a:txBody>
                    <a:bodyPr/>
                    <a:lstStyle/>
                    <a:p>
                      <a:pPr algn="l">
                        <a:defRPr sz="900">
                          <a:solidFill>
                            <a:srgbClr val="1E293B"/>
                          </a:solidFill>
                          <a:latin typeface="Segoe UI"/>
                        </a:defRPr>
                      </a:pPr>
                      <a:r>
                        <a:t>Chấm công</a:t>
                      </a:r>
                    </a:p>
                  </a:txBody>
                  <a:tcPr marL="18288" marR="18288">
                    <a:solidFill>
                      <a:srgbClr val="F8FAFC"/>
                    </a:solidFill>
                  </a:tcPr>
                </a:tc>
                <a:tc>
                  <a:txBody>
                    <a:bodyPr/>
                    <a:lstStyle/>
                    <a:p>
                      <a:pPr algn="ctr">
                        <a:defRPr sz="900" b="1">
                          <a:solidFill>
                            <a:srgbClr val="10B981"/>
                          </a:solidFill>
                          <a:latin typeface="Segoe UI"/>
                        </a:defRPr>
                      </a:pPr>
                      <a:r>
                        <a:t>Toàn quyền</a:t>
                      </a:r>
                    </a:p>
                  </a:txBody>
                  <a:tcPr marL="18288" marR="18288">
                    <a:solidFill>
                      <a:srgbClr val="F8FAFC"/>
                    </a:solidFill>
                  </a:tcPr>
                </a:tc>
                <a:tc>
                  <a:txBody>
                    <a:bodyPr/>
                    <a:lstStyle/>
                    <a:p>
                      <a:pPr algn="ctr">
                        <a:defRPr sz="900" b="1">
                          <a:solidFill>
                            <a:srgbClr val="10B981"/>
                          </a:solidFill>
                          <a:latin typeface="Segoe UI"/>
                        </a:defRPr>
                      </a:pPr>
                      <a:r>
                        <a:t>CRUD</a:t>
                      </a:r>
                    </a:p>
                  </a:txBody>
                  <a:tcPr marL="18288" marR="18288">
                    <a:solidFill>
                      <a:srgbClr val="F8FAFC"/>
                    </a:solidFill>
                  </a:tcPr>
                </a:tc>
                <a:tc>
                  <a:txBody>
                    <a:bodyPr/>
                    <a:lstStyle/>
                    <a:p>
                      <a:pPr algn="ctr">
                        <a:defRPr sz="900">
                          <a:solidFill>
                            <a:srgbClr val="1E293B"/>
                          </a:solidFill>
                          <a:latin typeface="Segoe UI"/>
                        </a:defRPr>
                      </a:pPr>
                      <a:r>
                        <a:t>SELECT</a:t>
                      </a:r>
                    </a:p>
                  </a:txBody>
                  <a:tcPr marL="18288" marR="18288">
                    <a:solidFill>
                      <a:srgbClr val="F8FAFC"/>
                    </a:solidFill>
                  </a:tcPr>
                </a:tc>
                <a:tc>
                  <a:txBody>
                    <a:bodyPr/>
                    <a:lstStyle/>
                    <a:p>
                      <a:pPr algn="ctr">
                        <a:defRPr sz="900" b="1">
                          <a:solidFill>
                            <a:srgbClr val="EF4444"/>
                          </a:solidFill>
                          <a:latin typeface="Segoe UI"/>
                        </a:defRPr>
                      </a:pPr>
                      <a:r>
                        <a:t>DENY</a:t>
                      </a:r>
                    </a:p>
                  </a:txBody>
                  <a:tcPr marL="18288" marR="18288">
                    <a:solidFill>
                      <a:srgbClr val="F8FAFC"/>
                    </a:solidFill>
                  </a:tcPr>
                </a:tc>
              </a:tr>
              <a:tr h="381000">
                <a:tc>
                  <a:txBody>
                    <a:bodyPr/>
                    <a:lstStyle/>
                    <a:p>
                      <a:pPr algn="l">
                        <a:defRPr sz="900">
                          <a:solidFill>
                            <a:srgbClr val="1E293B"/>
                          </a:solidFill>
                          <a:latin typeface="Segoe UI"/>
                        </a:defRPr>
                      </a:pPr>
                      <a:r>
                        <a:t>Phụ cấp / Khấu trừ</a:t>
                      </a:r>
                    </a:p>
                  </a:txBody>
                  <a:tcPr marL="18288" marR="18288">
                    <a:solidFill>
                      <a:srgbClr val="FFFFFF"/>
                    </a:solidFill>
                  </a:tcPr>
                </a:tc>
                <a:tc>
                  <a:txBody>
                    <a:bodyPr/>
                    <a:lstStyle/>
                    <a:p>
                      <a:pPr algn="ctr">
                        <a:defRPr sz="900" b="1">
                          <a:solidFill>
                            <a:srgbClr val="10B981"/>
                          </a:solidFill>
                          <a:latin typeface="Segoe UI"/>
                        </a:defRPr>
                      </a:pPr>
                      <a:r>
                        <a:t>Toàn quyền</a:t>
                      </a:r>
                    </a:p>
                  </a:txBody>
                  <a:tcPr marL="18288" marR="18288">
                    <a:solidFill>
                      <a:srgbClr val="FFFFFF"/>
                    </a:solidFill>
                  </a:tcPr>
                </a:tc>
                <a:tc>
                  <a:txBody>
                    <a:bodyPr/>
                    <a:lstStyle/>
                    <a:p>
                      <a:pPr algn="ctr">
                        <a:defRPr sz="900">
                          <a:solidFill>
                            <a:srgbClr val="1E293B"/>
                          </a:solidFill>
                          <a:latin typeface="Segoe UI"/>
                        </a:defRPr>
                      </a:pPr>
                      <a:r>
                        <a:t>Nhập liệu</a:t>
                      </a:r>
                    </a:p>
                  </a:txBody>
                  <a:tcPr marL="18288" marR="18288">
                    <a:solidFill>
                      <a:srgbClr val="FFFFFF"/>
                    </a:solidFill>
                  </a:tcPr>
                </a:tc>
                <a:tc>
                  <a:txBody>
                    <a:bodyPr/>
                    <a:lstStyle/>
                    <a:p>
                      <a:pPr algn="ctr">
                        <a:defRPr sz="900" b="1">
                          <a:solidFill>
                            <a:srgbClr val="10B981"/>
                          </a:solidFill>
                          <a:latin typeface="Segoe UI"/>
                        </a:defRPr>
                      </a:pPr>
                      <a:r>
                        <a:t>CRUD</a:t>
                      </a:r>
                    </a:p>
                  </a:txBody>
                  <a:tcPr marL="18288" marR="18288">
                    <a:solidFill>
                      <a:srgbClr val="FFFFFF"/>
                    </a:solidFill>
                  </a:tcPr>
                </a:tc>
                <a:tc>
                  <a:txBody>
                    <a:bodyPr/>
                    <a:lstStyle/>
                    <a:p>
                      <a:pPr algn="ctr">
                        <a:defRPr sz="900" b="1">
                          <a:solidFill>
                            <a:srgbClr val="EF4444"/>
                          </a:solidFill>
                          <a:latin typeface="Segoe UI"/>
                        </a:defRPr>
                      </a:pPr>
                      <a:r>
                        <a:t>DENY</a:t>
                      </a:r>
                    </a:p>
                  </a:txBody>
                  <a:tcPr marL="18288" marR="18288">
                    <a:solidFill>
                      <a:srgbClr val="FFFFFF"/>
                    </a:solidFill>
                  </a:tcPr>
                </a:tc>
              </a:tr>
              <a:tr h="381000">
                <a:tc>
                  <a:txBody>
                    <a:bodyPr/>
                    <a:lstStyle/>
                    <a:p>
                      <a:pPr algn="l">
                        <a:defRPr sz="900">
                          <a:solidFill>
                            <a:srgbClr val="1E293B"/>
                          </a:solidFill>
                          <a:latin typeface="Segoe UI"/>
                        </a:defRPr>
                      </a:pPr>
                      <a:r>
                        <a:t>Tính lương &amp; Chốt</a:t>
                      </a:r>
                    </a:p>
                  </a:txBody>
                  <a:tcPr marL="18288" marR="18288">
                    <a:solidFill>
                      <a:srgbClr val="F8FAFC"/>
                    </a:solidFill>
                  </a:tcPr>
                </a:tc>
                <a:tc>
                  <a:txBody>
                    <a:bodyPr/>
                    <a:lstStyle/>
                    <a:p>
                      <a:pPr algn="ctr">
                        <a:defRPr sz="900" b="1">
                          <a:solidFill>
                            <a:srgbClr val="10B981"/>
                          </a:solidFill>
                          <a:latin typeface="Segoe UI"/>
                        </a:defRPr>
                      </a:pPr>
                      <a:r>
                        <a:t>Toàn quyền</a:t>
                      </a:r>
                    </a:p>
                  </a:txBody>
                  <a:tcPr marL="18288" marR="18288">
                    <a:solidFill>
                      <a:srgbClr val="F8FAFC"/>
                    </a:solidFill>
                  </a:tcPr>
                </a:tc>
                <a:tc>
                  <a:txBody>
                    <a:bodyPr/>
                    <a:lstStyle/>
                    <a:p>
                      <a:pPr algn="ctr">
                        <a:defRPr sz="900" b="1">
                          <a:solidFill>
                            <a:srgbClr val="EF4444"/>
                          </a:solidFill>
                          <a:latin typeface="Segoe UI"/>
                        </a:defRPr>
                      </a:pPr>
                      <a:r>
                        <a:t>DENY</a:t>
                      </a:r>
                    </a:p>
                  </a:txBody>
                  <a:tcPr marL="18288" marR="18288">
                    <a:solidFill>
                      <a:srgbClr val="F8FAFC"/>
                    </a:solidFill>
                  </a:tcPr>
                </a:tc>
                <a:tc>
                  <a:txBody>
                    <a:bodyPr/>
                    <a:lstStyle/>
                    <a:p>
                      <a:pPr algn="ctr">
                        <a:defRPr sz="900" b="1">
                          <a:solidFill>
                            <a:srgbClr val="10B981"/>
                          </a:solidFill>
                          <a:latin typeface="Segoe UI"/>
                        </a:defRPr>
                      </a:pPr>
                      <a:r>
                        <a:t>EXECUTE</a:t>
                      </a:r>
                    </a:p>
                  </a:txBody>
                  <a:tcPr marL="18288" marR="18288">
                    <a:solidFill>
                      <a:srgbClr val="F8FAFC"/>
                    </a:solidFill>
                  </a:tcPr>
                </a:tc>
                <a:tc>
                  <a:txBody>
                    <a:bodyPr/>
                    <a:lstStyle/>
                    <a:p>
                      <a:pPr algn="ctr">
                        <a:defRPr sz="900" b="1">
                          <a:solidFill>
                            <a:srgbClr val="EF4444"/>
                          </a:solidFill>
                          <a:latin typeface="Segoe UI"/>
                        </a:defRPr>
                      </a:pPr>
                      <a:r>
                        <a:t>DENY</a:t>
                      </a:r>
                    </a:p>
                  </a:txBody>
                  <a:tcPr marL="18288" marR="18288">
                    <a:solidFill>
                      <a:srgbClr val="F8FAFC"/>
                    </a:solidFill>
                  </a:tcPr>
                </a:tc>
              </a:tr>
              <a:tr h="381000">
                <a:tc>
                  <a:txBody>
                    <a:bodyPr/>
                    <a:lstStyle/>
                    <a:p>
                      <a:pPr algn="l">
                        <a:defRPr sz="900">
                          <a:solidFill>
                            <a:srgbClr val="1E293B"/>
                          </a:solidFill>
                          <a:latin typeface="Segoe UI"/>
                        </a:defRPr>
                      </a:pPr>
                      <a:r>
                        <a:t>Xem phiếu lương</a:t>
                      </a:r>
                    </a:p>
                  </a:txBody>
                  <a:tcPr marL="18288" marR="18288">
                    <a:solidFill>
                      <a:srgbClr val="FFFFFF"/>
                    </a:solidFill>
                  </a:tcPr>
                </a:tc>
                <a:tc>
                  <a:txBody>
                    <a:bodyPr/>
                    <a:lstStyle/>
                    <a:p>
                      <a:pPr algn="ctr">
                        <a:defRPr sz="900">
                          <a:solidFill>
                            <a:srgbClr val="1E293B"/>
                          </a:solidFill>
                          <a:latin typeface="Segoe UI"/>
                        </a:defRPr>
                      </a:pPr>
                      <a:r>
                        <a:t>Tất cả</a:t>
                      </a:r>
                    </a:p>
                  </a:txBody>
                  <a:tcPr marL="18288" marR="18288">
                    <a:solidFill>
                      <a:srgbClr val="FFFFFF"/>
                    </a:solidFill>
                  </a:tcPr>
                </a:tc>
                <a:tc>
                  <a:txBody>
                    <a:bodyPr/>
                    <a:lstStyle/>
                    <a:p>
                      <a:pPr algn="ctr">
                        <a:defRPr sz="900">
                          <a:solidFill>
                            <a:srgbClr val="1E293B"/>
                          </a:solidFill>
                          <a:latin typeface="Segoe UI"/>
                        </a:defRPr>
                      </a:pPr>
                      <a:r>
                        <a:t>Tất cả</a:t>
                      </a:r>
                    </a:p>
                  </a:txBody>
                  <a:tcPr marL="18288" marR="18288">
                    <a:solidFill>
                      <a:srgbClr val="FFFFFF"/>
                    </a:solidFill>
                  </a:tcPr>
                </a:tc>
                <a:tc>
                  <a:txBody>
                    <a:bodyPr/>
                    <a:lstStyle/>
                    <a:p>
                      <a:pPr algn="ctr">
                        <a:defRPr sz="900">
                          <a:solidFill>
                            <a:srgbClr val="1E293B"/>
                          </a:solidFill>
                          <a:latin typeface="Segoe UI"/>
                        </a:defRPr>
                      </a:pPr>
                      <a:r>
                        <a:t>Tất cả</a:t>
                      </a:r>
                    </a:p>
                  </a:txBody>
                  <a:tcPr marL="18288" marR="18288">
                    <a:solidFill>
                      <a:srgbClr val="FFFFFF"/>
                    </a:solidFill>
                  </a:tcPr>
                </a:tc>
                <a:tc>
                  <a:txBody>
                    <a:bodyPr/>
                    <a:lstStyle/>
                    <a:p>
                      <a:pPr algn="ctr">
                        <a:defRPr sz="900" b="1">
                          <a:solidFill>
                            <a:srgbClr val="4F46E5"/>
                          </a:solidFill>
                          <a:latin typeface="Segoe UI"/>
                        </a:defRPr>
                      </a:pPr>
                      <a:r>
                        <a:t>DÒNG RIÊNG (*)</a:t>
                      </a:r>
                    </a:p>
                  </a:txBody>
                  <a:tcPr marL="18288" marR="18288">
                    <a:solidFill>
                      <a:srgbClr val="FFFFFF"/>
                    </a:solidFill>
                  </a:tcPr>
                </a:tc>
              </a:tr>
            </a:tbl>
          </a:graphicData>
        </a:graphic>
      </p:graphicFrame>
      <p:sp>
        <p:nvSpPr>
          <p:cNvPr id="9" name="Rounded Rectangle 8"/>
          <p:cNvSpPr/>
          <p:nvPr/>
        </p:nvSpPr>
        <p:spPr>
          <a:xfrm>
            <a:off x="731520" y="5193792"/>
            <a:ext cx="5212080" cy="987552"/>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64592" tIns="91440"/>
          <a:lstStyle/>
          <a:p>
            <a:pPr algn="ctr">
              <a:spcAft>
                <a:spcPts val="200"/>
              </a:spcAft>
              <a:defRPr sz="1200" b="1">
                <a:solidFill>
                  <a:srgbClr val="4F46E5"/>
                </a:solidFill>
                <a:latin typeface="Segoe UI"/>
              </a:defRPr>
            </a:pPr>
            <a:r>
              <a:t>3. Row-Level Security với ORIGINAL_LOGIN()</a:t>
            </a:r>
          </a:p>
          <a:p>
            <a:pPr>
              <a:defRPr sz="1100">
                <a:solidFill>
                  <a:srgbClr val="1E293B"/>
                </a:solidFill>
                <a:latin typeface="Segoe UI"/>
              </a:defRPr>
            </a:pPr>
            <a:r>
              <a:t>• View vw_PhieuLuongCaNhan tự động lọc theo Login SQL thực tế. Nhân viên A (gui_a) tuyệt đối không thể xem phiếu lương của Nhân viên B dù can thiệp Session Java.</a:t>
            </a:r>
          </a:p>
        </p:txBody>
      </p:sp>
      <p:sp>
        <p:nvSpPr>
          <p:cNvPr id="10" name="Rounded Rectangle 9"/>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lide_15_img_1.png"/>
          <p:cNvPicPr>
            <a:picLocks noChangeAspect="1"/>
          </p:cNvPicPr>
          <p:nvPr/>
        </p:nvPicPr>
        <p:blipFill>
          <a:blip r:embed="rId2"/>
          <a:stretch>
            <a:fillRect/>
          </a:stretch>
        </p:blipFill>
        <p:spPr>
          <a:xfrm>
            <a:off x="6355080" y="1417320"/>
            <a:ext cx="4967935" cy="3104959"/>
          </a:xfrm>
          <a:prstGeom prst="rect">
            <a:avLst/>
          </a:prstGeom>
        </p:spPr>
      </p:pic>
      <p:sp>
        <p:nvSpPr>
          <p:cNvPr id="12" name="Rounded Rectangle 11"/>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15.1: Màn hình Quản trị tài khoản &amp; Ánh xạ Database Roles</a:t>
            </a:r>
          </a:p>
        </p:txBody>
      </p:sp>
      <p:sp>
        <p:nvSpPr>
          <p:cNvPr id="13" name="Rectangle 12"/>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TV5: Trần Đức Anh — 24110155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BẢO MẬT &amp; ĐỒNG THỜI — TV5 TRẦN ĐỨC ANH (24110155)</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Quy trình Chốt lương &amp; Kiểm soát Truy cập Đồng thời</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16</a:t>
            </a:r>
          </a:p>
        </p:txBody>
      </p:sp>
      <p:sp>
        <p:nvSpPr>
          <p:cNvPr id="6" name="TextBox 5"/>
          <p:cNvSpPr txBox="1"/>
          <p:nvPr/>
        </p:nvSpPr>
        <p:spPr>
          <a:xfrm>
            <a:off x="731520" y="1234440"/>
            <a:ext cx="5212080" cy="320040"/>
          </a:xfrm>
          <a:prstGeom prst="rect">
            <a:avLst/>
          </a:prstGeom>
          <a:noFill/>
        </p:spPr>
        <p:txBody>
          <a:bodyPr wrap="none" lIns="0" tIns="0">
            <a:spAutoFit/>
          </a:bodyPr>
          <a:lstStyle/>
          <a:p>
            <a:pPr>
              <a:defRPr sz="1350" b="1">
                <a:solidFill>
                  <a:srgbClr val="4F46E5"/>
                </a:solidFill>
                <a:latin typeface="Segoe UI"/>
              </a:defRPr>
            </a:pPr>
            <a:r>
              <a:t>1. Vòng đời Chốt kỳ lương (Payroll Lifecycle Workflow)</a:t>
            </a:r>
          </a:p>
        </p:txBody>
      </p:sp>
      <p:sp>
        <p:nvSpPr>
          <p:cNvPr id="7" name="Rounded Rectangle 6"/>
          <p:cNvSpPr/>
          <p:nvPr/>
        </p:nvSpPr>
        <p:spPr>
          <a:xfrm>
            <a:off x="731520" y="1600200"/>
            <a:ext cx="2423160" cy="1371600"/>
          </a:xfrm>
          <a:prstGeom prst="roundRect">
            <a:avLst/>
          </a:prstGeom>
          <a:solidFill>
            <a:srgbClr val="FEF3C7"/>
          </a:solidFill>
          <a:ln w="15875">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300"/>
              </a:spcAft>
              <a:defRPr sz="1100" b="1">
                <a:solidFill>
                  <a:srgbClr val="D97706"/>
                </a:solidFill>
                <a:latin typeface="Segoe UI"/>
              </a:defRPr>
            </a:pPr>
            <a:r>
              <a:t>BƯỚC 1: KỲ LƯƠNG NHÁP</a:t>
            </a:r>
          </a:p>
          <a:p>
            <a:pPr>
              <a:defRPr sz="1000">
                <a:solidFill>
                  <a:srgbClr val="1E293B"/>
                </a:solidFill>
                <a:latin typeface="Segoe UI"/>
              </a:defRPr>
            </a:pPr>
            <a:r>
              <a:t>• TrangThai = 'CHUA_CHOT'</a:t>
            </a:r>
            <a:br/>
            <a:r>
              <a:t>• Cho phép sửa công, phát sinh phụ cấp/khấu trừ.</a:t>
            </a:r>
            <a:br/>
            <a:r>
              <a:t>• Được phép tính lại lương nhiều lần.</a:t>
            </a:r>
          </a:p>
        </p:txBody>
      </p:sp>
      <p:sp>
        <p:nvSpPr>
          <p:cNvPr id="8" name="Right Arrow 7"/>
          <p:cNvSpPr/>
          <p:nvPr/>
        </p:nvSpPr>
        <p:spPr>
          <a:xfrm>
            <a:off x="3218688" y="2148840"/>
            <a:ext cx="237744" cy="274320"/>
          </a:xfrm>
          <a:prstGeom prst="rightArrow">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520440" y="1600200"/>
            <a:ext cx="2423160" cy="1371600"/>
          </a:xfrm>
          <a:prstGeom prst="roundRect">
            <a:avLst/>
          </a:prstGeom>
          <a:solidFill>
            <a:srgbClr val="ECFDF5"/>
          </a:solidFill>
          <a:ln w="15875">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300"/>
              </a:spcAft>
              <a:defRPr sz="1100" b="1">
                <a:solidFill>
                  <a:srgbClr val="10B981"/>
                </a:solidFill>
                <a:latin typeface="Segoe UI"/>
              </a:defRPr>
            </a:pPr>
            <a:r>
              <a:t>BƯỚC 2: ĐÃ CHỐT SỔ</a:t>
            </a:r>
          </a:p>
          <a:p>
            <a:pPr>
              <a:defRPr sz="1000">
                <a:solidFill>
                  <a:srgbClr val="1E293B"/>
                </a:solidFill>
                <a:latin typeface="Segoe UI"/>
              </a:defRPr>
            </a:pPr>
            <a:r>
              <a:t>• TrangThai = 'DA_CHOT'</a:t>
            </a:r>
            <a:br/>
            <a:r>
              <a:t>• Gọi sp_ChotBangLuong + UPDLOCK</a:t>
            </a:r>
            <a:br/>
            <a:r>
              <a:t>• Kích hoạt 3 Triggers tự động chặn sửa Chấm công, Phụ cấp, Khấu trừ.</a:t>
            </a:r>
          </a:p>
        </p:txBody>
      </p:sp>
      <p:sp>
        <p:nvSpPr>
          <p:cNvPr id="10" name="Rounded Rectangle 9"/>
          <p:cNvSpPr/>
          <p:nvPr/>
        </p:nvSpPr>
        <p:spPr>
          <a:xfrm>
            <a:off x="731520" y="3090672"/>
            <a:ext cx="5212080" cy="12344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109728"/>
          <a:lstStyle/>
          <a:p>
            <a:pPr algn="ctr">
              <a:spcAft>
                <a:spcPts val="400"/>
              </a:spcAft>
              <a:defRPr sz="1300" b="1">
                <a:solidFill>
                  <a:srgbClr val="4F46E5"/>
                </a:solidFill>
                <a:latin typeface="Segoe UI"/>
              </a:defRPr>
            </a:pPr>
            <a:r>
              <a:t>2. Quy trình Mở lại kỳ lương có điều kiện (Reopen)</a:t>
            </a:r>
          </a:p>
          <a:p>
            <a:pPr>
              <a:defRPr sz="1150">
                <a:solidFill>
                  <a:srgbClr val="1E293B"/>
                </a:solidFill>
                <a:latin typeface="Segoe UI"/>
              </a:defRPr>
            </a:pPr>
            <a:r>
              <a:rPr b="1">
                <a:solidFill>
                  <a:srgbClr val="0F172A"/>
                </a:solidFill>
              </a:rPr>
              <a:t>• Thủ tục sp_HuyChotBangLuong: </a:t>
            </a:r>
            <a:r>
              <a:t>Trả trạng thái về CHUA_CHOT và xóa NgayChot.</a:t>
            </a:r>
          </a:p>
          <a:p>
            <a:pPr>
              <a:defRPr sz="1150">
                <a:solidFill>
                  <a:srgbClr val="1E293B"/>
                </a:solidFill>
                <a:latin typeface="Segoe UI"/>
              </a:defRPr>
            </a:pPr>
            <a:r>
              <a:rPr b="1">
                <a:solidFill>
                  <a:srgbClr val="0F172A"/>
                </a:solidFill>
              </a:rPr>
              <a:t>• Giới hạn quyền hạn: </a:t>
            </a:r>
            <a:r>
              <a:t>Chỉ role_DBAdmin và role_PayrollOfficer được cấp quyền EXECUTE khi có lý do chính đáng.</a:t>
            </a:r>
          </a:p>
        </p:txBody>
      </p:sp>
      <p:sp>
        <p:nvSpPr>
          <p:cNvPr id="11" name="Rounded Rectangle 10"/>
          <p:cNvSpPr/>
          <p:nvPr/>
        </p:nvSpPr>
        <p:spPr>
          <a:xfrm>
            <a:off x="731520" y="4434840"/>
            <a:ext cx="5212080" cy="173736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109728"/>
          <a:lstStyle/>
          <a:p>
            <a:pPr algn="ctr">
              <a:spcAft>
                <a:spcPts val="400"/>
              </a:spcAft>
              <a:defRPr sz="1300" b="1">
                <a:solidFill>
                  <a:srgbClr val="4F46E5"/>
                </a:solidFill>
                <a:latin typeface="Segoe UI"/>
              </a:defRPr>
            </a:pPr>
            <a:r>
              <a:t>3. Xử lý Tranh chấp Đồng thời (Concurrency Control)</a:t>
            </a:r>
          </a:p>
          <a:p>
            <a:pPr>
              <a:defRPr sz="1150">
                <a:solidFill>
                  <a:srgbClr val="1E293B"/>
                </a:solidFill>
                <a:latin typeface="Segoe UI"/>
              </a:defRPr>
            </a:pPr>
            <a:r>
              <a:rPr b="1">
                <a:solidFill>
                  <a:srgbClr val="0F172A"/>
                </a:solidFill>
              </a:rPr>
              <a:t>• Hai phiên cùng tính lương: </a:t>
            </a:r>
            <a:r>
              <a:t>Session B tự động chờ khóa Session A nhả ra. Kết quả: duy nhất 1 bảng lương, 0 dòng trùng, 0 header trùng.</a:t>
            </a:r>
          </a:p>
          <a:p>
            <a:pPr>
              <a:defRPr sz="1150">
                <a:solidFill>
                  <a:srgbClr val="1E293B"/>
                </a:solidFill>
                <a:latin typeface="Segoe UI"/>
              </a:defRPr>
            </a:pPr>
            <a:r>
              <a:rPr b="1">
                <a:solidFill>
                  <a:srgbClr val="0F172A"/>
                </a:solidFill>
              </a:rPr>
              <a:t>• Chốt kỳ đối đầu sửa công: </a:t>
            </a:r>
            <a:r>
              <a:t>Thao tác sửa công bị giữ lại và từ chối an toàn ngay khi thấy DA_CHOT (source data unchanged).</a:t>
            </a:r>
          </a:p>
        </p:txBody>
      </p:sp>
      <p:sp>
        <p:nvSpPr>
          <p:cNvPr id="12" name="Rounded Rectangle 11"/>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lide_16_img_1.png"/>
          <p:cNvPicPr>
            <a:picLocks noChangeAspect="1"/>
          </p:cNvPicPr>
          <p:nvPr/>
        </p:nvPicPr>
        <p:blipFill>
          <a:blip r:embed="rId2"/>
          <a:stretch>
            <a:fillRect/>
          </a:stretch>
        </p:blipFill>
        <p:spPr>
          <a:xfrm>
            <a:off x="6355080" y="1417320"/>
            <a:ext cx="4967935" cy="3104959"/>
          </a:xfrm>
          <a:prstGeom prst="rect">
            <a:avLst/>
          </a:prstGeom>
        </p:spPr>
      </p:pic>
      <p:sp>
        <p:nvSpPr>
          <p:cNvPr id="14" name="Rounded Rectangle 13"/>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16.1: Giao diện Báo cáo lương, Chốt kỳ &amp; Mở lại bảng lương</a:t>
            </a:r>
          </a:p>
        </p:txBody>
      </p:sp>
      <p:sp>
        <p:nvSpPr>
          <p:cNvPr id="15" name="Rectangle 14"/>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TV5: Trần Đức Anh — 24110155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BẢO MẬT &amp; ĐỒNG THỜI — TV5 TRẦN ĐỨC ANH (24110155)</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Đánh giá Hiệu năng Chỉ mục &amp; Kiểm thử Tự động</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17</a:t>
            </a:r>
          </a:p>
        </p:txBody>
      </p:sp>
      <p:sp>
        <p:nvSpPr>
          <p:cNvPr id="6" name="TextBox 5"/>
          <p:cNvSpPr txBox="1"/>
          <p:nvPr/>
        </p:nvSpPr>
        <p:spPr>
          <a:xfrm>
            <a:off x="731520" y="1234440"/>
            <a:ext cx="5212080" cy="320040"/>
          </a:xfrm>
          <a:prstGeom prst="rect">
            <a:avLst/>
          </a:prstGeom>
          <a:noFill/>
        </p:spPr>
        <p:txBody>
          <a:bodyPr wrap="none" lIns="0" tIns="0">
            <a:spAutoFit/>
          </a:bodyPr>
          <a:lstStyle/>
          <a:p>
            <a:pPr>
              <a:defRPr sz="1300" b="1">
                <a:solidFill>
                  <a:srgbClr val="4F46E5"/>
                </a:solidFill>
                <a:latin typeface="Segoe UI"/>
              </a:defRPr>
            </a:pPr>
            <a:r>
              <a:t>1. Đo lường Chỉ mục IX_NHANVIEN_MaPB_MaCV (Benchmark 10.000 dòng)</a:t>
            </a:r>
          </a:p>
        </p:txBody>
      </p:sp>
      <p:sp>
        <p:nvSpPr>
          <p:cNvPr id="7" name="Rounded Rectangle 6"/>
          <p:cNvSpPr/>
          <p:nvPr/>
        </p:nvSpPr>
        <p:spPr>
          <a:xfrm>
            <a:off x="731520" y="1600200"/>
            <a:ext cx="2542032" cy="1920240"/>
          </a:xfrm>
          <a:prstGeom prst="roundRect">
            <a:avLst/>
          </a:prstGeom>
          <a:solidFill>
            <a:srgbClr val="FEF2F2"/>
          </a:solidFill>
          <a:ln w="15875">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wrap="square" lIns="128016" tIns="109728"/>
          <a:lstStyle/>
          <a:p>
            <a:pPr algn="ctr">
              <a:defRPr sz="1100" b="1">
                <a:solidFill>
                  <a:srgbClr val="EF4444"/>
                </a:solidFill>
                <a:latin typeface="Segoe UI"/>
              </a:defRPr>
            </a:pPr>
            <a:r>
              <a:t>TRƯỚC TỐI ƯU</a:t>
            </a:r>
          </a:p>
          <a:p>
            <a:pPr>
              <a:spcAft>
                <a:spcPts val="400"/>
              </a:spcAft>
              <a:defRPr sz="1300" b="1">
                <a:solidFill>
                  <a:srgbClr val="0F172A"/>
                </a:solidFill>
              </a:defRPr>
            </a:pPr>
            <a:r>
              <a:t>Clustered Index Scan</a:t>
            </a:r>
          </a:p>
          <a:p>
            <a:pPr>
              <a:defRPr sz="1100">
                <a:solidFill>
                  <a:srgbClr val="1E293B"/>
                </a:solidFill>
                <a:latin typeface="Segoe UI"/>
              </a:defRPr>
            </a:pPr>
            <a:r>
              <a:t>• Số dòng quét: 10.000 dòng</a:t>
            </a:r>
            <a:br/>
            <a:r>
              <a:t>• Logical Reads: 142 reads</a:t>
            </a:r>
            <a:br/>
            <a:r>
              <a:t>• Thời gian CPU: 3 ms</a:t>
            </a:r>
            <a:br/>
            <a:r>
              <a:t>• Tải đọc đĩa cao toàn bảng.</a:t>
            </a:r>
          </a:p>
        </p:txBody>
      </p:sp>
      <p:sp>
        <p:nvSpPr>
          <p:cNvPr id="8" name="Rounded Rectangle 7"/>
          <p:cNvSpPr/>
          <p:nvPr/>
        </p:nvSpPr>
        <p:spPr>
          <a:xfrm>
            <a:off x="3401568" y="1600200"/>
            <a:ext cx="2542032" cy="1920240"/>
          </a:xfrm>
          <a:prstGeom prst="roundRect">
            <a:avLst/>
          </a:prstGeom>
          <a:solidFill>
            <a:srgbClr val="ECFDF5"/>
          </a:solidFill>
          <a:ln w="15875">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lIns="128016" tIns="109728"/>
          <a:lstStyle/>
          <a:p>
            <a:pPr algn="ctr">
              <a:defRPr sz="1100" b="1">
                <a:solidFill>
                  <a:srgbClr val="10B981"/>
                </a:solidFill>
                <a:latin typeface="Segoe UI"/>
              </a:defRPr>
            </a:pPr>
            <a:r>
              <a:t>SAU TỐI ƯU (COVERING INDEX)</a:t>
            </a:r>
          </a:p>
          <a:p>
            <a:pPr>
              <a:spcAft>
                <a:spcPts val="400"/>
              </a:spcAft>
              <a:defRPr sz="1300" b="1">
                <a:solidFill>
                  <a:srgbClr val="0F172A"/>
                </a:solidFill>
              </a:defRPr>
            </a:pPr>
            <a:r>
              <a:t>Nonclustered Index Seek</a:t>
            </a:r>
          </a:p>
          <a:p>
            <a:pPr>
              <a:defRPr sz="1100" b="1">
                <a:solidFill>
                  <a:srgbClr val="10B981"/>
                </a:solidFill>
                <a:latin typeface="Segoe UI"/>
              </a:defRPr>
            </a:pPr>
            <a:r>
              <a:t>• Số dòng đọc: Đúng 833 dòng</a:t>
            </a:r>
            <a:br/>
            <a:r>
              <a:t>• Logical Reads: 15 reads</a:t>
            </a:r>
            <a:br/>
            <a:r>
              <a:t>• Thời gian CPU: 1 - 2 ms</a:t>
            </a:r>
            <a:br/>
            <a:r>
              <a:t>• GIẢM 89.7% I/O READS!</a:t>
            </a:r>
          </a:p>
        </p:txBody>
      </p:sp>
      <p:sp>
        <p:nvSpPr>
          <p:cNvPr id="9" name="Rounded Rectangle 8"/>
          <p:cNvSpPr/>
          <p:nvPr/>
        </p:nvSpPr>
        <p:spPr>
          <a:xfrm>
            <a:off x="731520" y="3639312"/>
            <a:ext cx="5212080" cy="254203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tIns="128016"/>
          <a:lstStyle/>
          <a:p>
            <a:pPr algn="ctr">
              <a:spcAft>
                <a:spcPts val="600"/>
              </a:spcAft>
              <a:defRPr sz="1350" b="1">
                <a:solidFill>
                  <a:srgbClr val="4F46E5"/>
                </a:solidFill>
                <a:latin typeface="Segoe UI"/>
              </a:defRPr>
            </a:pPr>
            <a:r>
              <a:t>2. Bộ Kiểm thử Tự động Toàn diện (257 Assertions PASS)</a:t>
            </a:r>
          </a:p>
          <a:p>
            <a:pPr>
              <a:spcAft>
                <a:spcPts val="300"/>
              </a:spcAft>
              <a:defRPr sz="1100">
                <a:solidFill>
                  <a:srgbClr val="1E293B"/>
                </a:solidFill>
                <a:latin typeface="Segoe UI"/>
              </a:defRPr>
            </a:pPr>
            <a:r>
              <a:rPr b="1">
                <a:solidFill>
                  <a:srgbClr val="0F172A"/>
                </a:solidFill>
              </a:rPr>
              <a:t>• SecurityRegressionTest: </a:t>
            </a:r>
            <a:r>
              <a:t>104 assertions xác thực ma trận phân quyền 4 Roles, kiểm tra 22 permissions và 3 trường hợp bị từ chối.</a:t>
            </a:r>
          </a:p>
          <a:p>
            <a:pPr>
              <a:spcAft>
                <a:spcPts val="300"/>
              </a:spcAft>
              <a:defRPr sz="1100">
                <a:solidFill>
                  <a:srgbClr val="1E293B"/>
                </a:solidFill>
                <a:latin typeface="Segoe UI"/>
              </a:defRPr>
            </a:pPr>
            <a:r>
              <a:rPr b="1">
                <a:solidFill>
                  <a:srgbClr val="0F172A"/>
                </a:solidFill>
              </a:rPr>
              <a:t>• GuiQaRegressionTest: </a:t>
            </a:r>
            <a:r>
              <a:t>88 assertions tự động kiểm tra toàn bộ vòng đời giao diện PeopleOS, focus, navigation và xử lý timeout.</a:t>
            </a:r>
          </a:p>
          <a:p>
            <a:pPr>
              <a:spcAft>
                <a:spcPts val="300"/>
              </a:spcAft>
              <a:defRPr sz="1100">
                <a:solidFill>
                  <a:srgbClr val="1E293B"/>
                </a:solidFill>
                <a:latin typeface="Segoe UI"/>
              </a:defRPr>
            </a:pPr>
            <a:r>
              <a:rPr b="1">
                <a:solidFill>
                  <a:srgbClr val="0F172A"/>
                </a:solidFill>
              </a:rPr>
              <a:t>• LightTheme &amp; LoginChip: </a:t>
            </a:r>
            <a:r>
              <a:t>65 assertions kiểm tra giao diện hiện đại và cơ chế dọn sạch mật khẩu trên bộ nhớ (fill zeros).</a:t>
            </a:r>
          </a:p>
          <a:p>
            <a:pPr>
              <a:spcAft>
                <a:spcPts val="300"/>
              </a:spcAft>
              <a:defRPr sz="1100">
                <a:solidFill>
                  <a:srgbClr val="1E293B"/>
                </a:solidFill>
                <a:latin typeface="Segoe UI"/>
              </a:defRPr>
            </a:pPr>
            <a:r>
              <a:rPr b="1">
                <a:solidFill>
                  <a:srgbClr val="0F172A"/>
                </a:solidFill>
              </a:rPr>
              <a:t>• Thực nghiệm Concurrency: </a:t>
            </a:r>
            <a:r>
              <a:t>Đo thời gian chờ khóa chốt thực tế (Công 1.10s, Phụ cấp 1.04s, Khấu trừ 1.04s, Chi tiết 1.03s).</a:t>
            </a:r>
          </a:p>
        </p:txBody>
      </p:sp>
      <p:sp>
        <p:nvSpPr>
          <p:cNvPr id="10" name="Rounded Rectangle 9"/>
          <p:cNvSpPr/>
          <p:nvPr/>
        </p:nvSpPr>
        <p:spPr>
          <a:xfrm>
            <a:off x="6217920" y="1280160"/>
            <a:ext cx="5242255" cy="4901184"/>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lide_17_img_1.png"/>
          <p:cNvPicPr>
            <a:picLocks noChangeAspect="1"/>
          </p:cNvPicPr>
          <p:nvPr/>
        </p:nvPicPr>
        <p:blipFill>
          <a:blip r:embed="rId2"/>
          <a:stretch>
            <a:fillRect/>
          </a:stretch>
        </p:blipFill>
        <p:spPr>
          <a:xfrm>
            <a:off x="6355080" y="1417320"/>
            <a:ext cx="4967935" cy="2241335"/>
          </a:xfrm>
          <a:prstGeom prst="rect">
            <a:avLst/>
          </a:prstGeom>
        </p:spPr>
      </p:pic>
      <p:sp>
        <p:nvSpPr>
          <p:cNvPr id="12" name="Rounded Rectangle 11"/>
          <p:cNvSpPr/>
          <p:nvPr/>
        </p:nvSpPr>
        <p:spPr>
          <a:xfrm>
            <a:off x="6355080" y="5724144"/>
            <a:ext cx="4967935"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4F46E5"/>
                </a:solidFill>
                <a:latin typeface="Segoe UI"/>
              </a:defRPr>
            </a:pPr>
            <a:r>
              <a:t>Hình 17.1: Minh chứng kiểm tra tranh chấp đồng thời 2 Sessions trong SSMS</a:t>
            </a:r>
          </a:p>
        </p:txBody>
      </p:sp>
      <p:sp>
        <p:nvSpPr>
          <p:cNvPr id="13" name="Rectangle 12"/>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TV5: Trần Đức Anh — 24110155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5486400" cy="329184"/>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109728" tIns="0"/>
          <a:lstStyle/>
          <a:p>
            <a:pPr algn="ctr">
              <a:defRPr sz="1050" b="1">
                <a:solidFill>
                  <a:srgbClr val="4F46E5"/>
                </a:solidFill>
                <a:latin typeface="Segoe UI"/>
              </a:defRPr>
            </a:pPr>
            <a:r>
              <a:t>TỔNG KẾT ĐỒ ÁN MÔN HỌC — NHÓM 06 (DBMS330284)</a:t>
            </a:r>
          </a:p>
        </p:txBody>
      </p:sp>
      <p:sp>
        <p:nvSpPr>
          <p:cNvPr id="4" name="TextBox 3"/>
          <p:cNvSpPr txBox="1"/>
          <p:nvPr/>
        </p:nvSpPr>
        <p:spPr>
          <a:xfrm>
            <a:off x="731520" y="658368"/>
            <a:ext cx="9601200" cy="548640"/>
          </a:xfrm>
          <a:prstGeom prst="rect">
            <a:avLst/>
          </a:prstGeom>
          <a:noFill/>
        </p:spPr>
        <p:txBody>
          <a:bodyPr wrap="square" lIns="0" tIns="0">
            <a:spAutoFit/>
          </a:bodyPr>
          <a:lstStyle/>
          <a:p>
            <a:pPr>
              <a:defRPr sz="2100" b="1">
                <a:solidFill>
                  <a:srgbClr val="0F172A"/>
                </a:solidFill>
                <a:latin typeface="Segoe UI"/>
              </a:defRPr>
            </a:pPr>
            <a:r>
              <a:t>Tổng kết Kết quả Đạt được &amp; Sẵn sàng Demo Trực tiếp</a:t>
            </a:r>
          </a:p>
        </p:txBody>
      </p:sp>
      <p:sp>
        <p:nvSpPr>
          <p:cNvPr id="5" name="Rounded Rectangle 4"/>
          <p:cNvSpPr/>
          <p:nvPr/>
        </p:nvSpPr>
        <p:spPr>
          <a:xfrm>
            <a:off x="10789920" y="347472"/>
            <a:ext cx="685800" cy="310896"/>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4F46E5"/>
                </a:solidFill>
                <a:latin typeface="Segoe UI"/>
              </a:defRPr>
            </a:pPr>
            <a:r>
              <a:t>18</a:t>
            </a:r>
          </a:p>
        </p:txBody>
      </p:sp>
      <p:sp>
        <p:nvSpPr>
          <p:cNvPr id="6" name="Rounded Rectangle 5"/>
          <p:cNvSpPr/>
          <p:nvPr/>
        </p:nvSpPr>
        <p:spPr>
          <a:xfrm>
            <a:off x="731520" y="1280160"/>
            <a:ext cx="2029968" cy="868680"/>
          </a:xfrm>
          <a:prstGeom prst="roundRect">
            <a:avLst/>
          </a:prstGeom>
          <a:solidFill>
            <a:srgbClr val="EEF2FF"/>
          </a:solidFill>
          <a:ln w="15875">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lIns="73152" tIns="54864"/>
          <a:lstStyle/>
          <a:p>
            <a:pPr algn="ctr">
              <a:defRPr sz="1400" b="1">
                <a:solidFill>
                  <a:srgbClr val="4F46E5"/>
                </a:solidFill>
                <a:latin typeface="Segoe UI"/>
              </a:defRPr>
            </a:pPr>
            <a:r>
              <a:t>10 BẢNG</a:t>
            </a:r>
          </a:p>
          <a:p>
            <a:pPr algn="ctr">
              <a:defRPr sz="950">
                <a:solidFill>
                  <a:srgbClr val="64748B"/>
                </a:solidFill>
                <a:latin typeface="Segoe UI"/>
              </a:defRPr>
            </a:pPr>
            <a:r>
              <a:t>Chuẩn hóa 3NF</a:t>
            </a:r>
          </a:p>
        </p:txBody>
      </p:sp>
      <p:sp>
        <p:nvSpPr>
          <p:cNvPr id="7" name="Rounded Rectangle 6"/>
          <p:cNvSpPr/>
          <p:nvPr/>
        </p:nvSpPr>
        <p:spPr>
          <a:xfrm>
            <a:off x="2898648" y="1280160"/>
            <a:ext cx="2029968" cy="868680"/>
          </a:xfrm>
          <a:prstGeom prst="roundRect">
            <a:avLst/>
          </a:prstGeom>
          <a:solidFill>
            <a:srgbClr val="ECFDF5"/>
          </a:solidFill>
          <a:ln w="15875">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lIns="73152" tIns="54864"/>
          <a:lstStyle/>
          <a:p>
            <a:pPr algn="ctr">
              <a:defRPr sz="1400" b="1">
                <a:solidFill>
                  <a:srgbClr val="10B981"/>
                </a:solidFill>
                <a:latin typeface="Segoe UI"/>
              </a:defRPr>
            </a:pPr>
            <a:r>
              <a:t>14 PROCEDURES</a:t>
            </a:r>
          </a:p>
          <a:p>
            <a:pPr algn="ctr">
              <a:defRPr sz="950">
                <a:solidFill>
                  <a:srgbClr val="64748B"/>
                </a:solidFill>
                <a:latin typeface="Segoe UI"/>
              </a:defRPr>
            </a:pPr>
            <a:r>
              <a:t>Nghiệp vụ giao dịch</a:t>
            </a:r>
          </a:p>
        </p:txBody>
      </p:sp>
      <p:sp>
        <p:nvSpPr>
          <p:cNvPr id="8" name="Rounded Rectangle 7"/>
          <p:cNvSpPr/>
          <p:nvPr/>
        </p:nvSpPr>
        <p:spPr>
          <a:xfrm>
            <a:off x="5065776" y="1280160"/>
            <a:ext cx="2029968" cy="868680"/>
          </a:xfrm>
          <a:prstGeom prst="roundRect">
            <a:avLst/>
          </a:prstGeom>
          <a:solidFill>
            <a:srgbClr val="FEF3C7"/>
          </a:solidFill>
          <a:ln w="15875">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lIns="73152" tIns="54864"/>
          <a:lstStyle/>
          <a:p>
            <a:pPr algn="ctr">
              <a:defRPr sz="1400" b="1">
                <a:solidFill>
                  <a:srgbClr val="D97706"/>
                </a:solidFill>
                <a:latin typeface="Segoe UI"/>
              </a:defRPr>
            </a:pPr>
            <a:r>
              <a:t>9 TRIGGERS</a:t>
            </a:r>
          </a:p>
          <a:p>
            <a:pPr algn="ctr">
              <a:defRPr sz="950">
                <a:solidFill>
                  <a:srgbClr val="64748B"/>
                </a:solidFill>
                <a:latin typeface="Segoe UI"/>
              </a:defRPr>
            </a:pPr>
            <a:r>
              <a:t>Bảo vệ toàn vẹn</a:t>
            </a:r>
          </a:p>
        </p:txBody>
      </p:sp>
      <p:sp>
        <p:nvSpPr>
          <p:cNvPr id="9" name="Rounded Rectangle 8"/>
          <p:cNvSpPr/>
          <p:nvPr/>
        </p:nvSpPr>
        <p:spPr>
          <a:xfrm>
            <a:off x="7232904" y="1280160"/>
            <a:ext cx="2029968" cy="868680"/>
          </a:xfrm>
          <a:prstGeom prst="roundRect">
            <a:avLst/>
          </a:prstGeom>
          <a:solidFill>
            <a:srgbClr val="ECFEFF"/>
          </a:solidFill>
          <a:ln w="15875">
            <a:solidFill>
              <a:srgbClr val="A5F3FC"/>
            </a:solidFill>
          </a:ln>
        </p:spPr>
        <p:style>
          <a:lnRef idx="1">
            <a:schemeClr val="accent1"/>
          </a:lnRef>
          <a:fillRef idx="3">
            <a:schemeClr val="accent1"/>
          </a:fillRef>
          <a:effectRef idx="2">
            <a:schemeClr val="accent1"/>
          </a:effectRef>
          <a:fontRef idx="minor">
            <a:schemeClr val="lt1"/>
          </a:fontRef>
        </p:style>
        <p:txBody>
          <a:bodyPr rtlCol="0" anchor="ctr" lIns="73152" tIns="54864"/>
          <a:lstStyle/>
          <a:p>
            <a:pPr algn="ctr">
              <a:defRPr sz="1400" b="1">
                <a:solidFill>
                  <a:srgbClr val="0891B2"/>
                </a:solidFill>
                <a:latin typeface="Segoe UI"/>
              </a:defRPr>
            </a:pPr>
            <a:r>
              <a:t>5 FUNCTIONS</a:t>
            </a:r>
          </a:p>
          <a:p>
            <a:pPr algn="ctr">
              <a:defRPr sz="950">
                <a:solidFill>
                  <a:srgbClr val="64748B"/>
                </a:solidFill>
                <a:latin typeface="Segoe UI"/>
              </a:defRPr>
            </a:pPr>
            <a:r>
              <a:t>Tính toán &amp; Tổng hợp</a:t>
            </a:r>
          </a:p>
        </p:txBody>
      </p:sp>
      <p:sp>
        <p:nvSpPr>
          <p:cNvPr id="10" name="Rounded Rectangle 9"/>
          <p:cNvSpPr/>
          <p:nvPr/>
        </p:nvSpPr>
        <p:spPr>
          <a:xfrm>
            <a:off x="9400032" y="1280160"/>
            <a:ext cx="2029968" cy="868680"/>
          </a:xfrm>
          <a:prstGeom prst="roundRect">
            <a:avLst/>
          </a:prstGeom>
          <a:solidFill>
            <a:srgbClr val="EEF2FF"/>
          </a:solidFill>
          <a:ln w="15875">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lIns="73152" tIns="54864"/>
          <a:lstStyle/>
          <a:p>
            <a:pPr algn="ctr">
              <a:defRPr sz="1400" b="1">
                <a:solidFill>
                  <a:srgbClr val="4F46E5"/>
                </a:solidFill>
                <a:latin typeface="Segoe UI"/>
              </a:defRPr>
            </a:pPr>
            <a:r>
              <a:t>4 ROLES</a:t>
            </a:r>
          </a:p>
          <a:p>
            <a:pPr algn="ctr">
              <a:defRPr sz="950">
                <a:solidFill>
                  <a:srgbClr val="64748B"/>
                </a:solidFill>
                <a:latin typeface="Segoe UI"/>
              </a:defRPr>
            </a:pPr>
            <a:r>
              <a:t>Bảo mật đa tầng</a:t>
            </a:r>
          </a:p>
        </p:txBody>
      </p:sp>
      <p:sp>
        <p:nvSpPr>
          <p:cNvPr id="11" name="Rounded Rectangle 10"/>
          <p:cNvSpPr/>
          <p:nvPr/>
        </p:nvSpPr>
        <p:spPr>
          <a:xfrm>
            <a:off x="731520" y="2286000"/>
            <a:ext cx="6217920" cy="2148840"/>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spcAft>
                <a:spcPts val="400"/>
              </a:spcAft>
              <a:defRPr sz="1350" b="1">
                <a:solidFill>
                  <a:srgbClr val="4F46E5"/>
                </a:solidFill>
                <a:latin typeface="Segoe UI"/>
              </a:defRPr>
            </a:pPr>
            <a:r>
              <a:t>1. Các Kết quả Nổi bật Đạt được</a:t>
            </a:r>
          </a:p>
          <a:p>
            <a:pPr>
              <a:spcAft>
                <a:spcPts val="200"/>
              </a:spcAft>
              <a:defRPr sz="1100">
                <a:solidFill>
                  <a:srgbClr val="1E293B"/>
                </a:solidFill>
                <a:latin typeface="Segoe UI"/>
              </a:defRPr>
            </a:pPr>
            <a:r>
              <a:rPr b="1">
                <a:solidFill>
                  <a:srgbClr val="0F172A"/>
                </a:solidFill>
              </a:rPr>
              <a:t>• Hoàn thành 100% đề cương: </a:t>
            </a:r>
            <a:r>
              <a:t>CSDL 10 bảng đạt 3NF, 14 Stored Procedures, 5 Functions, 9 Triggers, 6 Views, 5 Indexes.</a:t>
            </a:r>
          </a:p>
          <a:p>
            <a:pPr>
              <a:spcAft>
                <a:spcPts val="200"/>
              </a:spcAft>
              <a:defRPr sz="1100">
                <a:solidFill>
                  <a:srgbClr val="1E293B"/>
                </a:solidFill>
                <a:latin typeface="Segoe UI"/>
              </a:defRPr>
            </a:pPr>
            <a:r>
              <a:rPr b="1">
                <a:solidFill>
                  <a:srgbClr val="0F172A"/>
                </a:solidFill>
              </a:rPr>
              <a:t>• Bảo vệ toàn vẹn chặt chẽ: </a:t>
            </a:r>
            <a:r>
              <a:t>Trigger chặn can thiệp kỳ chốt, Savepoint phân tầng, kiểm soát đồng thời không trùng lặp.</a:t>
            </a:r>
          </a:p>
          <a:p>
            <a:pPr>
              <a:spcAft>
                <a:spcPts val="200"/>
              </a:spcAft>
              <a:defRPr sz="1100">
                <a:solidFill>
                  <a:srgbClr val="1E293B"/>
                </a:solidFill>
                <a:latin typeface="Segoe UI"/>
              </a:defRPr>
            </a:pPr>
            <a:r>
              <a:rPr b="1">
                <a:solidFill>
                  <a:srgbClr val="0F172A"/>
                </a:solidFill>
              </a:rPr>
              <a:t>• Bảo mật 2 lớp chuyên sâu: </a:t>
            </a:r>
            <a:r>
              <a:t>SQL Login + PBKDF2 600.000 vòng, Row-Level Security bảo vệ quyền riêng tư nhân viên.</a:t>
            </a:r>
          </a:p>
          <a:p>
            <a:pPr>
              <a:spcAft>
                <a:spcPts val="200"/>
              </a:spcAft>
              <a:defRPr sz="1100">
                <a:solidFill>
                  <a:srgbClr val="1E293B"/>
                </a:solidFill>
                <a:latin typeface="Segoe UI"/>
              </a:defRPr>
            </a:pPr>
            <a:r>
              <a:rPr b="1">
                <a:solidFill>
                  <a:srgbClr val="0F172A"/>
                </a:solidFill>
              </a:rPr>
              <a:t>• Ứng dụng PeopleOS hoàn thiện: </a:t>
            </a:r>
            <a:r>
              <a:t>Giao diện Light Theme hiện đại, kết nối thực tế mượt mà, đầy đủ dữ liệu 20 nhân sự.</a:t>
            </a:r>
          </a:p>
        </p:txBody>
      </p:sp>
      <p:sp>
        <p:nvSpPr>
          <p:cNvPr id="12" name="Rounded Rectangle 11"/>
          <p:cNvSpPr/>
          <p:nvPr/>
        </p:nvSpPr>
        <p:spPr>
          <a:xfrm>
            <a:off x="731520" y="4553712"/>
            <a:ext cx="6217920" cy="1627632"/>
          </a:xfrm>
          <a:prstGeom prst="roundRect">
            <a:avLst/>
          </a:prstGeom>
          <a:solidFill>
            <a:srgbClr val="FFFFFF"/>
          </a:solidFill>
          <a:ln w="1587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tIns="128016"/>
          <a:lstStyle/>
          <a:p>
            <a:pPr algn="ctr">
              <a:spcAft>
                <a:spcPts val="400"/>
              </a:spcAft>
              <a:defRPr sz="1350" b="1">
                <a:solidFill>
                  <a:srgbClr val="4F46E5"/>
                </a:solidFill>
                <a:latin typeface="Segoe UI"/>
              </a:defRPr>
            </a:pPr>
            <a:r>
              <a:t>2. Hạn chế &amp; Định hướng Phát triển</a:t>
            </a:r>
          </a:p>
          <a:p>
            <a:pPr>
              <a:spcAft>
                <a:spcPts val="200"/>
              </a:spcAft>
              <a:defRPr sz="1100">
                <a:solidFill>
                  <a:srgbClr val="1E293B"/>
                </a:solidFill>
                <a:latin typeface="Segoe UI"/>
              </a:defRPr>
            </a:pPr>
            <a:r>
              <a:rPr b="1">
                <a:solidFill>
                  <a:srgbClr val="0F172A"/>
                </a:solidFill>
              </a:rPr>
              <a:t>• Mở rộng phê duyệt đa cấp: </a:t>
            </a:r>
            <a:r>
              <a:t>Tích hợp luồng xét duyệt đơn nghỉ phép, tạm ứng lương nhiều cấp quản lý.</a:t>
            </a:r>
          </a:p>
          <a:p>
            <a:pPr>
              <a:spcAft>
                <a:spcPts val="200"/>
              </a:spcAft>
              <a:defRPr sz="1100">
                <a:solidFill>
                  <a:srgbClr val="1E293B"/>
                </a:solidFill>
                <a:latin typeface="Segoe UI"/>
              </a:defRPr>
            </a:pPr>
            <a:r>
              <a:rPr b="1">
                <a:solidFill>
                  <a:srgbClr val="0F172A"/>
                </a:solidFill>
              </a:rPr>
              <a:t>• Tự động hóa chính sách thuế: </a:t>
            </a:r>
            <a:r>
              <a:t>Tự động tính thuế TNCN lũy tiến từng phần và trích nộp quỹ bảo hiểm theo luật.</a:t>
            </a:r>
          </a:p>
          <a:p>
            <a:pPr>
              <a:spcAft>
                <a:spcPts val="200"/>
              </a:spcAft>
              <a:defRPr sz="1100">
                <a:solidFill>
                  <a:srgbClr val="1E293B"/>
                </a:solidFill>
                <a:latin typeface="Segoe UI"/>
              </a:defRPr>
            </a:pPr>
            <a:r>
              <a:rPr b="1">
                <a:solidFill>
                  <a:srgbClr val="0F172A"/>
                </a:solidFill>
              </a:rPr>
              <a:t>• Đa nền tảng Web &amp; Mobile: </a:t>
            </a:r>
            <a:r>
              <a:t>Triển khai RESTful Web API để nhân viên tự chấm công qua GPS/khuôn mặt.</a:t>
            </a:r>
          </a:p>
        </p:txBody>
      </p:sp>
      <p:sp>
        <p:nvSpPr>
          <p:cNvPr id="13" name="Rounded Rectangle 12"/>
          <p:cNvSpPr/>
          <p:nvPr/>
        </p:nvSpPr>
        <p:spPr>
          <a:xfrm>
            <a:off x="7086600" y="2286000"/>
            <a:ext cx="4370832" cy="3895344"/>
          </a:xfrm>
          <a:prstGeom prst="roundRect">
            <a:avLst/>
          </a:prstGeom>
          <a:solidFill>
            <a:srgbClr val="EEF2FF"/>
          </a:solidFill>
          <a:ln w="1905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ctr">
              <a:spcAft>
                <a:spcPts val="1000"/>
              </a:spcAft>
              <a:defRPr sz="2200" b="1">
                <a:solidFill>
                  <a:srgbClr val="4F46E5"/>
                </a:solidFill>
                <a:latin typeface="Segoe UI"/>
              </a:defRPr>
            </a:pPr>
            <a:r>
              <a:t>XIN TRÂN TRỌNG CẢM ƠN!</a:t>
            </a:r>
          </a:p>
          <a:p>
            <a:pPr algn="ctr">
              <a:spcAft>
                <a:spcPts val="1400"/>
              </a:spcAft>
              <a:defRPr sz="1200">
                <a:solidFill>
                  <a:srgbClr val="1E293B"/>
                </a:solidFill>
                <a:latin typeface="Segoe UI"/>
              </a:defRPr>
            </a:pPr>
            <a:r>
              <a:t>Nhóm 06 xin bày tỏ lòng biết ơn sâu sắc đến TS. Phan Thị Thể đã tận tình hướng dẫn và định hướng chuyên môn trong suốt học phần.</a:t>
            </a:r>
          </a:p>
          <a:p>
            <a:pPr algn="ctr">
              <a:defRPr sz="1300" b="1">
                <a:solidFill>
                  <a:srgbClr val="0F172A"/>
                </a:solidFill>
                <a:latin typeface="Segoe UI"/>
              </a:defRPr>
            </a:pPr>
            <a:r>
              <a:t>KÍNH MỜI QUÝ THẦY CÔ ĐẶT CÂU HỎI &amp; CHUYỂN SANG PHẦN DEMO TRỰC TIẾP TRÊN HỆ THỐNG PEOPLEOS</a:t>
            </a:r>
          </a:p>
        </p:txBody>
      </p:sp>
      <p:sp>
        <p:nvSpPr>
          <p:cNvPr id="14" name="Rectangle 13"/>
          <p:cNvSpPr/>
          <p:nvPr/>
        </p:nvSpPr>
        <p:spPr>
          <a:xfrm>
            <a:off x="731520" y="6327648"/>
            <a:ext cx="1072865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10728655" cy="320040"/>
          </a:xfrm>
          <a:prstGeom prst="rect">
            <a:avLst/>
          </a:prstGeom>
          <a:noFill/>
        </p:spPr>
        <p:txBody>
          <a:bodyPr wrap="none" lIns="0" tIns="0">
            <a:spAutoFit/>
          </a:bodyPr>
          <a:lstStyle/>
          <a:p>
            <a:pPr>
              <a:defRPr sz="950">
                <a:solidFill>
                  <a:srgbClr val="64748B"/>
                </a:solidFill>
                <a:latin typeface="Segoe UI"/>
              </a:defRPr>
            </a:pPr>
            <a:r>
              <a:t>Nhóm 06 · Đồ án Hệ Quản trị Cơ sở Dữ liệu (DBMS330284)  |  Nhóm 06 — DBMS330284  |  Báo cáo cuối kỳ Hoàn tất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