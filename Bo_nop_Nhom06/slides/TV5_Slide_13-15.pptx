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7006297f974ecb" /><Relationship Type="http://schemas.openxmlformats.org/officeDocument/2006/relationships/extended-properties" Target="/docProps/app.xml" Id="Rfc02f343cb104077" /><Relationship Type="http://schemas.openxmlformats.org/officeDocument/2006/relationships/officeDocument" Target="/ppt/presentation.xml" Id="Rcb47efe0a97444c4" /></Relationships>
</file>

<file path=ppt/presentation.xml><?xml version="1.0" encoding="utf-8"?>
<p:presentation xmlns:p="http://schemas.openxmlformats.org/presentationml/2006/main">
  <p:sldMasterIdLst>
    <p:sldMasterId xmlns:r="http://schemas.openxmlformats.org/officeDocument/2006/relationships" id="2147483648" r:id="R2b7a2a58df6b452f"/>
  </p:sldMasterIdLst>
  <p:notesMasterIdLst>
    <p:notesMasterId xmlns:r="http://schemas.openxmlformats.org/officeDocument/2006/relationships" r:id="R5498b1480b044043"/>
  </p:notesMasterIdLst>
  <p:sldIdLst>
    <p:sldId xmlns:r="http://schemas.openxmlformats.org/officeDocument/2006/relationships" id="256" r:id="R4241aac9ecb24946"/>
    <p:sldId xmlns:r="http://schemas.openxmlformats.org/officeDocument/2006/relationships" id="257" r:id="R320d769a80c34935"/>
    <p:sldId xmlns:r="http://schemas.openxmlformats.org/officeDocument/2006/relationships" id="258" r:id="R3b5142a281a243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19dd19f3e946e4" /><Relationship Type="http://schemas.openxmlformats.org/officeDocument/2006/relationships/slideMaster" Target="/ppt/slideMasters/slideMaster1.xml" Id="R2b7a2a58df6b452f" /><Relationship Type="http://schemas.openxmlformats.org/officeDocument/2006/relationships/notesMaster" Target="/ppt/notesMasters/notesMaster1.xml" Id="R5498b1480b044043" /><Relationship Type="http://schemas.openxmlformats.org/officeDocument/2006/relationships/presProps" Target="/ppt/presProps.xml" Id="Rcf65920fcd3a4958" /><Relationship Type="http://schemas.openxmlformats.org/officeDocument/2006/relationships/tableStyles" Target="/ppt/tableStyles.xml" Id="Ra28acb1d7ced4931" /><Relationship Type="http://schemas.openxmlformats.org/officeDocument/2006/relationships/slide" Target="/ppt/slides/slide1.xml" Id="R4241aac9ecb24946" /><Relationship Type="http://schemas.openxmlformats.org/officeDocument/2006/relationships/slide" Target="/ppt/slides/slide2.xml" Id="R320d769a80c34935" /><Relationship Type="http://schemas.openxmlformats.org/officeDocument/2006/relationships/slide" Target="/ppt/slides/slide3.xml" Id="R3b5142a281a243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7ccf79627448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0f6ed117b047d9" /><Relationship Type="http://schemas.openxmlformats.org/officeDocument/2006/relationships/notesMaster" Target="/ppt/notesMasters/notesMaster1.xml" Id="R593ff9aaea6344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1be08a293a473e" /><Relationship Type="http://schemas.openxmlformats.org/officeDocument/2006/relationships/notesMaster" Target="/ppt/notesMasters/notesMaster1.xml" Id="R4c039fb5fa5946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011a63075b494a" /><Relationship Type="http://schemas.openxmlformats.org/officeDocument/2006/relationships/notesMaster" Target="/ppt/notesMasters/notesMaster1.xml" Id="R536304975f0f46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08:00–08:45. Em là Trần Đức Anh, phụ trách tích hợp và phân quyền. SQL Server xác thực login cá nhân, procedure lấy profile theo ORIGINAL_LOGIN() và role membership. Java kiểm PBKDF2 và trạng thái rồi mới tạo Session. Có 5 login demo cho 4 role. Quyền SQL bảo vệ cả khi client gọi DAO trực tiếp hoặc giả Session.</a:t>
            </a:r>
          </a:p>
          <a:p xmlns:a="http://schemas.openxmlformats.org/drawingml/2006/main">
            <a:r>
              <a:t>Ví dụ source: GRANT EXECUTE sp_ChotBangLuong cho role_PayrollOfficer, DENY EXECUTE cho role_HRManager. REVOKE SELECT vw_BangLuongChiTiet khỏi role_Employee, DENY bảng gốc, GRANT SELECT vw_PhieuLuongCaNhan. REVOKE bỏ quyền tại phạm vi đó, DENY cấm rõ ràng với user thường; db_owner/sysadmin có ngoại lệ. Ownership chain dbo cho SP/view không cấp quyền bảng trực tiếp cho caller. Payroll hiện có SELECT/INSERT header/chi tiết trực tiếp, không có UPDATE/DELETE trực tiếp. DB_Admin là db_owner, không đồng nghĩa server admin; gui_admin thiếu quyền server để reset/khóa login.</a:t>
            </a:r>
          </a:p>
          <a:p xmlns:a="http://schemas.openxmlformats.org/drawingml/2006/main">
            <a:r>
              <a:t>Nguồn source: database/05_Security_Payroll_TV5.sql (phần B, sp_LayTaiKhoanHienTai, vw_PhieuLuongCaNhan), src/main/java/com/service/AuthService.java, com/config/DatabaseConnection.java, com/session/Session.java. Ownership theo docs/TV5_Huong_Dan_Thuyet_Trinh.md và kế hoạch phân công. UITheme dùng nền #F5F7FB, navy #17243B, primary #4F46E5, Segoe UI.</a:t>
            </a:r>
          </a:p>
          <a:p xmlns:a="http://schemas.openxmlformats.org/drawingml/2006/main">
            <a:r>
              <a:t>Bằng chứng SQL quyền: build/sql-verification/20261008_101955_11b4e24c/test_security_roles_TV5.log, ngày 08/10/2026, PASS 22 permission checks, 3 actual denied operations, cleanup PASS. Log quyền object bằng EXECUTE AS USER không tự chứng minh lọc ORIGINAL_LOGIN. Log identity thật: build/identity-agent/identity.log, 41 checks PASS (file local ghi 07/10/2026), gồm A chỉ đọc phiếu A, view tổng bị từ chối, forged Session không vượt quyền SQL. GUI Employee A/B được thao tác 09/10 tại QA PRJ_Fix_QA_20261007_01, G17/G18. Đây là kết quả lịch sử theo case, không tuyên bố rehearsal hôm nay.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08:45–09:25. Sau khi TV4 tính lương, SP của TV5 giữ khóa header trong transaction, kiểm kỳ tồn tại/chưa chốt/có chi tiết rồi ghi DA_CHOT và NgayChot. TRY/CATCH rollback khi lỗi và trả lỗi về Java. Trigger kiểm cả inserted/deleted, chặn thêm/sửa/xóa/chuyển chi tiết liên quan kỳ chốt. Trigger nguồn phối hợp khóa header để ngăn sửa công, phụ cấp, khấu trừ sau chốt. Khi cần điều chỉnh, Payroll mở lại theo SP rồi tính/chốt lại. View tổng dành role có quyền, view cá nhân lọc ORIGINAL_LOGIN(), không dựa vào MaNV tùy ý client.</a:t>
            </a:r>
          </a:p>
          <a:p xmlns:a="http://schemas.openxmlformats.org/drawingml/2006/main">
            <a:r>
              <a:t>Ownership: sp_ChotBangLuong, fn_TinhThucNhan, trg_ChiTietLuong_KhongSuaKhiDaChot, vw_BangLuongChiTiet, index nhân sự thuộc TV5; SP tính lương sp_TinhBangLuongThang và SP mở lại sp_HuyChotBangLuong thuộc TV4. Vị trí module không chuyển ownership. Function TV5 tính tiền công + phụ cấp − khấu trừ, NULL là 0, có thể âm. Phạm vi khoản nhập sẵn, chưa tự tính thuế/BHXH.</a:t>
            </a:r>
          </a:p>
          <a:p xmlns:a="http://schemas.openxmlformats.org/drawingml/2006/main">
            <a:r>
              <a:t>Nguồn: database/05_Security_Payroll_TV5.sql (SP dòng 196 trở đi, trigger chi tiết và trigger nguồn), database/04_Module_TinhLuong_TV4.sql, docs/TV5_Huong_Dan_Thuyet_Trinh.md. Bằng chứng SQL hồi quy 08/10: build/sql-verification/20261008_101955_11b4e24c/Closed_Source_Concurrency.log có bốn race close vs attendance/allowance/deduction/payroll detail PASS, bị từ chối và nguồn không đổi, cleanup PASS. GUI 09/10: G14 chốt, G15 chặn phụ cấp B, G16 mở lại, docs/GUI_TEST_REPORT_20261009.md. Không suy rộng bài thử SQL thành mọi workload hoặc recovery từ backup.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09:25–10:00. Bốn race nguồn khi chốt đều từ chối và giữ nguồn. Hai session tính cùng kỳ dùng một header, không trùng chi tiết. GUI ngày 09/10 có 20 ca thao tác, ba lỗi ban đầu được sửa và ba ca kiểm tra lại. Bốn Java suites đạt 224 assertions. Demo tháng 10 dùng fixture A 730 nghìn và B 0, kết thúc mở lại để giữ lượt sau. Mời Minh Trí mở đầu demo.</a:t>
            </a:r>
          </a:p>
          <a:p xmlns:a="http://schemas.openxmlformats.org/drawingml/2006/main">
            <a:r>
              <a:t>Ngày/phạm vi chính xác: build/fix-verification/Concurrency_B.log ghi 2026-10-07 22:33:08.776 đến 22:33:29.407, ElapsedMs 20631. Đây là 20.631 ms (20,631 giây theo dấu thập phân Việt Nam), thời gian chờ có chủ đích khi session A giữ transaction khoảng 20 giây, không phải benchmark tốc độ bình thường. Concurrency_A.log: cùng MaBangLuong=8, 1 header, 1 chi tiết, NhomBiTrung=0, cleanup 0 fixture còn lại. Không gán ngày 08/10 cho timestamp trong log 07/10. Bốn race nguồn thuộc bộ runner 20261008_101955_11b4e24c ngày 08/10, từng case PASS + cleanup; SQL khóa dòng/khoảng phối hợp UNIQUE, khóa thực tế phụ thuộc plan và có thể escalation.</a:t>
            </a:r>
          </a:p>
          <a:p xmlns:a="http://schemas.openxmlformats.org/drawingml/2006/main">
            <a:r>
              <a:t>GUI 09/10: docs/GUI_TEST_REPORT_20261009.md, main sau PR37 09258f7 và kiểm lại sau sửa (PR38 0223f2f theo guide). QA PRJ_Fix_QA_20261007_01. G01 thông báo dài, G03 nhãn HR sai, G05 validation email chặn cập nhật; không phải 20/20 PASS từ đầu. Java 54 nguồn biên dịch PASS, GuiQa 55 + Security 104 + LightTheme 45 + LoginChip 20 = 224. Identity suite 50 checks tổng hợp là bộ khác, không cộng vào 224.</a:t>
            </a:r>
          </a:p>
          <a:p xmlns:a="http://schemas.openxmlformats.org/drawingml/2006/main">
            <a:r>
              <a:t>Demo 120 giây TV5: 0–25s Payroll chốt 10/2026; 25–65s HR thử thêm A ngày 10/10 chưa tồn tại để nhận lỗi khóa kỳ; 65–95s Employee A chỉ thấy 730.000đ; 95–120s B chỉ thấy 0đ, Payroll mở lại. Nếu đổi login chậm ưu tiên chốt + chặn nguồn + A, công khai B chưa làm và vẫn mở lại cuối lượt. Công thức A: 26.000.000 / 26 × 1 + 730.000 − 1.000.000 = 730.000đ. B 0 công/0 khoản = 0đ. Không thêm trùng hoặc xóa nguồn để ép số. TV1/2/3 đọc fixture HR, TV4 tính, TV5 chốt/quyền/mở lại.</a:t>
            </a:r>
          </a:p>
          <a:p xmlns:a="http://schemas.openxmlformats.org/drawingml/2006/main">
            <a:r>
              <a:t>Giới hạn: đây là case/môi trường đã đo 07–09/10, chưa rehearsal mới. GUI Admin, mất kết nối SQL thật, nhiều phiên GUI chưa được kiểm trong đợt 09/10. Mô phỏng exception timeout không là thử tắt SQL Server. Công thức chưa tự tính thuế/BHXH. Mở file gốc evidence khi vấn đáp, không chạy fixture concurrency trong demo chính.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931613e3e645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c3cba6cb614b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b4523ca4ef4d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0e48ac030c43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a515b71371446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97f724196f43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705AF3-6C64-471A-84DC-21F2F67906E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E2FA456-D8F8-4244-8801-B6CFF41B5D5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B22055E-99FA-4DE5-A2BA-FB7C9C00E52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65921F-5657-4594-BDC6-CB4907F8F5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8058A6-6EB1-46A1-85F9-57BB619647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389CFA9-0CD2-471B-A4B5-165242A976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DA4E96-CD93-4ADE-BBB1-9279010731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93C5B67-E33A-4168-A937-A7539080872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542D94-14F0-41CB-8140-C347A00C00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81550F-137A-45C5-BA28-A0A3F6D79E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e77e4b6ea74614" /><Relationship Type="http://schemas.openxmlformats.org/officeDocument/2006/relationships/slideLayout" Target="/ppt/slideLayouts/slideLayout1.xml" Id="R639fa83448244423" /><Relationship Type="http://schemas.openxmlformats.org/officeDocument/2006/relationships/slideLayout" Target="/ppt/slideLayouts/slideLayout2.xml" Id="Ra046a53393be4821" /><Relationship Type="http://schemas.openxmlformats.org/officeDocument/2006/relationships/slideLayout" Target="/ppt/slideLayouts/slideLayout3.xml" Id="R33f822c051e847e1" /><Relationship Type="http://schemas.openxmlformats.org/officeDocument/2006/relationships/slideLayout" Target="/ppt/slideLayouts/slideLayout4.xml" Id="Rc3eec564271a4d97" /><Relationship Type="http://schemas.openxmlformats.org/officeDocument/2006/relationships/slideLayout" Target="/ppt/slideLayouts/slideLayout5.xml" Id="R1477a11a1ca549ba" /><Relationship Type="http://schemas.openxmlformats.org/officeDocument/2006/relationships/slideLayout" Target="/ppt/slideLayouts/slideLayout6.xml" Id="R3070ab4e939d42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9fa83448244423"/>
    <p:sldLayoutId xmlns:r="http://schemas.openxmlformats.org/officeDocument/2006/relationships" id="2147483650" r:id="Ra046a53393be4821"/>
    <p:sldLayoutId xmlns:r="http://schemas.openxmlformats.org/officeDocument/2006/relationships" id="2147483651" r:id="R33f822c051e847e1"/>
    <p:sldLayoutId xmlns:r="http://schemas.openxmlformats.org/officeDocument/2006/relationships" id="2147483652" r:id="Rc3eec564271a4d97"/>
    <p:sldLayoutId xmlns:r="http://schemas.openxmlformats.org/officeDocument/2006/relationships" id="2147483653" r:id="R1477a11a1ca549ba"/>
    <p:sldLayoutId xmlns:r="http://schemas.openxmlformats.org/officeDocument/2006/relationships" id="2147483654" r:id="R3070ab4e939d42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63e75c241a4c8f" /><Relationship Type="http://schemas.openxmlformats.org/officeDocument/2006/relationships/notesSlide" Target="/ppt/notesSlides/notesSlide1.xml" Id="R43998e0b51634c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afcb93e1d704643" /><Relationship Type="http://schemas.openxmlformats.org/officeDocument/2006/relationships/notesSlide" Target="/ppt/notesSlides/notesSlide2.xml" Id="Rf403b9cfd15c44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ec6edec53b143e6" /><Relationship Type="http://schemas.openxmlformats.org/officeDocument/2006/relationships/notesSlide" Target="/ppt/notesSlides/notesSlide3.xml" Id="R49d13a14227c4f83" /></Relationships>
</file>

<file path=ppt/slides/slide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DC51CC5-B896-4C1D-96F9-5A13BA224EF8}"/>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7243B"/>
                </a:solidFill>
                <a:latin typeface="Segoe UI"/>
                <a:ea typeface="Segoe UI"/>
                <a:cs typeface="Segoe UI"/>
              </a:defRPr>
            </a:defPPr>
          </a:lstStyle>
          <a:p xmlns:a="http://schemas.openxmlformats.org/drawingml/2006/main">
            <a:pPr>
              <a:defRPr sz="3225" b="1">
                <a:solidFill>
                  <a:srgbClr val="17243B"/>
                </a:solidFill>
                <a:latin typeface="Segoe UI"/>
                <a:ea typeface="Segoe UI"/>
                <a:cs typeface="Segoe UI"/>
              </a:defRPr>
            </a:pPr>
            <a:r>
              <a:rPr sz="3225" b="1">
                <a:solidFill>
                  <a:srgbClr val="17243B"/>
                </a:solidFill>
                <a:latin typeface="Segoe UI"/>
                <a:ea typeface="Segoe UI"/>
                <a:cs typeface="Segoe UI"/>
              </a:rPr>
              <a:t>Danh tính và quyền ở SQL Server</a:t>
            </a:r>
          </a:p>
        </p:txBody>
      </p:sp>
      <p:sp>
        <p:nvSpPr>
          <p:cNvPr id="2" name="">
            <a:extLst xmlns:a="http://schemas.openxmlformats.org/drawingml/2006/main">
              <a:ext uri="{FF2B5EF4-FFF2-40B4-BE49-F238E27FC236}">
                <a16:creationId xmlns:a16="http://schemas.microsoft.com/office/drawing/2014/main" id="{688328EE-F22A-43BA-9D8D-20CFDAA433D4}"/>
              </a:ext>
            </a:extLst>
          </p:cNvPr>
          <p:cNvSpPr>
            <a:spLocks xmlns:a="http://schemas.openxmlformats.org/drawingml/2006/main" noGrp="1"/>
          </p:cNvSpPr>
          <p:nvPr/>
        </p:nvSpPr>
        <p:spPr>
          <a:xfrm xmlns:a="http://schemas.openxmlformats.org/drawingml/2006/main">
            <a:off x="609600" y="63627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TV5  Trần Đức Anh  24110155</a:t>
            </a:r>
          </a:p>
        </p:txBody>
      </p:sp>
      <p:sp>
        <p:nvSpPr>
          <p:cNvPr id="3" name="">
            <a:extLst xmlns:a="http://schemas.openxmlformats.org/drawingml/2006/main">
              <a:ext uri="{FF2B5EF4-FFF2-40B4-BE49-F238E27FC236}">
                <a16:creationId xmlns:a16="http://schemas.microsoft.com/office/drawing/2014/main" id="{26F5D0A8-ACC5-4395-A6A3-BF45BB7DBF66}"/>
              </a:ext>
            </a:extLst>
          </p:cNvPr>
          <p:cNvSpPr>
            <a:spLocks xmlns:a="http://schemas.openxmlformats.org/drawingml/2006/main" noGrp="1"/>
          </p:cNvSpPr>
          <p:nvPr/>
        </p:nvSpPr>
        <p:spPr>
          <a:xfrm xmlns:a="http://schemas.openxmlformats.org/drawingml/2006/main">
            <a:off x="10953750" y="6286500"/>
            <a:ext cx="628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13</a:t>
            </a:r>
          </a:p>
        </p:txBody>
      </p:sp>
      <p:sp>
        <p:nvSpPr>
          <p:cNvPr id="4" name="">
            <a:extLst xmlns:a="http://schemas.openxmlformats.org/drawingml/2006/main">
              <a:ext uri="{FF2B5EF4-FFF2-40B4-BE49-F238E27FC236}">
                <a16:creationId xmlns:a16="http://schemas.microsoft.com/office/drawing/2014/main" id="{7070439F-D203-44A5-A0BE-B9B39B26BDCC}"/>
              </a:ext>
            </a:extLst>
          </p:cNvPr>
          <p:cNvSpPr>
            <a:spLocks xmlns:a="http://schemas.openxmlformats.org/drawingml/2006/main" noGrp="1"/>
          </p:cNvSpPr>
          <p:nvPr/>
        </p:nvSpPr>
        <p:spPr>
          <a:xfrm xmlns:a="http://schemas.openxmlformats.org/drawingml/2006/main">
            <a:off x="609600" y="13716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SQL login cá nhân</a:t>
            </a:r>
          </a:p>
        </p:txBody>
      </p:sp>
      <p:sp>
        <p:nvSpPr>
          <p:cNvPr id="5" name="">
            <a:extLst xmlns:a="http://schemas.openxmlformats.org/drawingml/2006/main">
              <a:ext uri="{FF2B5EF4-FFF2-40B4-BE49-F238E27FC236}">
                <a16:creationId xmlns:a16="http://schemas.microsoft.com/office/drawing/2014/main" id="{BA539DCB-CC2B-48B6-8B80-D2BD8B31947F}"/>
              </a:ext>
            </a:extLst>
          </p:cNvPr>
          <p:cNvSpPr>
            <a:spLocks xmlns:a="http://schemas.openxmlformats.org/drawingml/2006/main" noGrp="1"/>
          </p:cNvSpPr>
          <p:nvPr/>
        </p:nvSpPr>
        <p:spPr>
          <a:xfrm xmlns:a="http://schemas.openxmlformats.org/drawingml/2006/main">
            <a:off x="609600" y="17907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7243B"/>
                </a:solidFill>
                <a:latin typeface="Segoe UI"/>
                <a:ea typeface="Segoe UI"/>
                <a:cs typeface="Segoe UI"/>
              </a:defRPr>
            </a:defPPr>
          </a:lstStyle>
          <a:p xmlns:a="http://schemas.openxmlformats.org/drawingml/2006/main">
            <a:pPr>
              <a:defRPr sz="1950" b="0">
                <a:solidFill>
                  <a:srgbClr val="17243B"/>
                </a:solidFill>
                <a:latin typeface="Segoe UI"/>
                <a:ea typeface="Segoe UI"/>
                <a:cs typeface="Segoe UI"/>
              </a:defRPr>
            </a:pPr>
            <a:r>
              <a:rPr sz="1950" b="0">
                <a:solidFill>
                  <a:srgbClr val="17243B"/>
                </a:solidFill>
                <a:latin typeface="Segoe UI"/>
                <a:ea typeface="Segoe UI"/>
                <a:cs typeface="Segoe UI"/>
              </a:rPr>
              <a:t>Login / user / database role</a:t>
            </a:r>
          </a:p>
        </p:txBody>
      </p:sp>
      <p:sp>
        <p:nvSpPr>
          <p:cNvPr id="6" name="">
            <a:extLst xmlns:a="http://schemas.openxmlformats.org/drawingml/2006/main">
              <a:ext uri="{FF2B5EF4-FFF2-40B4-BE49-F238E27FC236}">
                <a16:creationId xmlns:a16="http://schemas.microsoft.com/office/drawing/2014/main" id="{4DA67477-84A6-4A65-BDAA-410BF3D30C90}"/>
              </a:ext>
            </a:extLst>
          </p:cNvPr>
          <p:cNvSpPr>
            <a:spLocks xmlns:a="http://schemas.openxmlformats.org/drawingml/2006/main" noGrp="1"/>
          </p:cNvSpPr>
          <p:nvPr/>
        </p:nvSpPr>
        <p:spPr>
          <a:xfrm xmlns:a="http://schemas.openxmlformats.org/drawingml/2006/main">
            <a:off x="5905500" y="1371600"/>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Profile theo ORIGINAL_LOGIN()</a:t>
            </a:r>
          </a:p>
        </p:txBody>
      </p:sp>
      <p:sp>
        <p:nvSpPr>
          <p:cNvPr id="7" name="">
            <a:extLst xmlns:a="http://schemas.openxmlformats.org/drawingml/2006/main">
              <a:ext uri="{FF2B5EF4-FFF2-40B4-BE49-F238E27FC236}">
                <a16:creationId xmlns:a16="http://schemas.microsoft.com/office/drawing/2014/main" id="{A4C2CF54-A10B-4A3F-B1B5-AA85C8AB3F10}"/>
              </a:ext>
            </a:extLst>
          </p:cNvPr>
          <p:cNvSpPr>
            <a:spLocks xmlns:a="http://schemas.openxmlformats.org/drawingml/2006/main" noGrp="1"/>
          </p:cNvSpPr>
          <p:nvPr/>
        </p:nvSpPr>
        <p:spPr>
          <a:xfrm xmlns:a="http://schemas.openxmlformats.org/drawingml/2006/main">
            <a:off x="5905500" y="1790700"/>
            <a:ext cx="561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7243B"/>
                </a:solidFill>
                <a:latin typeface="Segoe UI"/>
                <a:ea typeface="Segoe UI"/>
                <a:cs typeface="Segoe UI"/>
              </a:defRPr>
            </a:defPPr>
          </a:lstStyle>
          <a:p xmlns:a="http://schemas.openxmlformats.org/drawingml/2006/main">
            <a:pPr>
              <a:defRPr sz="1800" b="0">
                <a:solidFill>
                  <a:srgbClr val="17243B"/>
                </a:solidFill>
                <a:latin typeface="Segoe UI"/>
                <a:ea typeface="Segoe UI"/>
                <a:cs typeface="Segoe UI"/>
              </a:defRPr>
            </a:pPr>
            <a:r>
              <a:rPr sz="1800" b="0">
                <a:solidFill>
                  <a:srgbClr val="17243B"/>
                </a:solidFill>
                <a:latin typeface="Segoe UI"/>
                <a:ea typeface="Segoe UI"/>
                <a:cs typeface="Segoe UI"/>
              </a:rPr>
              <a:t>Kiểm tra role, PBKDF2 và trạng thái trước Session</a:t>
            </a:r>
          </a:p>
        </p:txBody>
      </p:sp>
      <p:graphicFrame>
        <p:nvGraphicFramePr>
          <p:cNvPr id="8" name="">
            <a:extLst xmlns:a="http://schemas.openxmlformats.org/drawingml/2006/main">
              <a:ext uri="{FF2B5EF4-FFF2-40B4-BE49-F238E27FC236}">
                <a16:creationId xmlns:a16="http://schemas.microsoft.com/office/drawing/2014/main" id="{93D06092-EB15-4112-8E01-330B084BB6F6}"/>
              </a:ext>
            </a:extLst>
          </p:cNvPr>
          <p:cNvGraphicFramePr/>
          <p:nvPr/>
        </p:nvGraphicFramePr>
        <p:xfrm>
          <a:off xmlns:a="http://schemas.openxmlformats.org/drawingml/2006/main" x="609600" y="2686050"/>
          <a:ext xmlns:a="http://schemas.openxmlformats.org/drawingml/2006/main" cx="10972800" cy="2476500"/>
        </p:xfrm>
        <a:graphic xmlns:a="http://schemas.openxmlformats.org/drawingml/2006/main">
          <a:graphicData uri="http://schemas.openxmlformats.org/drawingml/2006/table">
            <a:tbl>
              <a:tblPr/>
              <a:tblGrid>
                <a:gridCol w="3333750"/>
                <a:gridCol w="3524250"/>
                <a:gridCol w="4114800"/>
              </a:tblGrid>
              <a:tr h="495300">
                <a:tc>
                  <a:txBody>
                    <a:bodyPr/>
                    <a:lstStyle/>
                    <a:p>
                      <a:r>
                        <a:rPr sz="1725" b="1">
                          <a:solidFill>
                            <a:srgbClr val="FFFFFF"/>
                          </a:solidFill>
                          <a:latin typeface="Segoe UI"/>
                          <a:ea typeface="Segoe UI"/>
                          <a:cs typeface="Segoe UI"/>
                        </a:rPr>
                        <a:t>Database role</a:t>
                      </a:r>
                    </a:p>
                  </a:txBody>
                  <a:tcPr marL="133350" marR="133350" marT="95250" marB="95250" anchor="ctr">
                    <a:solidFill>
                      <a:srgbClr val="17243B"/>
                    </a:solidFill>
                  </a:tcPr>
                </a:tc>
                <a:tc>
                  <a:txBody>
                    <a:bodyPr/>
                    <a:lstStyle/>
                    <a:p>
                      <a:r>
                        <a:rPr sz="1725" b="1">
                          <a:solidFill>
                            <a:srgbClr val="FFFFFF"/>
                          </a:solidFill>
                          <a:latin typeface="Segoe UI"/>
                          <a:ea typeface="Segoe UI"/>
                          <a:cs typeface="Segoe UI"/>
                        </a:rPr>
                        <a:t>Phạm vi chính</a:t>
                      </a:r>
                    </a:p>
                  </a:txBody>
                  <a:tcPr marL="133350" marR="133350" marT="95250" marB="95250" anchor="ctr">
                    <a:solidFill>
                      <a:srgbClr val="17243B"/>
                    </a:solidFill>
                  </a:tcPr>
                </a:tc>
                <a:tc>
                  <a:txBody>
                    <a:bodyPr/>
                    <a:lstStyle/>
                    <a:p>
                      <a:r>
                        <a:rPr sz="1725" b="1">
                          <a:solidFill>
                            <a:srgbClr val="FFFFFF"/>
                          </a:solidFill>
                          <a:latin typeface="Segoe UI"/>
                          <a:ea typeface="Segoe UI"/>
                          <a:cs typeface="Segoe UI"/>
                        </a:rPr>
                        <a:t>Giới hạn</a:t>
                      </a:r>
                    </a:p>
                  </a:txBody>
                  <a:tcPr marL="133350" marR="133350" marT="95250" marB="95250" anchor="ctr">
                    <a:solidFill>
                      <a:srgbClr val="17243B"/>
                    </a:solidFill>
                  </a:tcPr>
                </a:tc>
              </a:tr>
              <a:tr h="495300">
                <a:tc>
                  <a:txBody>
                    <a:bodyPr/>
                    <a:lstStyle/>
                    <a:p>
                      <a:r>
                        <a:rPr sz="1725">
                          <a:solidFill>
                            <a:srgbClr val="17243B"/>
                          </a:solidFill>
                          <a:latin typeface="Segoe UI"/>
                          <a:ea typeface="Segoe UI"/>
                          <a:cs typeface="Segoe UI"/>
                        </a:rPr>
                        <a:t>role_DBAdmin</a:t>
                      </a:r>
                    </a:p>
                  </a:txBody>
                  <a:tcPr marL="133350" marR="133350" marT="95250" marB="95250" anchor="ctr">
                    <a:solidFill>
                      <a:srgbClr val="FFFFFF"/>
                    </a:solidFill>
                  </a:tcPr>
                </a:tc>
                <a:tc>
                  <a:txBody>
                    <a:bodyPr/>
                    <a:lstStyle/>
                    <a:p>
                      <a:r>
                        <a:rPr sz="1725">
                          <a:solidFill>
                            <a:srgbClr val="17243B"/>
                          </a:solidFill>
                          <a:latin typeface="Segoe UI"/>
                          <a:ea typeface="Segoe UI"/>
                          <a:cs typeface="Segoe UI"/>
                        </a:rPr>
                        <a:t>Quản trị database</a:t>
                      </a:r>
                    </a:p>
                  </a:txBody>
                  <a:tcPr marL="133350" marR="133350" marT="95250" marB="95250" anchor="ctr">
                    <a:solidFill>
                      <a:srgbClr val="FFFFFF"/>
                    </a:solidFill>
                  </a:tcPr>
                </a:tc>
                <a:tc>
                  <a:txBody>
                    <a:bodyPr/>
                    <a:lstStyle/>
                    <a:p>
                      <a:r>
                        <a:rPr sz="1725">
                          <a:solidFill>
                            <a:srgbClr val="17243B"/>
                          </a:solidFill>
                          <a:latin typeface="Segoe UI"/>
                          <a:ea typeface="Segoe UI"/>
                          <a:cs typeface="Segoe UI"/>
                        </a:rPr>
                        <a:t>db_owner, quyền server riêng</a:t>
                      </a:r>
                    </a:p>
                  </a:txBody>
                  <a:tcPr marL="133350" marR="133350" marT="95250" marB="95250" anchor="ctr">
                    <a:solidFill>
                      <a:srgbClr val="FFFFFF"/>
                    </a:solidFill>
                  </a:tcPr>
                </a:tc>
              </a:tr>
              <a:tr h="495300">
                <a:tc>
                  <a:txBody>
                    <a:bodyPr/>
                    <a:lstStyle/>
                    <a:p>
                      <a:r>
                        <a:rPr sz="1725">
                          <a:solidFill>
                            <a:srgbClr val="17243B"/>
                          </a:solidFill>
                          <a:latin typeface="Segoe UI"/>
                          <a:ea typeface="Segoe UI"/>
                          <a:cs typeface="Segoe UI"/>
                        </a:rPr>
                        <a:t>role_HRManager</a:t>
                      </a:r>
                    </a:p>
                  </a:txBody>
                  <a:tcPr marL="133350" marR="133350" marT="95250" marB="95250" anchor="ctr">
                    <a:solidFill>
                      <a:srgbClr val="FFFFFF"/>
                    </a:solidFill>
                  </a:tcPr>
                </a:tc>
                <a:tc>
                  <a:txBody>
                    <a:bodyPr/>
                    <a:lstStyle/>
                    <a:p>
                      <a:r>
                        <a:rPr sz="1725">
                          <a:solidFill>
                            <a:srgbClr val="17243B"/>
                          </a:solidFill>
                          <a:latin typeface="Segoe UI"/>
                          <a:ea typeface="Segoe UI"/>
                          <a:cs typeface="Segoe UI"/>
                        </a:rPr>
                        <a:t>Hồ sơ, công, khoản</a:t>
                      </a:r>
                    </a:p>
                  </a:txBody>
                  <a:tcPr marL="133350" marR="133350" marT="95250" marB="95250" anchor="ctr">
                    <a:solidFill>
                      <a:srgbClr val="FFFFFF"/>
                    </a:solidFill>
                  </a:tcPr>
                </a:tc>
                <a:tc>
                  <a:txBody>
                    <a:bodyPr/>
                    <a:lstStyle/>
                    <a:p>
                      <a:r>
                        <a:rPr sz="1725">
                          <a:solidFill>
                            <a:srgbClr val="17243B"/>
                          </a:solidFill>
                          <a:latin typeface="Segoe UI"/>
                          <a:ea typeface="Segoe UI"/>
                          <a:cs typeface="Segoe UI"/>
                        </a:rPr>
                        <a:t>Không tính / chốt kỳ lương</a:t>
                      </a:r>
                    </a:p>
                  </a:txBody>
                  <a:tcPr marL="133350" marR="133350" marT="95250" marB="95250" anchor="ctr">
                    <a:solidFill>
                      <a:srgbClr val="FFFFFF"/>
                    </a:solidFill>
                  </a:tcPr>
                </a:tc>
              </a:tr>
              <a:tr h="495300">
                <a:tc>
                  <a:txBody>
                    <a:bodyPr/>
                    <a:lstStyle/>
                    <a:p>
                      <a:r>
                        <a:rPr sz="1725">
                          <a:solidFill>
                            <a:srgbClr val="17243B"/>
                          </a:solidFill>
                          <a:latin typeface="Segoe UI"/>
                          <a:ea typeface="Segoe UI"/>
                          <a:cs typeface="Segoe UI"/>
                        </a:rPr>
                        <a:t>role_PayrollOfficer</a:t>
                      </a:r>
                    </a:p>
                  </a:txBody>
                  <a:tcPr marL="133350" marR="133350" marT="95250" marB="95250" anchor="ctr">
                    <a:solidFill>
                      <a:srgbClr val="FFFFFF"/>
                    </a:solidFill>
                  </a:tcPr>
                </a:tc>
                <a:tc>
                  <a:txBody>
                    <a:bodyPr/>
                    <a:lstStyle/>
                    <a:p>
                      <a:r>
                        <a:rPr sz="1725">
                          <a:solidFill>
                            <a:srgbClr val="17243B"/>
                          </a:solidFill>
                          <a:latin typeface="Segoe UI"/>
                          <a:ea typeface="Segoe UI"/>
                          <a:cs typeface="Segoe UI"/>
                        </a:rPr>
                        <a:t>Tính, chốt, mở lại lương</a:t>
                      </a:r>
                    </a:p>
                  </a:txBody>
                  <a:tcPr marL="133350" marR="133350" marT="95250" marB="95250" anchor="ctr">
                    <a:solidFill>
                      <a:srgbClr val="FFFFFF"/>
                    </a:solidFill>
                  </a:tcPr>
                </a:tc>
                <a:tc>
                  <a:txBody>
                    <a:bodyPr/>
                    <a:lstStyle/>
                    <a:p>
                      <a:r>
                        <a:rPr sz="1725">
                          <a:solidFill>
                            <a:srgbClr val="17243B"/>
                          </a:solidFill>
                          <a:latin typeface="Segoe UI"/>
                          <a:ea typeface="Segoe UI"/>
                          <a:cs typeface="Segoe UI"/>
                        </a:rPr>
                        <a:t>Không sửa hồ sơ / công</a:t>
                      </a:r>
                    </a:p>
                  </a:txBody>
                  <a:tcPr marL="133350" marR="133350" marT="95250" marB="95250" anchor="ctr">
                    <a:solidFill>
                      <a:srgbClr val="FFFFFF"/>
                    </a:solidFill>
                  </a:tcPr>
                </a:tc>
              </a:tr>
              <a:tr h="495300">
                <a:tc>
                  <a:txBody>
                    <a:bodyPr/>
                    <a:lstStyle/>
                    <a:p>
                      <a:r>
                        <a:rPr sz="1725">
                          <a:solidFill>
                            <a:srgbClr val="17243B"/>
                          </a:solidFill>
                          <a:latin typeface="Segoe UI"/>
                          <a:ea typeface="Segoe UI"/>
                          <a:cs typeface="Segoe UI"/>
                        </a:rPr>
                        <a:t>role_Employee</a:t>
                      </a:r>
                    </a:p>
                  </a:txBody>
                  <a:tcPr marL="133350" marR="133350" marT="95250" marB="95250" anchor="ctr">
                    <a:solidFill>
                      <a:srgbClr val="FFFFFF"/>
                    </a:solidFill>
                  </a:tcPr>
                </a:tc>
                <a:tc>
                  <a:txBody>
                    <a:bodyPr/>
                    <a:lstStyle/>
                    <a:p>
                      <a:r>
                        <a:rPr sz="1725">
                          <a:solidFill>
                            <a:srgbClr val="17243B"/>
                          </a:solidFill>
                          <a:latin typeface="Segoe UI"/>
                          <a:ea typeface="Segoe UI"/>
                          <a:cs typeface="Segoe UI"/>
                        </a:rPr>
                        <a:t>Phiếu lương cá nhân</a:t>
                      </a:r>
                    </a:p>
                  </a:txBody>
                  <a:tcPr marL="133350" marR="133350" marT="95250" marB="95250" anchor="ctr">
                    <a:solidFill>
                      <a:srgbClr val="FFFFFF"/>
                    </a:solidFill>
                  </a:tcPr>
                </a:tc>
                <a:tc>
                  <a:txBody>
                    <a:bodyPr/>
                    <a:lstStyle/>
                    <a:p>
                      <a:r>
                        <a:rPr sz="1725">
                          <a:solidFill>
                            <a:srgbClr val="17243B"/>
                          </a:solidFill>
                          <a:latin typeface="Segoe UI"/>
                          <a:ea typeface="Segoe UI"/>
                          <a:cs typeface="Segoe UI"/>
                        </a:rPr>
                        <a:t>Lọc theo ORIGINAL_LOGIN()</a:t>
                      </a:r>
                    </a:p>
                  </a:txBody>
                  <a:tcPr marL="133350" marR="133350" marT="95250" marB="9525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00FDE498-1828-4ED4-9C72-A25C6A4F3F8C}"/>
              </a:ext>
            </a:extLst>
          </p:cNvPr>
          <p:cNvSpPr>
            <a:spLocks xmlns:a="http://schemas.openxmlformats.org/drawingml/2006/main" noGrp="1"/>
          </p:cNvSpPr>
          <p:nvPr/>
        </p:nvSpPr>
        <p:spPr>
          <a:xfrm xmlns:a="http://schemas.openxmlformats.org/drawingml/2006/main">
            <a:off x="609600" y="5476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F46E5"/>
                </a:solidFill>
                <a:latin typeface="Segoe UI"/>
                <a:ea typeface="Segoe UI"/>
                <a:cs typeface="Segoe UI"/>
              </a:defRPr>
            </a:defPPr>
          </a:lstStyle>
          <a:p xmlns:a="http://schemas.openxmlformats.org/drawingml/2006/main">
            <a:pPr>
              <a:defRPr sz="1800" b="0">
                <a:solidFill>
                  <a:srgbClr val="4F46E5"/>
                </a:solidFill>
                <a:latin typeface="Segoe UI"/>
                <a:ea typeface="Segoe UI"/>
                <a:cs typeface="Segoe UI"/>
              </a:defRPr>
            </a:pPr>
            <a:r>
              <a:rPr sz="1800" b="0">
                <a:solidFill>
                  <a:srgbClr val="4F46E5"/>
                </a:solidFill>
                <a:latin typeface="Segoe UI"/>
                <a:ea typeface="Segoe UI"/>
                <a:cs typeface="Segoe UI"/>
              </a:rPr>
              <a:t>GRANT EXECUTE cho SP nghiệp vụ, REVOKE view tổng khỏi Employee</a:t>
            </a:r>
          </a:p>
        </p:txBody>
      </p:sp>
      <p:sp>
        <p:nvSpPr>
          <p:cNvPr id="10" name="">
            <a:extLst xmlns:a="http://schemas.openxmlformats.org/drawingml/2006/main">
              <a:ext uri="{FF2B5EF4-FFF2-40B4-BE49-F238E27FC236}">
                <a16:creationId xmlns:a16="http://schemas.microsoft.com/office/drawing/2014/main" id="{2C525F3F-9E0F-4AD7-9DB6-1CCD3627ABB8}"/>
              </a:ext>
            </a:extLst>
          </p:cNvPr>
          <p:cNvSpPr>
            <a:spLocks xmlns:a="http://schemas.openxmlformats.org/drawingml/2006/main" noGrp="1"/>
          </p:cNvSpPr>
          <p:nvPr/>
        </p:nvSpPr>
        <p:spPr>
          <a:xfrm xmlns:a="http://schemas.openxmlformats.org/drawingml/2006/main">
            <a:off x="609600" y="58578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F46E5"/>
                </a:solidFill>
                <a:latin typeface="Segoe UI"/>
                <a:ea typeface="Segoe UI"/>
                <a:cs typeface="Segoe UI"/>
              </a:defRPr>
            </a:defPPr>
          </a:lstStyle>
          <a:p xmlns:a="http://schemas.openxmlformats.org/drawingml/2006/main">
            <a:pPr>
              <a:defRPr sz="1800" b="0">
                <a:solidFill>
                  <a:srgbClr val="4F46E5"/>
                </a:solidFill>
                <a:latin typeface="Segoe UI"/>
                <a:ea typeface="Segoe UI"/>
                <a:cs typeface="Segoe UI"/>
              </a:defRPr>
            </a:pPr>
            <a:r>
              <a:rPr sz="1800" b="0">
                <a:solidFill>
                  <a:srgbClr val="4F46E5"/>
                </a:solidFill>
                <a:latin typeface="Segoe UI"/>
                <a:ea typeface="Segoe UI"/>
                <a:cs typeface="Segoe UI"/>
              </a:rPr>
              <a:t>DENY bảng gốc, GRANT SELECT view phiếu cá nhân</a:t>
            </a:r>
          </a:p>
        </p:txBody>
      </p:sp>
    </p:spTree>
    <p:extLst>
      <p:ext uri="{BB962C8B-B14F-4D97-AF65-F5344CB8AC3E}">
        <p14:creationId xmlns:p14="http://schemas.microsoft.com/office/powerpoint/2010/main" val="1940934053"/>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CC39772-E527-4FD7-90A9-20A6CA7AE0E2}"/>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7243B"/>
                </a:solidFill>
                <a:latin typeface="Segoe UI"/>
                <a:ea typeface="Segoe UI"/>
                <a:cs typeface="Segoe UI"/>
              </a:defRPr>
            </a:defPPr>
          </a:lstStyle>
          <a:p xmlns:a="http://schemas.openxmlformats.org/drawingml/2006/main">
            <a:pPr>
              <a:defRPr sz="3225" b="1">
                <a:solidFill>
                  <a:srgbClr val="17243B"/>
                </a:solidFill>
                <a:latin typeface="Segoe UI"/>
                <a:ea typeface="Segoe UI"/>
                <a:cs typeface="Segoe UI"/>
              </a:defRPr>
            </a:pPr>
            <a:r>
              <a:rPr sz="3225" b="1">
                <a:solidFill>
                  <a:srgbClr val="17243B"/>
                </a:solidFill>
                <a:latin typeface="Segoe UI"/>
                <a:ea typeface="Segoe UI"/>
                <a:cs typeface="Segoe UI"/>
              </a:rPr>
              <a:t>Chốt lương và bảo vệ kết quả</a:t>
            </a:r>
          </a:p>
        </p:txBody>
      </p:sp>
      <p:sp>
        <p:nvSpPr>
          <p:cNvPr id="2" name="">
            <a:extLst xmlns:a="http://schemas.openxmlformats.org/drawingml/2006/main">
              <a:ext uri="{FF2B5EF4-FFF2-40B4-BE49-F238E27FC236}">
                <a16:creationId xmlns:a16="http://schemas.microsoft.com/office/drawing/2014/main" id="{E8D0442B-1AD4-4D04-B721-0669CFBD3B22}"/>
              </a:ext>
            </a:extLst>
          </p:cNvPr>
          <p:cNvSpPr>
            <a:spLocks xmlns:a="http://schemas.openxmlformats.org/drawingml/2006/main" noGrp="1"/>
          </p:cNvSpPr>
          <p:nvPr/>
        </p:nvSpPr>
        <p:spPr>
          <a:xfrm xmlns:a="http://schemas.openxmlformats.org/drawingml/2006/main">
            <a:off x="609600" y="63627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TV5  Trần Đức Anh  24110155</a:t>
            </a:r>
          </a:p>
        </p:txBody>
      </p:sp>
      <p:sp>
        <p:nvSpPr>
          <p:cNvPr id="3" name="">
            <a:extLst xmlns:a="http://schemas.openxmlformats.org/drawingml/2006/main">
              <a:ext uri="{FF2B5EF4-FFF2-40B4-BE49-F238E27FC236}">
                <a16:creationId xmlns:a16="http://schemas.microsoft.com/office/drawing/2014/main" id="{1EB3F9FF-9E69-4167-8C01-57627197A9E4}"/>
              </a:ext>
            </a:extLst>
          </p:cNvPr>
          <p:cNvSpPr>
            <a:spLocks xmlns:a="http://schemas.openxmlformats.org/drawingml/2006/main" noGrp="1"/>
          </p:cNvSpPr>
          <p:nvPr/>
        </p:nvSpPr>
        <p:spPr>
          <a:xfrm xmlns:a="http://schemas.openxmlformats.org/drawingml/2006/main">
            <a:off x="10953750" y="6286500"/>
            <a:ext cx="628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14</a:t>
            </a:r>
          </a:p>
        </p:txBody>
      </p:sp>
      <p:sp>
        <p:nvSpPr>
          <p:cNvPr id="4" name="">
            <a:extLst xmlns:a="http://schemas.openxmlformats.org/drawingml/2006/main">
              <a:ext uri="{FF2B5EF4-FFF2-40B4-BE49-F238E27FC236}">
                <a16:creationId xmlns:a16="http://schemas.microsoft.com/office/drawing/2014/main" id="{074FA591-C30F-44A0-8AA2-F15CAD6E6DD7}"/>
              </a:ext>
            </a:extLst>
          </p:cNvPr>
          <p:cNvSpPr>
            <a:spLocks xmlns:a="http://schemas.openxmlformats.org/drawingml/2006/main" noGrp="1"/>
          </p:cNvSpPr>
          <p:nvPr/>
        </p:nvSpPr>
        <p:spPr>
          <a:xfrm xmlns:a="http://schemas.openxmlformats.org/drawingml/2006/main">
            <a:off x="609600" y="14097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4F46E5"/>
                </a:solidFill>
                <a:latin typeface="Segoe UI"/>
                <a:ea typeface="Segoe UI"/>
                <a:cs typeface="Segoe UI"/>
              </a:defRPr>
            </a:defPPr>
          </a:lstStyle>
          <a:p xmlns:a="http://schemas.openxmlformats.org/drawingml/2006/main">
            <a:pPr>
              <a:defRPr sz="2700" b="1">
                <a:solidFill>
                  <a:srgbClr val="4F46E5"/>
                </a:solidFill>
                <a:latin typeface="Segoe UI"/>
                <a:ea typeface="Segoe UI"/>
                <a:cs typeface="Segoe UI"/>
              </a:defRPr>
            </a:pPr>
            <a:r>
              <a:rPr sz="2700" b="1">
                <a:solidFill>
                  <a:srgbClr val="4F46E5"/>
                </a:solidFill>
                <a:latin typeface="Segoe UI"/>
                <a:ea typeface="Segoe UI"/>
                <a:cs typeface="Segoe UI"/>
              </a:rPr>
              <a:t>Bản nháp</a:t>
            </a:r>
          </a:p>
        </p:txBody>
      </p:sp>
      <p:sp>
        <p:nvSpPr>
          <p:cNvPr id="5" name="">
            <a:extLst xmlns:a="http://schemas.openxmlformats.org/drawingml/2006/main">
              <a:ext uri="{FF2B5EF4-FFF2-40B4-BE49-F238E27FC236}">
                <a16:creationId xmlns:a16="http://schemas.microsoft.com/office/drawing/2014/main" id="{A1F8F74D-38C2-473F-B2CF-A01C72566E18}"/>
              </a:ext>
            </a:extLst>
          </p:cNvPr>
          <p:cNvSpPr>
            <a:spLocks xmlns:a="http://schemas.openxmlformats.org/drawingml/2006/main" noGrp="1"/>
          </p:cNvSpPr>
          <p:nvPr/>
        </p:nvSpPr>
        <p:spPr>
          <a:xfrm xmlns:a="http://schemas.openxmlformats.org/drawingml/2006/main">
            <a:off x="609600" y="19050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27A"/>
                </a:solidFill>
                <a:latin typeface="Segoe UI"/>
                <a:ea typeface="Segoe UI"/>
                <a:cs typeface="Segoe UI"/>
              </a:defRPr>
            </a:defPPr>
          </a:lstStyle>
          <a:p xmlns:a="http://schemas.openxmlformats.org/drawingml/2006/main">
            <a:pPr>
              <a:defRPr sz="1800" b="0">
                <a:solidFill>
                  <a:srgbClr val="52627A"/>
                </a:solidFill>
                <a:latin typeface="Segoe UI"/>
                <a:ea typeface="Segoe UI"/>
                <a:cs typeface="Segoe UI"/>
              </a:defRPr>
            </a:pPr>
            <a:r>
              <a:rPr sz="1800" b="0">
                <a:solidFill>
                  <a:srgbClr val="52627A"/>
                </a:solidFill>
                <a:latin typeface="Segoe UI"/>
                <a:ea typeface="Segoe UI"/>
                <a:cs typeface="Segoe UI"/>
              </a:rPr>
              <a:t>CHUA_CHOT</a:t>
            </a:r>
          </a:p>
        </p:txBody>
      </p:sp>
      <p:sp>
        <p:nvSpPr>
          <p:cNvPr id="6" name="">
            <a:extLst xmlns:a="http://schemas.openxmlformats.org/drawingml/2006/main">
              <a:ext uri="{FF2B5EF4-FFF2-40B4-BE49-F238E27FC236}">
                <a16:creationId xmlns:a16="http://schemas.microsoft.com/office/drawing/2014/main" id="{C175089E-927A-4AAF-982C-CA31AC75ADEF}"/>
              </a:ext>
            </a:extLst>
          </p:cNvPr>
          <p:cNvSpPr>
            <a:spLocks xmlns:a="http://schemas.openxmlformats.org/drawingml/2006/main" noGrp="1"/>
          </p:cNvSpPr>
          <p:nvPr/>
        </p:nvSpPr>
        <p:spPr>
          <a:xfrm xmlns:a="http://schemas.openxmlformats.org/drawingml/2006/main">
            <a:off x="3952875" y="14097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7243B"/>
                </a:solidFill>
                <a:latin typeface="Segoe UI"/>
                <a:ea typeface="Segoe UI"/>
                <a:cs typeface="Segoe UI"/>
              </a:defRPr>
            </a:defPPr>
          </a:lstStyle>
          <a:p xmlns:a="http://schemas.openxmlformats.org/drawingml/2006/main">
            <a:pPr>
              <a:defRPr sz="2700" b="1">
                <a:solidFill>
                  <a:srgbClr val="17243B"/>
                </a:solidFill>
                <a:latin typeface="Segoe UI"/>
                <a:ea typeface="Segoe UI"/>
                <a:cs typeface="Segoe UI"/>
              </a:defRPr>
            </a:pPr>
            <a:r>
              <a:rPr sz="2700" b="1">
                <a:solidFill>
                  <a:srgbClr val="17243B"/>
                </a:solidFill>
                <a:latin typeface="Segoe UI"/>
                <a:ea typeface="Segoe UI"/>
                <a:cs typeface="Segoe UI"/>
              </a:rPr>
              <a:t>sp_ChotBangLuong</a:t>
            </a:r>
          </a:p>
        </p:txBody>
      </p:sp>
      <p:sp>
        <p:nvSpPr>
          <p:cNvPr id="7" name="">
            <a:extLst xmlns:a="http://schemas.openxmlformats.org/drawingml/2006/main">
              <a:ext uri="{FF2B5EF4-FFF2-40B4-BE49-F238E27FC236}">
                <a16:creationId xmlns:a16="http://schemas.microsoft.com/office/drawing/2014/main" id="{59876D0B-3B63-49EE-A7F0-884BC243DCB0}"/>
              </a:ext>
            </a:extLst>
          </p:cNvPr>
          <p:cNvSpPr>
            <a:spLocks xmlns:a="http://schemas.openxmlformats.org/drawingml/2006/main" noGrp="1"/>
          </p:cNvSpPr>
          <p:nvPr/>
        </p:nvSpPr>
        <p:spPr>
          <a:xfrm xmlns:a="http://schemas.openxmlformats.org/drawingml/2006/main">
            <a:off x="3952875" y="19050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27A"/>
                </a:solidFill>
                <a:latin typeface="Segoe UI"/>
                <a:ea typeface="Segoe UI"/>
                <a:cs typeface="Segoe UI"/>
              </a:defRPr>
            </a:defPPr>
          </a:lstStyle>
          <a:p xmlns:a="http://schemas.openxmlformats.org/drawingml/2006/main">
            <a:pPr>
              <a:defRPr sz="1800" b="0">
                <a:solidFill>
                  <a:srgbClr val="52627A"/>
                </a:solidFill>
                <a:latin typeface="Segoe UI"/>
                <a:ea typeface="Segoe UI"/>
                <a:cs typeface="Segoe UI"/>
              </a:defRPr>
            </a:pPr>
            <a:r>
              <a:rPr sz="1800" b="0">
                <a:solidFill>
                  <a:srgbClr val="52627A"/>
                </a:solidFill>
                <a:latin typeface="Segoe UI"/>
                <a:ea typeface="Segoe UI"/>
                <a:cs typeface="Segoe UI"/>
              </a:rPr>
              <a:t>Transaction + TRY…CATCH</a:t>
            </a:r>
          </a:p>
        </p:txBody>
      </p:sp>
      <p:sp>
        <p:nvSpPr>
          <p:cNvPr id="8" name="">
            <a:extLst xmlns:a="http://schemas.openxmlformats.org/drawingml/2006/main">
              <a:ext uri="{FF2B5EF4-FFF2-40B4-BE49-F238E27FC236}">
                <a16:creationId xmlns:a16="http://schemas.microsoft.com/office/drawing/2014/main" id="{72C53C96-F59D-4602-8BAB-222C3FC34574}"/>
              </a:ext>
            </a:extLst>
          </p:cNvPr>
          <p:cNvSpPr>
            <a:spLocks xmlns:a="http://schemas.openxmlformats.org/drawingml/2006/main" noGrp="1"/>
          </p:cNvSpPr>
          <p:nvPr/>
        </p:nvSpPr>
        <p:spPr>
          <a:xfrm xmlns:a="http://schemas.openxmlformats.org/drawingml/2006/main">
            <a:off x="9001125" y="14097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4F46E5"/>
                </a:solidFill>
                <a:latin typeface="Segoe UI"/>
                <a:ea typeface="Segoe UI"/>
                <a:cs typeface="Segoe UI"/>
              </a:defRPr>
            </a:defPPr>
          </a:lstStyle>
          <a:p xmlns:a="http://schemas.openxmlformats.org/drawingml/2006/main">
            <a:pPr>
              <a:defRPr sz="2700" b="1">
                <a:solidFill>
                  <a:srgbClr val="4F46E5"/>
                </a:solidFill>
                <a:latin typeface="Segoe UI"/>
                <a:ea typeface="Segoe UI"/>
                <a:cs typeface="Segoe UI"/>
              </a:defRPr>
            </a:pPr>
            <a:r>
              <a:rPr sz="2700" b="1">
                <a:solidFill>
                  <a:srgbClr val="4F46E5"/>
                </a:solidFill>
                <a:latin typeface="Segoe UI"/>
                <a:ea typeface="Segoe UI"/>
                <a:cs typeface="Segoe UI"/>
              </a:rPr>
              <a:t>Đã chốt</a:t>
            </a:r>
          </a:p>
        </p:txBody>
      </p:sp>
      <p:sp>
        <p:nvSpPr>
          <p:cNvPr id="9" name="">
            <a:extLst xmlns:a="http://schemas.openxmlformats.org/drawingml/2006/main">
              <a:ext uri="{FF2B5EF4-FFF2-40B4-BE49-F238E27FC236}">
                <a16:creationId xmlns:a16="http://schemas.microsoft.com/office/drawing/2014/main" id="{21DFAC69-0B20-4CE5-A5CC-FF15706482B2}"/>
              </a:ext>
            </a:extLst>
          </p:cNvPr>
          <p:cNvSpPr>
            <a:spLocks xmlns:a="http://schemas.openxmlformats.org/drawingml/2006/main" noGrp="1"/>
          </p:cNvSpPr>
          <p:nvPr/>
        </p:nvSpPr>
        <p:spPr>
          <a:xfrm xmlns:a="http://schemas.openxmlformats.org/drawingml/2006/main">
            <a:off x="9001125" y="19050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27A"/>
                </a:solidFill>
                <a:latin typeface="Segoe UI"/>
                <a:ea typeface="Segoe UI"/>
                <a:cs typeface="Segoe UI"/>
              </a:defRPr>
            </a:defPPr>
          </a:lstStyle>
          <a:p xmlns:a="http://schemas.openxmlformats.org/drawingml/2006/main">
            <a:pPr>
              <a:defRPr sz="1800" b="0">
                <a:solidFill>
                  <a:srgbClr val="52627A"/>
                </a:solidFill>
                <a:latin typeface="Segoe UI"/>
                <a:ea typeface="Segoe UI"/>
                <a:cs typeface="Segoe UI"/>
              </a:defRPr>
            </a:pPr>
            <a:r>
              <a:rPr sz="1800" b="0">
                <a:solidFill>
                  <a:srgbClr val="52627A"/>
                </a:solidFill>
                <a:latin typeface="Segoe UI"/>
                <a:ea typeface="Segoe UI"/>
                <a:cs typeface="Segoe UI"/>
              </a:rPr>
              <a:t>DA_CHOT + NgayChot</a:t>
            </a:r>
          </a:p>
        </p:txBody>
      </p:sp>
      <p:sp>
        <p:nvSpPr>
          <p:cNvPr id="10" name="">
            <a:extLst xmlns:a="http://schemas.openxmlformats.org/drawingml/2006/main">
              <a:ext uri="{FF2B5EF4-FFF2-40B4-BE49-F238E27FC236}">
                <a16:creationId xmlns:a16="http://schemas.microsoft.com/office/drawing/2014/main" id="{E288ADFA-80CD-4BEE-A70A-C6EFB0AAEF38}"/>
              </a:ext>
            </a:extLst>
          </p:cNvPr>
          <p:cNvSpPr>
            <a:spLocks xmlns:a="http://schemas.openxmlformats.org/drawingml/2006/main" noGrp="1"/>
          </p:cNvSpPr>
          <p:nvPr/>
        </p:nvSpPr>
        <p:spPr>
          <a:xfrm xmlns:a="http://schemas.openxmlformats.org/drawingml/2006/main">
            <a:off x="609600" y="2762250"/>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4F46E5"/>
                </a:solidFill>
                <a:latin typeface="Segoe UI"/>
                <a:ea typeface="Segoe UI"/>
                <a:cs typeface="Segoe UI"/>
              </a:defRPr>
            </a:defPPr>
          </a:lstStyle>
          <a:p xmlns:a="http://schemas.openxmlformats.org/drawingml/2006/main">
            <a:pPr>
              <a:defRPr sz="2325" b="1">
                <a:solidFill>
                  <a:srgbClr val="4F46E5"/>
                </a:solidFill>
                <a:latin typeface="Segoe UI"/>
                <a:ea typeface="Segoe UI"/>
                <a:cs typeface="Segoe UI"/>
              </a:defRPr>
            </a:pPr>
            <a:r>
              <a:rPr sz="2325" b="1">
                <a:solidFill>
                  <a:srgbClr val="4F46E5"/>
                </a:solidFill>
                <a:latin typeface="Segoe UI"/>
                <a:ea typeface="Segoe UI"/>
                <a:cs typeface="Segoe UI"/>
              </a:rPr>
              <a:t>Khóa header</a:t>
            </a:r>
          </a:p>
        </p:txBody>
      </p:sp>
      <p:sp>
        <p:nvSpPr>
          <p:cNvPr id="11" name="">
            <a:extLst xmlns:a="http://schemas.openxmlformats.org/drawingml/2006/main">
              <a:ext uri="{FF2B5EF4-FFF2-40B4-BE49-F238E27FC236}">
                <a16:creationId xmlns:a16="http://schemas.microsoft.com/office/drawing/2014/main" id="{A1B5EBD0-29AC-418E-B90B-A1A9EDE63ED5}"/>
              </a:ext>
            </a:extLst>
          </p:cNvPr>
          <p:cNvSpPr>
            <a:spLocks xmlns:a="http://schemas.openxmlformats.org/drawingml/2006/main" noGrp="1"/>
          </p:cNvSpPr>
          <p:nvPr/>
        </p:nvSpPr>
        <p:spPr>
          <a:xfrm xmlns:a="http://schemas.openxmlformats.org/drawingml/2006/main">
            <a:off x="609600" y="3314700"/>
            <a:ext cx="5095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7243B"/>
                </a:solidFill>
                <a:latin typeface="Segoe UI"/>
                <a:ea typeface="Segoe UI"/>
                <a:cs typeface="Segoe UI"/>
              </a:defRPr>
            </a:defPPr>
          </a:lstStyle>
          <a:p xmlns:a="http://schemas.openxmlformats.org/drawingml/2006/main">
            <a:pPr>
              <a:defRPr sz="1950" b="0">
                <a:solidFill>
                  <a:srgbClr val="17243B"/>
                </a:solidFill>
                <a:latin typeface="Segoe UI"/>
                <a:ea typeface="Segoe UI"/>
                <a:cs typeface="Segoe UI"/>
              </a:defRPr>
            </a:pPr>
            <a:r>
              <a:rPr sz="1950" b="0">
                <a:solidFill>
                  <a:srgbClr val="17243B"/>
                </a:solidFill>
                <a:latin typeface="Segoe UI"/>
                <a:ea typeface="Segoe UI"/>
                <a:cs typeface="Segoe UI"/>
              </a:rPr>
              <a:t>UPDLOCK, HOLDLOCK</a:t>
            </a:r>
          </a:p>
          <a:p xmlns:a="http://schemas.openxmlformats.org/drawingml/2006/main">
            <a:pPr>
              <a:defRPr sz="1950" b="0">
                <a:solidFill>
                  <a:srgbClr val="17243B"/>
                </a:solidFill>
                <a:latin typeface="Segoe UI"/>
                <a:ea typeface="Segoe UI"/>
                <a:cs typeface="Segoe UI"/>
              </a:defRPr>
            </a:pPr>
            <a:r>
              <a:rPr sz="1950" b="0">
                <a:solidFill>
                  <a:srgbClr val="17243B"/>
                </a:solidFill>
                <a:latin typeface="Segoe UI"/>
                <a:ea typeface="Segoe UI"/>
                <a:cs typeface="Segoe UI"/>
              </a:rPr>
              <a:t>Tồn tại, chưa chốt, có chi tiết</a:t>
            </a:r>
          </a:p>
          <a:p xmlns:a="http://schemas.openxmlformats.org/drawingml/2006/main">
            <a:pPr>
              <a:defRPr sz="1950" b="0">
                <a:solidFill>
                  <a:srgbClr val="17243B"/>
                </a:solidFill>
                <a:latin typeface="Segoe UI"/>
                <a:ea typeface="Segoe UI"/>
                <a:cs typeface="Segoe UI"/>
              </a:defRPr>
            </a:pPr>
            <a:r>
              <a:rPr sz="1950" b="0">
                <a:solidFill>
                  <a:srgbClr val="17243B"/>
                </a:solidFill>
                <a:latin typeface="Segoe UI"/>
                <a:ea typeface="Segoe UI"/>
                <a:cs typeface="Segoe UI"/>
              </a:rPr>
              <a:t>Lỗi: rollback transaction</a:t>
            </a:r>
          </a:p>
        </p:txBody>
      </p:sp>
      <p:sp>
        <p:nvSpPr>
          <p:cNvPr id="12" name="">
            <a:extLst xmlns:a="http://schemas.openxmlformats.org/drawingml/2006/main">
              <a:ext uri="{FF2B5EF4-FFF2-40B4-BE49-F238E27FC236}">
                <a16:creationId xmlns:a16="http://schemas.microsoft.com/office/drawing/2014/main" id="{72D7AD3C-D228-4AC9-9992-EAEBA8AC9A16}"/>
              </a:ext>
            </a:extLst>
          </p:cNvPr>
          <p:cNvSpPr>
            <a:spLocks xmlns:a="http://schemas.openxmlformats.org/drawingml/2006/main" noGrp="1"/>
          </p:cNvSpPr>
          <p:nvPr/>
        </p:nvSpPr>
        <p:spPr>
          <a:xfrm xmlns:a="http://schemas.openxmlformats.org/drawingml/2006/main">
            <a:off x="6496050" y="276225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4F46E5"/>
                </a:solidFill>
                <a:latin typeface="Segoe UI"/>
                <a:ea typeface="Segoe UI"/>
                <a:cs typeface="Segoe UI"/>
              </a:defRPr>
            </a:defPPr>
          </a:lstStyle>
          <a:p xmlns:a="http://schemas.openxmlformats.org/drawingml/2006/main">
            <a:pPr>
              <a:defRPr sz="2325" b="1">
                <a:solidFill>
                  <a:srgbClr val="4F46E5"/>
                </a:solidFill>
                <a:latin typeface="Segoe UI"/>
                <a:ea typeface="Segoe UI"/>
                <a:cs typeface="Segoe UI"/>
              </a:defRPr>
            </a:pPr>
            <a:r>
              <a:rPr sz="2325" b="1">
                <a:solidFill>
                  <a:srgbClr val="4F46E5"/>
                </a:solidFill>
                <a:latin typeface="Segoe UI"/>
                <a:ea typeface="Segoe UI"/>
                <a:cs typeface="Segoe UI"/>
              </a:rPr>
              <a:t>Trigger bảo vệ</a:t>
            </a:r>
          </a:p>
        </p:txBody>
      </p:sp>
      <p:sp>
        <p:nvSpPr>
          <p:cNvPr id="13" name="">
            <a:extLst xmlns:a="http://schemas.openxmlformats.org/drawingml/2006/main">
              <a:ext uri="{FF2B5EF4-FFF2-40B4-BE49-F238E27FC236}">
                <a16:creationId xmlns:a16="http://schemas.microsoft.com/office/drawing/2014/main" id="{B725EC31-CB13-41EE-B8BC-6528FC62979A}"/>
              </a:ext>
            </a:extLst>
          </p:cNvPr>
          <p:cNvSpPr>
            <a:spLocks xmlns:a="http://schemas.openxmlformats.org/drawingml/2006/main" noGrp="1"/>
          </p:cNvSpPr>
          <p:nvPr/>
        </p:nvSpPr>
        <p:spPr>
          <a:xfrm xmlns:a="http://schemas.openxmlformats.org/drawingml/2006/main">
            <a:off x="6496050" y="3314700"/>
            <a:ext cx="50863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7243B"/>
                </a:solidFill>
                <a:latin typeface="Segoe UI"/>
                <a:ea typeface="Segoe UI"/>
                <a:cs typeface="Segoe UI"/>
              </a:defRPr>
            </a:defPPr>
          </a:lstStyle>
          <a:p xmlns:a="http://schemas.openxmlformats.org/drawingml/2006/main">
            <a:pPr>
              <a:defRPr sz="1950" b="0">
                <a:solidFill>
                  <a:srgbClr val="17243B"/>
                </a:solidFill>
                <a:latin typeface="Segoe UI"/>
                <a:ea typeface="Segoe UI"/>
                <a:cs typeface="Segoe UI"/>
              </a:defRPr>
            </a:pPr>
            <a:r>
              <a:rPr sz="1950" b="0">
                <a:solidFill>
                  <a:srgbClr val="17243B"/>
                </a:solidFill>
                <a:latin typeface="Segoe UI"/>
                <a:ea typeface="Segoe UI"/>
                <a:cs typeface="Segoe UI"/>
              </a:rPr>
              <a:t>INSERT / UPDATE / DELETE / chuyển kỳ</a:t>
            </a:r>
          </a:p>
          <a:p xmlns:a="http://schemas.openxmlformats.org/drawingml/2006/main">
            <a:pPr>
              <a:defRPr sz="1950" b="0">
                <a:solidFill>
                  <a:srgbClr val="17243B"/>
                </a:solidFill>
                <a:latin typeface="Segoe UI"/>
                <a:ea typeface="Segoe UI"/>
                <a:cs typeface="Segoe UI"/>
              </a:defRPr>
            </a:pPr>
            <a:r>
              <a:rPr sz="1950" b="0">
                <a:solidFill>
                  <a:srgbClr val="17243B"/>
                </a:solidFill>
                <a:latin typeface="Segoe UI"/>
                <a:ea typeface="Segoe UI"/>
                <a:cs typeface="Segoe UI"/>
              </a:rPr>
              <a:t>Kiểm cả inserted và deleted</a:t>
            </a:r>
          </a:p>
          <a:p xmlns:a="http://schemas.openxmlformats.org/drawingml/2006/main">
            <a:pPr>
              <a:defRPr sz="1950" b="0">
                <a:solidFill>
                  <a:srgbClr val="17243B"/>
                </a:solidFill>
                <a:latin typeface="Segoe UI"/>
                <a:ea typeface="Segoe UI"/>
                <a:cs typeface="Segoe UI"/>
              </a:defRPr>
            </a:pPr>
            <a:r>
              <a:rPr sz="1950" b="0">
                <a:solidFill>
                  <a:srgbClr val="17243B"/>
                </a:solidFill>
                <a:latin typeface="Segoe UI"/>
                <a:ea typeface="Segoe UI"/>
                <a:cs typeface="Segoe UI"/>
              </a:rPr>
              <a:t>Khóa công, phụ cấp, khấu trừ</a:t>
            </a:r>
          </a:p>
        </p:txBody>
      </p:sp>
      <p:sp>
        <p:nvSpPr>
          <p:cNvPr id="14" name="">
            <a:extLst xmlns:a="http://schemas.openxmlformats.org/drawingml/2006/main">
              <a:ext uri="{FF2B5EF4-FFF2-40B4-BE49-F238E27FC236}">
                <a16:creationId xmlns:a16="http://schemas.microsoft.com/office/drawing/2014/main" id="{B09847A4-2952-4060-BDDD-F41E8B09E8E8}"/>
              </a:ext>
            </a:extLst>
          </p:cNvPr>
          <p:cNvSpPr>
            <a:spLocks xmlns:a="http://schemas.openxmlformats.org/drawingml/2006/main" noGrp="1"/>
          </p:cNvSpPr>
          <p:nvPr/>
        </p:nvSpPr>
        <p:spPr>
          <a:xfrm xmlns:a="http://schemas.openxmlformats.org/drawingml/2006/main">
            <a:off x="609600" y="52006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Báo cáo tổng: vw_BangLuongChiTiet</a:t>
            </a:r>
          </a:p>
        </p:txBody>
      </p:sp>
      <p:sp>
        <p:nvSpPr>
          <p:cNvPr id="15" name="">
            <a:extLst xmlns:a="http://schemas.openxmlformats.org/drawingml/2006/main">
              <a:ext uri="{FF2B5EF4-FFF2-40B4-BE49-F238E27FC236}">
                <a16:creationId xmlns:a16="http://schemas.microsoft.com/office/drawing/2014/main" id="{332D1656-34F7-4F35-BCE0-435EF052CC50}"/>
              </a:ext>
            </a:extLst>
          </p:cNvPr>
          <p:cNvSpPr>
            <a:spLocks xmlns:a="http://schemas.openxmlformats.org/drawingml/2006/main" noGrp="1"/>
          </p:cNvSpPr>
          <p:nvPr/>
        </p:nvSpPr>
        <p:spPr>
          <a:xfrm xmlns:a="http://schemas.openxmlformats.org/drawingml/2006/main">
            <a:off x="609600" y="56292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F46E5"/>
                </a:solidFill>
                <a:latin typeface="Segoe UI"/>
                <a:ea typeface="Segoe UI"/>
                <a:cs typeface="Segoe UI"/>
              </a:defRPr>
            </a:defPPr>
          </a:lstStyle>
          <a:p xmlns:a="http://schemas.openxmlformats.org/drawingml/2006/main">
            <a:pPr>
              <a:defRPr sz="2025" b="0">
                <a:solidFill>
                  <a:srgbClr val="4F46E5"/>
                </a:solidFill>
                <a:latin typeface="Segoe UI"/>
                <a:ea typeface="Segoe UI"/>
                <a:cs typeface="Segoe UI"/>
              </a:defRPr>
            </a:pPr>
            <a:r>
              <a:rPr sz="2025" b="0">
                <a:solidFill>
                  <a:srgbClr val="4F46E5"/>
                </a:solidFill>
                <a:latin typeface="Segoe UI"/>
                <a:ea typeface="Segoe UI"/>
                <a:cs typeface="Segoe UI"/>
              </a:rPr>
              <a:t>Employee: vw_PhieuLuongCaNhan theo login thực</a:t>
            </a:r>
          </a:p>
        </p:txBody>
      </p:sp>
    </p:spTree>
    <p:extLst>
      <p:ext uri="{BB962C8B-B14F-4D97-AF65-F5344CB8AC3E}">
        <p14:creationId xmlns:p14="http://schemas.microsoft.com/office/powerpoint/2010/main" val="438863526"/>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7B9E239-625E-4815-B92E-C4F93670DA61}"/>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7243B"/>
                </a:solidFill>
                <a:latin typeface="Segoe UI"/>
                <a:ea typeface="Segoe UI"/>
                <a:cs typeface="Segoe UI"/>
              </a:defRPr>
            </a:defPPr>
          </a:lstStyle>
          <a:p xmlns:a="http://schemas.openxmlformats.org/drawingml/2006/main">
            <a:pPr>
              <a:defRPr sz="3225" b="1">
                <a:solidFill>
                  <a:srgbClr val="17243B"/>
                </a:solidFill>
                <a:latin typeface="Segoe UI"/>
                <a:ea typeface="Segoe UI"/>
                <a:cs typeface="Segoe UI"/>
              </a:defRPr>
            </a:pPr>
            <a:r>
              <a:rPr sz="3225" b="1">
                <a:solidFill>
                  <a:srgbClr val="17243B"/>
                </a:solidFill>
                <a:latin typeface="Segoe UI"/>
                <a:ea typeface="Segoe UI"/>
                <a:cs typeface="Segoe UI"/>
              </a:rPr>
              <a:t>Bằng chứng kiểm thử và demo 10/2026</a:t>
            </a:r>
          </a:p>
        </p:txBody>
      </p:sp>
      <p:sp>
        <p:nvSpPr>
          <p:cNvPr id="2" name="">
            <a:extLst xmlns:a="http://schemas.openxmlformats.org/drawingml/2006/main">
              <a:ext uri="{FF2B5EF4-FFF2-40B4-BE49-F238E27FC236}">
                <a16:creationId xmlns:a16="http://schemas.microsoft.com/office/drawing/2014/main" id="{D3A6559D-257A-438B-9E9B-9BA76D2DF452}"/>
              </a:ext>
            </a:extLst>
          </p:cNvPr>
          <p:cNvSpPr>
            <a:spLocks xmlns:a="http://schemas.openxmlformats.org/drawingml/2006/main" noGrp="1"/>
          </p:cNvSpPr>
          <p:nvPr/>
        </p:nvSpPr>
        <p:spPr>
          <a:xfrm xmlns:a="http://schemas.openxmlformats.org/drawingml/2006/main">
            <a:off x="609600" y="63627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TV5  Trần Đức Anh  24110155</a:t>
            </a:r>
          </a:p>
        </p:txBody>
      </p:sp>
      <p:sp>
        <p:nvSpPr>
          <p:cNvPr id="3" name="">
            <a:extLst xmlns:a="http://schemas.openxmlformats.org/drawingml/2006/main">
              <a:ext uri="{FF2B5EF4-FFF2-40B4-BE49-F238E27FC236}">
                <a16:creationId xmlns:a16="http://schemas.microsoft.com/office/drawing/2014/main" id="{1930C409-DFF8-4351-A510-D8D6B720FA3A}"/>
              </a:ext>
            </a:extLst>
          </p:cNvPr>
          <p:cNvSpPr>
            <a:spLocks xmlns:a="http://schemas.openxmlformats.org/drawingml/2006/main" noGrp="1"/>
          </p:cNvSpPr>
          <p:nvPr/>
        </p:nvSpPr>
        <p:spPr>
          <a:xfrm xmlns:a="http://schemas.openxmlformats.org/drawingml/2006/main">
            <a:off x="10953750" y="6286500"/>
            <a:ext cx="628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15</a:t>
            </a:r>
          </a:p>
        </p:txBody>
      </p:sp>
      <p:sp>
        <p:nvSpPr>
          <p:cNvPr id="4" name="">
            <a:extLst xmlns:a="http://schemas.openxmlformats.org/drawingml/2006/main">
              <a:ext uri="{FF2B5EF4-FFF2-40B4-BE49-F238E27FC236}">
                <a16:creationId xmlns:a16="http://schemas.microsoft.com/office/drawing/2014/main" id="{932400FD-29D4-400C-B43A-459CDFE3E281}"/>
              </a:ext>
            </a:extLst>
          </p:cNvPr>
          <p:cNvSpPr>
            <a:spLocks xmlns:a="http://schemas.openxmlformats.org/drawingml/2006/main" noGrp="1"/>
          </p:cNvSpPr>
          <p:nvPr/>
        </p:nvSpPr>
        <p:spPr>
          <a:xfrm xmlns:a="http://schemas.openxmlformats.org/drawingml/2006/main">
            <a:off x="609600" y="1409700"/>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500" b="1">
                <a:solidFill>
                  <a:srgbClr val="4F46E5"/>
                </a:solidFill>
                <a:latin typeface="Segoe UI"/>
                <a:ea typeface="Segoe UI"/>
                <a:cs typeface="Segoe UI"/>
              </a:defRPr>
            </a:defPPr>
          </a:lstStyle>
          <a:p xmlns:a="http://schemas.openxmlformats.org/drawingml/2006/main">
            <a:pPr>
              <a:defRPr sz="4500" b="1">
                <a:solidFill>
                  <a:srgbClr val="4F46E5"/>
                </a:solidFill>
                <a:latin typeface="Segoe UI"/>
                <a:ea typeface="Segoe UI"/>
                <a:cs typeface="Segoe UI"/>
              </a:defRPr>
            </a:pPr>
            <a:r>
              <a:rPr sz="4500" b="1">
                <a:solidFill>
                  <a:srgbClr val="4F46E5"/>
                </a:solidFill>
                <a:latin typeface="Segoe UI"/>
                <a:ea typeface="Segoe UI"/>
                <a:cs typeface="Segoe UI"/>
              </a:rPr>
              <a:t>20,631 giây</a:t>
            </a:r>
          </a:p>
        </p:txBody>
      </p:sp>
      <p:sp>
        <p:nvSpPr>
          <p:cNvPr id="5" name="">
            <a:extLst xmlns:a="http://schemas.openxmlformats.org/drawingml/2006/main">
              <a:ext uri="{FF2B5EF4-FFF2-40B4-BE49-F238E27FC236}">
                <a16:creationId xmlns:a16="http://schemas.microsoft.com/office/drawing/2014/main" id="{F1985757-3562-4158-A436-5CA2B7FDC950}"/>
              </a:ext>
            </a:extLst>
          </p:cNvPr>
          <p:cNvSpPr>
            <a:spLocks xmlns:a="http://schemas.openxmlformats.org/drawingml/2006/main" noGrp="1"/>
          </p:cNvSpPr>
          <p:nvPr/>
        </p:nvSpPr>
        <p:spPr>
          <a:xfrm xmlns:a="http://schemas.openxmlformats.org/drawingml/2006/main">
            <a:off x="609600" y="2295525"/>
            <a:ext cx="5000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243B"/>
                </a:solidFill>
                <a:latin typeface="Segoe UI"/>
                <a:ea typeface="Segoe UI"/>
                <a:cs typeface="Segoe UI"/>
              </a:defRPr>
            </a:defPPr>
          </a:lstStyle>
          <a:p xmlns:a="http://schemas.openxmlformats.org/drawingml/2006/main">
            <a:pPr>
              <a:defRPr sz="2100" b="0">
                <a:solidFill>
                  <a:srgbClr val="17243B"/>
                </a:solidFill>
                <a:latin typeface="Segoe UI"/>
                <a:ea typeface="Segoe UI"/>
                <a:cs typeface="Segoe UI"/>
              </a:defRPr>
            </a:pPr>
            <a:r>
              <a:rPr sz="2100" b="0">
                <a:solidFill>
                  <a:srgbClr val="17243B"/>
                </a:solidFill>
                <a:latin typeface="Segoe UI"/>
                <a:ea typeface="Segoe UI"/>
                <a:cs typeface="Segoe UI"/>
              </a:rPr>
              <a:t>Phiên B chờ khóa khi tính cùng kỳ</a:t>
            </a:r>
          </a:p>
        </p:txBody>
      </p:sp>
      <p:sp>
        <p:nvSpPr>
          <p:cNvPr id="6" name="">
            <a:extLst xmlns:a="http://schemas.openxmlformats.org/drawingml/2006/main">
              <a:ext uri="{FF2B5EF4-FFF2-40B4-BE49-F238E27FC236}">
                <a16:creationId xmlns:a16="http://schemas.microsoft.com/office/drawing/2014/main" id="{5648EF7D-9F96-4C04-91C5-54359A45DC2B}"/>
              </a:ext>
            </a:extLst>
          </p:cNvPr>
          <p:cNvSpPr>
            <a:spLocks xmlns:a="http://schemas.openxmlformats.org/drawingml/2006/main" noGrp="1"/>
          </p:cNvSpPr>
          <p:nvPr/>
        </p:nvSpPr>
        <p:spPr>
          <a:xfrm xmlns:a="http://schemas.openxmlformats.org/drawingml/2006/main">
            <a:off x="609600" y="3095625"/>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1 header, không trùng chi tiết</a:t>
            </a:r>
          </a:p>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Cleanup PASS</a:t>
            </a:r>
          </a:p>
        </p:txBody>
      </p:sp>
      <p:sp>
        <p:nvSpPr>
          <p:cNvPr id="7" name="">
            <a:extLst xmlns:a="http://schemas.openxmlformats.org/drawingml/2006/main">
              <a:ext uri="{FF2B5EF4-FFF2-40B4-BE49-F238E27FC236}">
                <a16:creationId xmlns:a16="http://schemas.microsoft.com/office/drawing/2014/main" id="{CBF4A647-4C76-4673-BF17-526B10E6014B}"/>
              </a:ext>
            </a:extLst>
          </p:cNvPr>
          <p:cNvSpPr>
            <a:spLocks xmlns:a="http://schemas.openxmlformats.org/drawingml/2006/main" noGrp="1"/>
          </p:cNvSpPr>
          <p:nvPr/>
        </p:nvSpPr>
        <p:spPr>
          <a:xfrm xmlns:a="http://schemas.openxmlformats.org/drawingml/2006/main">
            <a:off x="6496050" y="1409700"/>
            <a:ext cx="5086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243B"/>
                </a:solidFill>
                <a:latin typeface="Segoe UI"/>
                <a:ea typeface="Segoe UI"/>
                <a:cs typeface="Segoe UI"/>
              </a:defRPr>
            </a:defPPr>
          </a:lstStyle>
          <a:p xmlns:a="http://schemas.openxmlformats.org/drawingml/2006/main">
            <a:pPr>
              <a:defRPr sz="2400" b="1">
                <a:solidFill>
                  <a:srgbClr val="17243B"/>
                </a:solidFill>
                <a:latin typeface="Segoe UI"/>
                <a:ea typeface="Segoe UI"/>
                <a:cs typeface="Segoe UI"/>
              </a:defRPr>
            </a:pPr>
            <a:r>
              <a:rPr sz="2400" b="1">
                <a:solidFill>
                  <a:srgbClr val="17243B"/>
                </a:solidFill>
                <a:latin typeface="Segoe UI"/>
                <a:ea typeface="Segoe UI"/>
                <a:cs typeface="Segoe UI"/>
              </a:rPr>
              <a:t>4 race khóa nguồn PASS</a:t>
            </a:r>
          </a:p>
        </p:txBody>
      </p:sp>
      <p:sp>
        <p:nvSpPr>
          <p:cNvPr id="8" name="">
            <a:extLst xmlns:a="http://schemas.openxmlformats.org/drawingml/2006/main">
              <a:ext uri="{FF2B5EF4-FFF2-40B4-BE49-F238E27FC236}">
                <a16:creationId xmlns:a16="http://schemas.microsoft.com/office/drawing/2014/main" id="{FB8AC50F-BFE6-4E35-A919-2E06F5290226}"/>
              </a:ext>
            </a:extLst>
          </p:cNvPr>
          <p:cNvSpPr>
            <a:spLocks xmlns:a="http://schemas.openxmlformats.org/drawingml/2006/main" noGrp="1"/>
          </p:cNvSpPr>
          <p:nvPr/>
        </p:nvSpPr>
        <p:spPr>
          <a:xfrm xmlns:a="http://schemas.openxmlformats.org/drawingml/2006/main">
            <a:off x="6496050" y="2028825"/>
            <a:ext cx="5086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Công, phụ cấp, khấu trừ, chi tiết</a:t>
            </a:r>
          </a:p>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Nguồn giữ nguyên sau từ chối</a:t>
            </a:r>
          </a:p>
        </p:txBody>
      </p:sp>
      <p:sp>
        <p:nvSpPr>
          <p:cNvPr id="9" name="">
            <a:extLst xmlns:a="http://schemas.openxmlformats.org/drawingml/2006/main">
              <a:ext uri="{FF2B5EF4-FFF2-40B4-BE49-F238E27FC236}">
                <a16:creationId xmlns:a16="http://schemas.microsoft.com/office/drawing/2014/main" id="{EB38CB89-3754-4652-95BD-A9D26A583DB1}"/>
              </a:ext>
            </a:extLst>
          </p:cNvPr>
          <p:cNvSpPr>
            <a:spLocks xmlns:a="http://schemas.openxmlformats.org/drawingml/2006/main" noGrp="1"/>
          </p:cNvSpPr>
          <p:nvPr/>
        </p:nvSpPr>
        <p:spPr>
          <a:xfrm xmlns:a="http://schemas.openxmlformats.org/drawingml/2006/main">
            <a:off x="6496050" y="3190875"/>
            <a:ext cx="5086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7243B"/>
                </a:solidFill>
                <a:latin typeface="Segoe UI"/>
                <a:ea typeface="Segoe UI"/>
                <a:cs typeface="Segoe UI"/>
              </a:defRPr>
            </a:defPPr>
          </a:lstStyle>
          <a:p xmlns:a="http://schemas.openxmlformats.org/drawingml/2006/main">
            <a:pPr>
              <a:defRPr sz="2025" b="1">
                <a:solidFill>
                  <a:srgbClr val="17243B"/>
                </a:solidFill>
                <a:latin typeface="Segoe UI"/>
                <a:ea typeface="Segoe UI"/>
                <a:cs typeface="Segoe UI"/>
              </a:defRPr>
            </a:pPr>
            <a:r>
              <a:rPr sz="2025" b="1">
                <a:solidFill>
                  <a:srgbClr val="17243B"/>
                </a:solidFill>
                <a:latin typeface="Segoe UI"/>
                <a:ea typeface="Segoe UI"/>
                <a:cs typeface="Segoe UI"/>
              </a:rPr>
              <a:t>GUI 09/10: 20 ca + 3 kiểm tra lại</a:t>
            </a:r>
          </a:p>
        </p:txBody>
      </p:sp>
      <p:sp>
        <p:nvSpPr>
          <p:cNvPr id="10" name="">
            <a:extLst xmlns:a="http://schemas.openxmlformats.org/drawingml/2006/main">
              <a:ext uri="{FF2B5EF4-FFF2-40B4-BE49-F238E27FC236}">
                <a16:creationId xmlns:a16="http://schemas.microsoft.com/office/drawing/2014/main" id="{4C623588-1286-432C-A19F-097E3E75CC87}"/>
              </a:ext>
            </a:extLst>
          </p:cNvPr>
          <p:cNvSpPr>
            <a:spLocks xmlns:a="http://schemas.openxmlformats.org/drawingml/2006/main" noGrp="1"/>
          </p:cNvSpPr>
          <p:nvPr/>
        </p:nvSpPr>
        <p:spPr>
          <a:xfrm xmlns:a="http://schemas.openxmlformats.org/drawingml/2006/main">
            <a:off x="6496050" y="3905250"/>
            <a:ext cx="5086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7243B"/>
                </a:solidFill>
                <a:latin typeface="Segoe UI"/>
                <a:ea typeface="Segoe UI"/>
                <a:cs typeface="Segoe UI"/>
              </a:defRPr>
            </a:defPPr>
          </a:lstStyle>
          <a:p xmlns:a="http://schemas.openxmlformats.org/drawingml/2006/main">
            <a:pPr>
              <a:defRPr sz="1950" b="0">
                <a:solidFill>
                  <a:srgbClr val="17243B"/>
                </a:solidFill>
                <a:latin typeface="Segoe UI"/>
                <a:ea typeface="Segoe UI"/>
                <a:cs typeface="Segoe UI"/>
              </a:defRPr>
            </a:pPr>
            <a:r>
              <a:rPr sz="1950" b="0">
                <a:solidFill>
                  <a:srgbClr val="17243B"/>
                </a:solidFill>
                <a:latin typeface="Segoe UI"/>
                <a:ea typeface="Segoe UI"/>
                <a:cs typeface="Segoe UI"/>
              </a:rPr>
              <a:t>Ba lỗi ban đầu đã sửa</a:t>
            </a:r>
          </a:p>
          <a:p xmlns:a="http://schemas.openxmlformats.org/drawingml/2006/main">
            <a:pPr>
              <a:defRPr sz="1950" b="0">
                <a:solidFill>
                  <a:srgbClr val="17243B"/>
                </a:solidFill>
                <a:latin typeface="Segoe UI"/>
                <a:ea typeface="Segoe UI"/>
                <a:cs typeface="Segoe UI"/>
              </a:defRPr>
            </a:pPr>
            <a:r>
              <a:rPr sz="1950" b="0">
                <a:solidFill>
                  <a:srgbClr val="17243B"/>
                </a:solidFill>
                <a:latin typeface="Segoe UI"/>
                <a:ea typeface="Segoe UI"/>
                <a:cs typeface="Segoe UI"/>
              </a:rPr>
              <a:t>Java: 224 assertions PASS</a:t>
            </a:r>
          </a:p>
        </p:txBody>
      </p:sp>
      <p:sp>
        <p:nvSpPr>
          <p:cNvPr id="11" name="">
            <a:extLst xmlns:a="http://schemas.openxmlformats.org/drawingml/2006/main">
              <a:ext uri="{FF2B5EF4-FFF2-40B4-BE49-F238E27FC236}">
                <a16:creationId xmlns:a16="http://schemas.microsoft.com/office/drawing/2014/main" id="{BB18D4AB-9053-4483-8D57-6FDA8A2CC338}"/>
              </a:ext>
            </a:extLst>
          </p:cNvPr>
          <p:cNvSpPr>
            <a:spLocks xmlns:a="http://schemas.openxmlformats.org/drawingml/2006/main" noGrp="1"/>
          </p:cNvSpPr>
          <p:nvPr/>
        </p:nvSpPr>
        <p:spPr>
          <a:xfrm xmlns:a="http://schemas.openxmlformats.org/drawingml/2006/main">
            <a:off x="609600" y="463867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4F46E5"/>
                </a:solidFill>
                <a:latin typeface="Segoe UI"/>
                <a:ea typeface="Segoe UI"/>
                <a:cs typeface="Segoe UI"/>
              </a:defRPr>
            </a:defPPr>
          </a:lstStyle>
          <a:p xmlns:a="http://schemas.openxmlformats.org/drawingml/2006/main">
            <a:pPr>
              <a:defRPr sz="2325" b="1">
                <a:solidFill>
                  <a:srgbClr val="4F46E5"/>
                </a:solidFill>
                <a:latin typeface="Segoe UI"/>
                <a:ea typeface="Segoe UI"/>
                <a:cs typeface="Segoe UI"/>
              </a:defRPr>
            </a:pPr>
            <a:r>
              <a:rPr sz="2325" b="1">
                <a:solidFill>
                  <a:srgbClr val="4F46E5"/>
                </a:solidFill>
                <a:latin typeface="Segoe UI"/>
                <a:ea typeface="Segoe UI"/>
                <a:cs typeface="Segoe UI"/>
              </a:rPr>
              <a:t>Demo: A 730.000đ, B 0đ</a:t>
            </a:r>
          </a:p>
        </p:txBody>
      </p:sp>
      <p:sp>
        <p:nvSpPr>
          <p:cNvPr id="12" name="">
            <a:extLst xmlns:a="http://schemas.openxmlformats.org/drawingml/2006/main">
              <a:ext uri="{FF2B5EF4-FFF2-40B4-BE49-F238E27FC236}">
                <a16:creationId xmlns:a16="http://schemas.microsoft.com/office/drawing/2014/main" id="{70601E28-CA23-4198-B21F-53CB2FEAEF6F}"/>
              </a:ext>
            </a:extLst>
          </p:cNvPr>
          <p:cNvSpPr>
            <a:spLocks xmlns:a="http://schemas.openxmlformats.org/drawingml/2006/main" noGrp="1"/>
          </p:cNvSpPr>
          <p:nvPr/>
        </p:nvSpPr>
        <p:spPr>
          <a:xfrm xmlns:a="http://schemas.openxmlformats.org/drawingml/2006/main">
            <a:off x="609600" y="52387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243B"/>
                </a:solidFill>
                <a:latin typeface="Segoe UI"/>
                <a:ea typeface="Segoe UI"/>
                <a:cs typeface="Segoe UI"/>
              </a:defRPr>
            </a:defPPr>
          </a:lstStyle>
          <a:p xmlns:a="http://schemas.openxmlformats.org/drawingml/2006/main">
            <a:pPr>
              <a:defRPr sz="2100" b="0">
                <a:solidFill>
                  <a:srgbClr val="17243B"/>
                </a:solidFill>
                <a:latin typeface="Segoe UI"/>
                <a:ea typeface="Segoe UI"/>
                <a:cs typeface="Segoe UI"/>
              </a:defRPr>
            </a:pPr>
            <a:r>
              <a:rPr sz="2100" b="0">
                <a:solidFill>
                  <a:srgbClr val="17243B"/>
                </a:solidFill>
                <a:latin typeface="Segoe UI"/>
                <a:ea typeface="Segoe UI"/>
                <a:cs typeface="Segoe UI"/>
              </a:rPr>
              <a:t>Chốt kỳ, thử sửa nguồn, xem phiếu A/B, mở lại kỳ</a:t>
            </a:r>
          </a:p>
        </p:txBody>
      </p:sp>
      <p:sp>
        <p:nvSpPr>
          <p:cNvPr id="13" name="">
            <a:extLst xmlns:a="http://schemas.openxmlformats.org/drawingml/2006/main">
              <a:ext uri="{FF2B5EF4-FFF2-40B4-BE49-F238E27FC236}">
                <a16:creationId xmlns:a16="http://schemas.microsoft.com/office/drawing/2014/main" id="{661F56B8-B4D6-4994-A193-94421BDD0551}"/>
              </a:ext>
            </a:extLst>
          </p:cNvPr>
          <p:cNvSpPr>
            <a:spLocks xmlns:a="http://schemas.openxmlformats.org/drawingml/2006/main" noGrp="1"/>
          </p:cNvSpPr>
          <p:nvPr/>
        </p:nvSpPr>
        <p:spPr>
          <a:xfrm xmlns:a="http://schemas.openxmlformats.org/drawingml/2006/main">
            <a:off x="609600" y="5695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F46E5"/>
                </a:solidFill>
                <a:latin typeface="Segoe UI"/>
                <a:ea typeface="Segoe UI"/>
                <a:cs typeface="Segoe UI"/>
              </a:defRPr>
            </a:defPPr>
          </a:lstStyle>
          <a:p xmlns:a="http://schemas.openxmlformats.org/drawingml/2006/main">
            <a:pPr>
              <a:defRPr sz="1875" b="0">
                <a:solidFill>
                  <a:srgbClr val="4F46E5"/>
                </a:solidFill>
                <a:latin typeface="Segoe UI"/>
                <a:ea typeface="Segoe UI"/>
                <a:cs typeface="Segoe UI"/>
              </a:defRPr>
            </a:pPr>
            <a:r>
              <a:rPr sz="1875" b="0">
                <a:solidFill>
                  <a:srgbClr val="4F46E5"/>
                </a:solidFill>
                <a:latin typeface="Segoe UI"/>
                <a:ea typeface="Segoe UI"/>
                <a:cs typeface="Segoe UI"/>
              </a:rPr>
              <a:t>Kết thúc CHUA_CHOT, NgayChot IS NULL, nguồn không đổi</a:t>
            </a:r>
          </a:p>
        </p:txBody>
      </p:sp>
    </p:spTree>
    <p:extLst>
      <p:ext uri="{BB962C8B-B14F-4D97-AF65-F5344CB8AC3E}">
        <p14:creationId xmlns:p14="http://schemas.microsoft.com/office/powerpoint/2010/main" val="7254787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2026-10-11T13:07:55.9940000Z</dcterms:created>
  <dcterms:modified xsi:type="dcterms:W3CDTF">2026-10-11T13:07:55.9940000Z</dcterms:modified>
</coreProperties>
</file>