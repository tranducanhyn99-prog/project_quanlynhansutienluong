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FAE7DE-997B-4B57-895B-A6B4C184BC14}"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6D606E-37A5-43F7-897C-0CE614F6E66D}" type="slidenum">
              <a:rPr lang="en-US" smtClean="0"/>
              <a:t>‹#›</a:t>
            </a:fld>
            <a:endParaRPr lang="en-US"/>
          </a:p>
        </p:txBody>
      </p:sp>
    </p:spTree>
    <p:extLst>
      <p:ext uri="{BB962C8B-B14F-4D97-AF65-F5344CB8AC3E}">
        <p14:creationId xmlns:p14="http://schemas.microsoft.com/office/powerpoint/2010/main" val="3236694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10 · khoảng 40 giây</a:t>
            </a:r>
            <a:endParaRPr lang="vi-VN"/>
          </a:p>
          <a:p>
            <a:endParaRPr lang="vi-VN"/>
          </a:p>
          <a:p>
            <a:r>
              <a:rPr lang="vi-VN"/>
              <a:t>Em là Nguyễn Quang Vinh, phụ trách tính lương. Đầu vào gồm mức lương của kỳ, ngày công, phụ cấp và khấu trừ. Tiền công bằng lương cơ bản chia công chuẩn, nhân công thực tế; thực nhận cộng phụ cấp rồi trừ khấu trừ. Ví dụ GUI tháng 10/2026: A nhận 730.000đ, B nhận 0đ.</a:t>
            </a:r>
            <a:endParaRPr lang="vi-VN"/>
          </a:p>
          <a:p>
            <a:endParaRPr lang="vi-VN"/>
          </a:p>
          <a:p>
            <a:r>
              <a:rPr lang="vi-VN"/>
              <a:t>Minh chứng: Minh_chung/TV4_GUI_Live.log; TV4_GUI_TinhLuong_102026.png. GUI desktop Robot 11/10/2026 04:03:38 +07; 31 assertions PASS; Payroll_Officer; QA riêng đã dọn.</a:t>
            </a:r>
            <a:endParaRPr lang="vi-VN"/>
          </a:p>
          <a:p>
            <a:r>
              <a:rPr lang="vi-VN"/>
              <a:t>GUI đã kiểm tự động; chưa rehearsal lời nói và thao tác tay.</a:t>
            </a:r>
            <a:endParaRPr lang="vi-VN"/>
          </a:p>
          <a:p>
            <a:r>
              <a:rPr lang="vi-VN"/>
              <a:t>Thông tin lần chạy: Minh_chung/THONG_TIN_MINH_CHUNG.txt.</a:t>
            </a:r>
            <a:endParaRPr lang="vi-VN"/>
          </a:p>
        </p:txBody>
      </p:sp>
      <p:sp>
        <p:nvSpPr>
          <p:cNvPr id="4" name="Slide Number Placeholder 3"/>
          <p:cNvSpPr>
            <a:spLocks noGrp="1"/>
          </p:cNvSpPr>
          <p:nvPr>
            <p:ph type="sldNum" sz="quarter" idx="5"/>
          </p:nvPr>
        </p:nvSpPr>
        <p:spPr/>
        <p:txBody>
          <a:bodyPr/>
          <a:lstStyle/>
          <a:p>
            <a:fld id="{B16D606E-37A5-43F7-897C-0CE614F6E66D}" type="slidenum">
              <a:rPr lang="en-US" smtClean="0"/>
              <a:t>1</a:t>
            </a:fld>
            <a:endParaRPr lang="en-US"/>
          </a:p>
        </p:txBody>
      </p:sp>
    </p:spTree>
    <p:extLst>
      <p:ext uri="{BB962C8B-B14F-4D97-AF65-F5344CB8AC3E}">
        <p14:creationId xmlns:p14="http://schemas.microsoft.com/office/powerpoint/2010/main" val="219540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11 · khoảng 45 giây</a:t>
            </a:r>
            <a:endParaRPr lang="vi-VN"/>
          </a:p>
          <a:p>
            <a:endParaRPr lang="vi-VN"/>
          </a:p>
          <a:p>
            <a:r>
              <a:rPr lang="vi-VN"/>
              <a:t>Procedure kiểm tra đầu vào, khóa kỳ và nguồn, rồi ghi bảng lương và chi tiết trong transaction. Kỳ chưa chốt tính lại trên cùng mã kỳ. Nếu ghi chi tiết lỗi, TRY CATCH rollback để giữ kết quả trước. Kỳ đã chốt không cho tính lại. Mức lương kỳ cũ ưu tiên snapshot, tiếp đến lịch sử hiệu lực, cuối cùng lương hiện tại; lịch sử đã mất không tự khôi phục.</a:t>
            </a:r>
            <a:endParaRPr lang="vi-VN"/>
          </a:p>
          <a:p>
            <a:endParaRPr lang="vi-VN"/>
          </a:p>
          <a:p>
            <a:r>
              <a:rPr lang="vi-VN"/>
              <a:t>SSMS E2E 10/10 PASS, 10/10/2026 20:53:42–44 +07, SPID 56, mã kỳ 8; gồm tính lại/rollback. Minh_chung/TV4_Payroll_E2E.log; TV4_E2E_10Steps_Pass.png.</a:t>
            </a:r>
            <a:endParaRPr lang="vi-VN"/>
          </a:p>
          <a:p>
            <a:r>
              <a:rPr lang="vi-VN"/>
              <a:t>Thông tin lần chạy: Minh_chung/THONG_TIN_MINH_CHUNG.txt.</a:t>
            </a:r>
            <a:endParaRPr lang="vi-VN"/>
          </a:p>
        </p:txBody>
      </p:sp>
      <p:sp>
        <p:nvSpPr>
          <p:cNvPr id="4" name="Slide Number Placeholder 3"/>
          <p:cNvSpPr>
            <a:spLocks noGrp="1"/>
          </p:cNvSpPr>
          <p:nvPr>
            <p:ph type="sldNum" sz="quarter" idx="5"/>
          </p:nvPr>
        </p:nvSpPr>
        <p:spPr/>
        <p:txBody>
          <a:bodyPr/>
          <a:lstStyle/>
          <a:p>
            <a:fld id="{B16D606E-37A5-43F7-897C-0CE614F6E66D}" type="slidenum">
              <a:rPr lang="en-US" smtClean="0"/>
              <a:t>2</a:t>
            </a:fld>
            <a:endParaRPr lang="en-US"/>
          </a:p>
        </p:txBody>
      </p:sp>
    </p:spTree>
    <p:extLst>
      <p:ext uri="{BB962C8B-B14F-4D97-AF65-F5344CB8AC3E}">
        <p14:creationId xmlns:p14="http://schemas.microsoft.com/office/powerpoint/2010/main" val="2103563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12 · khoảng 35 giây</a:t>
            </a:r>
            <a:endParaRPr lang="vi-VN"/>
          </a:p>
          <a:p>
            <a:endParaRPr lang="vi-VN"/>
          </a:p>
          <a:p>
            <a:r>
              <a:rPr lang="vi-VN"/>
              <a:t>Luồng gọi là Panel → Service kiểm quyền → DAO dùng CallableStatement → procedure trả MaBangLuong OUTPUT. E2E đạt 10/10. Benchmark khấu trừ 30.000 dòng: scan 547 reads, seek 4; cùng 128 dòng và tổng 133.356. Phép đo có hint FORCESCAN/FORCESEEK trên fixture QA, không suy ra tốc độ toàn ứng dụng. Hai session cùng kỳ: B chờ 21.072 ms, cùng mã kỳ và không trùng chi tiết. Mời Đức Anh tiếp tục phần chốt kỳ và quyền truy cập.</a:t>
            </a:r>
            <a:endParaRPr lang="vi-VN"/>
          </a:p>
          <a:p>
            <a:endParaRPr lang="vi-VN"/>
          </a:p>
          <a:p>
            <a:r>
              <a:rPr lang="vi-VN"/>
              <a:t>Log E2E: Minh_chung/TV4_Payroll_E2E.log.</a:t>
            </a:r>
            <a:endParaRPr lang="vi-VN"/>
          </a:p>
          <a:p>
            <a:r>
              <a:rPr lang="vi-VN"/>
              <a:t>Log benchmark: Minh_chung/TV4_Payroll_Benchmark.log.</a:t>
            </a:r>
            <a:endParaRPr lang="vi-VN"/>
          </a:p>
          <a:p>
            <a:r>
              <a:rPr lang="vi-VN"/>
              <a:t>Hai session: Minh_chung/Concurrency_A.log; Minh_chung/Concurrency_B.log.</a:t>
            </a:r>
            <a:endParaRPr lang="vi-VN"/>
          </a:p>
          <a:p>
            <a:r>
              <a:rPr lang="vi-VN"/>
              <a:t>Actual plans: Minh_chung/TV4_Payroll_Benchmark_FORCED_CLUSTERED_SCAN.sqlplan; Minh_chung/TV4_Payroll_Benchmark_FORCED_COVERING_SEEK.sqlplan.</a:t>
            </a:r>
            <a:endParaRPr lang="vi-VN"/>
          </a:p>
          <a:p>
            <a:r>
              <a:rPr lang="vi-VN"/>
              <a:t>Nguồn: Minh_chung/THONG_TIN_MINH_CHUNG.txt. Benchmark SSMS SPID 68, 10/10/2026 20:55:42–46; Messages/Results/hai actual plan cùng batch. Native plan chụp 11/10 04:02:44. Concurrency collector A/B 72/73: 21.072 ms; ảnh 11/10 04:03:15 là log mở SSMS, không live hai session lúc chụp.</a:t>
            </a:r>
            <a:endParaRPr lang="vi-VN"/>
          </a:p>
        </p:txBody>
      </p:sp>
      <p:sp>
        <p:nvSpPr>
          <p:cNvPr id="4" name="Slide Number Placeholder 3"/>
          <p:cNvSpPr>
            <a:spLocks noGrp="1"/>
          </p:cNvSpPr>
          <p:nvPr>
            <p:ph type="sldNum" sz="quarter" idx="5"/>
          </p:nvPr>
        </p:nvSpPr>
        <p:spPr/>
        <p:txBody>
          <a:bodyPr/>
          <a:lstStyle/>
          <a:p>
            <a:fld id="{B16D606E-37A5-43F7-897C-0CE614F6E66D}" type="slidenum">
              <a:rPr lang="en-US" smtClean="0"/>
              <a:t>3</a:t>
            </a:fld>
            <a:endParaRPr lang="en-US"/>
          </a:p>
        </p:txBody>
      </p:sp>
    </p:spTree>
    <p:extLst>
      <p:ext uri="{BB962C8B-B14F-4D97-AF65-F5344CB8AC3E}">
        <p14:creationId xmlns:p14="http://schemas.microsoft.com/office/powerpoint/2010/main" val="3375873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86C5A-6668-19E8-A24F-10951A5711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49A308-45DF-A2A4-F79C-FED8B04DAC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C688E8-3795-2CBE-A325-F3225D4B11F4}"/>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AB6703D5-1030-58D8-11D7-F9CC94462A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AACC2B-DE1A-8D21-C6FC-5012EF4B8BF1}"/>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3333151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239B-D270-F45E-4332-3B51720142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79E892-3186-60C9-E4F4-725217A5AD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208FC9-A10F-A044-615E-41F152D82C22}"/>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70ED44F2-DF72-9CBC-2D21-8BFEF81EE9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D47F4-7941-AC5E-0995-7853160AAB1E}"/>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1262684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1C2D0-38A6-FF26-421C-3055CFEDDE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A0E2BA-C40C-11FA-771D-E9F9EE9FBF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B39533-4888-7696-CB79-2F48387C3F59}"/>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26DEA0AE-EAF2-7013-9E73-7FEAA54EF7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BE6464-1869-2AAF-86BF-AFA0BC52B777}"/>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776926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AA367-33D0-7523-6AFC-F37066843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D020F6-3E16-3BBB-7A56-69523BFFC9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B69230-333F-3902-3974-1BAA10FDC4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BB964A-1D4F-88CF-FFE9-5DB9C090FB79}"/>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6" name="Footer Placeholder 5">
            <a:extLst>
              <a:ext uri="{FF2B5EF4-FFF2-40B4-BE49-F238E27FC236}">
                <a16:creationId xmlns:a16="http://schemas.microsoft.com/office/drawing/2014/main" id="{A843E477-AA54-33C1-8F15-1AA3CC3FA4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261F87-902A-5891-7A10-430AFAF91ED3}"/>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192574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37BDC-B877-3D34-1E7B-597AD9CC9A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4DDF3B-D28F-48A0-28D0-94069CD529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1880F4-7D75-A865-70D2-FE00A05252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98D393-26B7-B808-AE1F-985FCF0DA8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681474-FD8D-6FAE-DE67-0633C0A12F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A13EAD-E288-4A0E-C40A-4554BA2F3C41}"/>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8" name="Footer Placeholder 7">
            <a:extLst>
              <a:ext uri="{FF2B5EF4-FFF2-40B4-BE49-F238E27FC236}">
                <a16:creationId xmlns:a16="http://schemas.microsoft.com/office/drawing/2014/main" id="{787D13F6-8F6B-7829-8B65-AA16B5CE6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465C79-D889-6E45-76A4-DF583C8AD74F}"/>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56367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53AC6-3B5F-AA2F-D053-C852149A16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0A8203-5BA9-45F3-D2BF-EAD8C430D060}"/>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4" name="Footer Placeholder 3">
            <a:extLst>
              <a:ext uri="{FF2B5EF4-FFF2-40B4-BE49-F238E27FC236}">
                <a16:creationId xmlns:a16="http://schemas.microsoft.com/office/drawing/2014/main" id="{8026EC95-EDE3-0079-93AC-7C1EAD049D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FFFCF4-9B03-DF19-1B3E-6A672EA18520}"/>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2049664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1C6779-BF43-5B37-C539-5F6B942437D6}"/>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3" name="Footer Placeholder 2">
            <a:extLst>
              <a:ext uri="{FF2B5EF4-FFF2-40B4-BE49-F238E27FC236}">
                <a16:creationId xmlns:a16="http://schemas.microsoft.com/office/drawing/2014/main" id="{C4AD8CDF-9AF2-4809-E386-6D7A387DDF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3CB461-E101-8E69-91C5-68F220EA5A39}"/>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357069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36B53-FB10-CA45-60EC-776A74F4AB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809F7F-782E-CFE2-D0E2-C4D418A626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282C49-AF61-67D4-EE80-17B3514CD0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E4BB1-6610-15FA-0475-36E37B1DE30E}"/>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6" name="Footer Placeholder 5">
            <a:extLst>
              <a:ext uri="{FF2B5EF4-FFF2-40B4-BE49-F238E27FC236}">
                <a16:creationId xmlns:a16="http://schemas.microsoft.com/office/drawing/2014/main" id="{BC52ED38-62ED-C674-4248-9971EA8563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97D735-87A3-DAB5-CB88-D7A843C32DB9}"/>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410401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A567-F29F-3A9C-1872-C282A48F7E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D43CE1-5F84-42F8-3A05-33F0A33C10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0DBD12-C744-F677-A192-CA297D3B7A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488BB-E5A9-AFE5-89D7-C2093B3F4197}"/>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6" name="Footer Placeholder 5">
            <a:extLst>
              <a:ext uri="{FF2B5EF4-FFF2-40B4-BE49-F238E27FC236}">
                <a16:creationId xmlns:a16="http://schemas.microsoft.com/office/drawing/2014/main" id="{769E1B04-62F2-7984-88AB-FCB5B5E6E8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0A015D-7B25-732F-C0E4-F2C5C01585E9}"/>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980342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2C80-1D35-0063-9105-56D4C17BB6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851EFD-5137-3E59-DC1C-4F19E262F5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229FC8-8582-080B-50B6-E4BDA3B82EBC}"/>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31971BDC-2B02-E634-FE41-FB6D9B4F7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F2A0EF-0400-D8C4-4A67-F9D709600362}"/>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3515463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854821-B122-11AE-DA91-C04E798DFC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9B4212-685F-F7B8-8480-77D1192B90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76BA28-57C3-8989-CDC0-AB11CC4C06F6}"/>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FE00F25E-618C-59F4-21D8-6B23C5BC5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171CAE-DC96-D20C-0B0A-8B9F036DBEB0}"/>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1234127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75F172-458C-E862-79C1-B9FC3E2AC4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54C88F-2CB2-F881-C1E0-9611DB712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7573D-24E2-2CFE-0EE0-C04C7DED0D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10CC99F3-E903-3D01-DF4A-25BA20768B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CDD836-8055-5580-B870-B79382351E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EDB8F3-ED00-4956-BF5E-E6AA85E727E1}" type="slidenum">
              <a:rPr lang="en-US" smtClean="0"/>
              <a:t>‹#›</a:t>
            </a:fld>
            <a:endParaRPr lang="en-US"/>
          </a:p>
        </p:txBody>
      </p:sp>
    </p:spTree>
    <p:extLst>
      <p:ext uri="{BB962C8B-B14F-4D97-AF65-F5344CB8AC3E}">
        <p14:creationId xmlns:p14="http://schemas.microsoft.com/office/powerpoint/2010/main" val="3142579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04A32AB-3B0E-AAA4-EF36-AEE37C5AB855}"/>
              </a:ext>
            </a:extLst>
          </p:cNvPr>
          <p:cNvSpPr/>
          <p:nvPr/>
        </p:nvSpPr>
        <p:spPr>
          <a:xfrm>
            <a:off x="508000" y="330200"/>
            <a:ext cx="1638300" cy="304800"/>
          </a:xfrm>
          <a:prstGeom prst="roundRect">
            <a:avLst>
              <a:gd name="adj" fmla="val 10000"/>
            </a:avLst>
          </a:prstGeom>
          <a:solidFill>
            <a:srgbClr val="E6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85C2E6-558B-8961-45A7-42D4A9C5A909}"/>
              </a:ext>
            </a:extLst>
          </p:cNvPr>
          <p:cNvSpPr txBox="1"/>
          <p:nvPr/>
        </p:nvSpPr>
        <p:spPr>
          <a:xfrm>
            <a:off x="635000" y="393700"/>
            <a:ext cx="1409700" cy="276999"/>
          </a:xfrm>
          <a:prstGeom prst="rect">
            <a:avLst/>
          </a:prstGeom>
          <a:noFill/>
        </p:spPr>
        <p:txBody>
          <a:bodyPr vert="horz" wrap="square" lIns="0" tIns="0" rIns="0" bIns="0" rtlCol="0">
            <a:noAutofit/>
          </a:bodyPr>
          <a:lstStyle/>
          <a:p>
            <a:r>
              <a:rPr lang="vi-VN" sz="1000" b="1">
                <a:solidFill>
                  <a:srgbClr val="0F766E"/>
                </a:solidFill>
                <a:latin typeface="Segoe UI" panose="020B0502040204020203" pitchFamily="34" charset="0"/>
              </a:rPr>
              <a:t>TV4 · TÍNH LƯƠNG</a:t>
            </a:r>
            <a:endParaRPr lang="en-US" sz="1000" b="1">
              <a:solidFill>
                <a:srgbClr val="0F766E"/>
              </a:solidFill>
              <a:latin typeface="Segoe UI" panose="020B0502040204020203" pitchFamily="34" charset="0"/>
            </a:endParaRPr>
          </a:p>
        </p:txBody>
      </p:sp>
      <p:sp>
        <p:nvSpPr>
          <p:cNvPr id="4" name="TextBox 3">
            <a:extLst>
              <a:ext uri="{FF2B5EF4-FFF2-40B4-BE49-F238E27FC236}">
                <a16:creationId xmlns:a16="http://schemas.microsoft.com/office/drawing/2014/main" id="{48FC7F67-994F-4EA3-9D91-AEA58DAA264D}"/>
              </a:ext>
            </a:extLst>
          </p:cNvPr>
          <p:cNvSpPr txBox="1"/>
          <p:nvPr/>
        </p:nvSpPr>
        <p:spPr>
          <a:xfrm>
            <a:off x="508000" y="838200"/>
            <a:ext cx="11176000" cy="276999"/>
          </a:xfrm>
          <a:prstGeom prst="rect">
            <a:avLst/>
          </a:prstGeom>
          <a:noFill/>
        </p:spPr>
        <p:txBody>
          <a:bodyPr vert="horz" wrap="square" lIns="0" tIns="0" rIns="0" bIns="0" rtlCol="0">
            <a:noAutofit/>
          </a:bodyPr>
          <a:lstStyle/>
          <a:p>
            <a:r>
              <a:rPr lang="vi-VN" sz="2800" b="1">
                <a:solidFill>
                  <a:srgbClr val="102136"/>
                </a:solidFill>
                <a:latin typeface="Segoe UI" panose="020B0502040204020203" pitchFamily="34" charset="0"/>
              </a:rPr>
              <a:t>Từ dữ liệu nguồn đến kết quả lương</a:t>
            </a:r>
            <a:endParaRPr lang="en-US" sz="2800" b="1">
              <a:solidFill>
                <a:srgbClr val="102136"/>
              </a:solidFill>
              <a:latin typeface="Segoe UI" panose="020B0502040204020203" pitchFamily="34" charset="0"/>
            </a:endParaRPr>
          </a:p>
        </p:txBody>
      </p:sp>
      <p:sp>
        <p:nvSpPr>
          <p:cNvPr id="5" name="TextBox 4">
            <a:extLst>
              <a:ext uri="{FF2B5EF4-FFF2-40B4-BE49-F238E27FC236}">
                <a16:creationId xmlns:a16="http://schemas.microsoft.com/office/drawing/2014/main" id="{8F92AF79-9860-FDDE-BE2C-58596AAEE992}"/>
              </a:ext>
            </a:extLst>
          </p:cNvPr>
          <p:cNvSpPr txBox="1"/>
          <p:nvPr/>
        </p:nvSpPr>
        <p:spPr>
          <a:xfrm>
            <a:off x="508000" y="1409700"/>
            <a:ext cx="11176000" cy="276999"/>
          </a:xfrm>
          <a:prstGeom prst="rect">
            <a:avLst/>
          </a:prstGeom>
          <a:noFill/>
        </p:spPr>
        <p:txBody>
          <a:bodyPr vert="horz" wrap="square" lIns="0" tIns="0" rIns="0" bIns="0" rtlCol="0">
            <a:noAutofit/>
          </a:bodyPr>
          <a:lstStyle/>
          <a:p>
            <a:r>
              <a:rPr lang="vi-VN" sz="1200">
                <a:solidFill>
                  <a:srgbClr val="51647A"/>
                </a:solidFill>
                <a:latin typeface="Segoe UI" panose="020B0502040204020203" pitchFamily="34" charset="0"/>
              </a:rPr>
              <a:t>Nguồn nghiệp vụ → công thức tại SQL → kỳ lương và chi tiết</a:t>
            </a:r>
            <a:endParaRPr lang="en-US" sz="1200">
              <a:solidFill>
                <a:srgbClr val="51647A"/>
              </a:solidFill>
              <a:latin typeface="Segoe UI" panose="020B0502040204020203" pitchFamily="34" charset="0"/>
            </a:endParaRPr>
          </a:p>
        </p:txBody>
      </p:sp>
      <p:sp>
        <p:nvSpPr>
          <p:cNvPr id="6" name="Rectangle 5">
            <a:extLst>
              <a:ext uri="{FF2B5EF4-FFF2-40B4-BE49-F238E27FC236}">
                <a16:creationId xmlns:a16="http://schemas.microsoft.com/office/drawing/2014/main" id="{7992CE77-65E2-3CA4-2735-351DC2726BFD}"/>
              </a:ext>
            </a:extLst>
          </p:cNvPr>
          <p:cNvSpPr/>
          <p:nvPr/>
        </p:nvSpPr>
        <p:spPr>
          <a:xfrm>
            <a:off x="508000" y="6426200"/>
            <a:ext cx="11176000" cy="12700"/>
          </a:xfrm>
          <a:prstGeom prst="rect">
            <a:avLst/>
          </a:prstGeom>
          <a:solidFill>
            <a:srgbClr val="DDE5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17178F0-5131-70A8-A845-1D7FFD85552F}"/>
              </a:ext>
            </a:extLst>
          </p:cNvPr>
          <p:cNvSpPr txBox="1"/>
          <p:nvPr/>
        </p:nvSpPr>
        <p:spPr>
          <a:xfrm>
            <a:off x="508000" y="6591300"/>
            <a:ext cx="9525000" cy="276999"/>
          </a:xfrm>
          <a:prstGeom prst="rect">
            <a:avLst/>
          </a:prstGeom>
          <a:noFill/>
        </p:spPr>
        <p:txBody>
          <a:bodyPr vert="horz" wrap="square" lIns="0" tIns="0" rIns="0" bIns="0" rtlCol="0">
            <a:noAutofit/>
          </a:bodyPr>
          <a:lstStyle/>
          <a:p>
            <a:r>
              <a:rPr lang="en-US" sz="1000">
                <a:solidFill>
                  <a:srgbClr val="51647A"/>
                </a:solidFill>
                <a:latin typeface="Segoe UI" panose="020B0502040204020203" pitchFamily="34" charset="0"/>
              </a:rPr>
              <a:t>Nguyễn Quang Vinh  ·  MSSV 24110385  ·  Nhóm 06</a:t>
            </a:r>
          </a:p>
        </p:txBody>
      </p:sp>
      <p:sp>
        <p:nvSpPr>
          <p:cNvPr id="8" name="TextBox 7">
            <a:extLst>
              <a:ext uri="{FF2B5EF4-FFF2-40B4-BE49-F238E27FC236}">
                <a16:creationId xmlns:a16="http://schemas.microsoft.com/office/drawing/2014/main" id="{F92853B0-87B7-6145-4F79-0E785AEA7B12}"/>
              </a:ext>
            </a:extLst>
          </p:cNvPr>
          <p:cNvSpPr txBox="1"/>
          <p:nvPr/>
        </p:nvSpPr>
        <p:spPr>
          <a:xfrm>
            <a:off x="11163300" y="6540500"/>
            <a:ext cx="520700" cy="276999"/>
          </a:xfrm>
          <a:prstGeom prst="rect">
            <a:avLst/>
          </a:prstGeom>
          <a:noFill/>
        </p:spPr>
        <p:txBody>
          <a:bodyPr vert="horz" wrap="square" lIns="0" tIns="0" rIns="0" bIns="0" rtlCol="0">
            <a:noAutofit/>
          </a:bodyPr>
          <a:lstStyle/>
          <a:p>
            <a:pPr algn="r"/>
            <a:r>
              <a:rPr lang="en-US" sz="1300" b="1">
                <a:solidFill>
                  <a:srgbClr val="0F766E"/>
                </a:solidFill>
                <a:latin typeface="Segoe UI" panose="020B0502040204020203" pitchFamily="34" charset="0"/>
              </a:rPr>
              <a:t>10</a:t>
            </a:r>
          </a:p>
        </p:txBody>
      </p:sp>
      <p:sp>
        <p:nvSpPr>
          <p:cNvPr id="9" name="Rectangle: Rounded Corners 8">
            <a:extLst>
              <a:ext uri="{FF2B5EF4-FFF2-40B4-BE49-F238E27FC236}">
                <a16:creationId xmlns:a16="http://schemas.microsoft.com/office/drawing/2014/main" id="{F8E28DCF-480C-1A04-0AC6-549EBFE19B1B}"/>
              </a:ext>
            </a:extLst>
          </p:cNvPr>
          <p:cNvSpPr/>
          <p:nvPr/>
        </p:nvSpPr>
        <p:spPr>
          <a:xfrm>
            <a:off x="508000" y="1993900"/>
            <a:ext cx="2603500" cy="13208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D432FEB-B8A2-2ACD-58AA-A9FDA458C225}"/>
              </a:ext>
            </a:extLst>
          </p:cNvPr>
          <p:cNvSpPr txBox="1"/>
          <p:nvPr/>
        </p:nvSpPr>
        <p:spPr>
          <a:xfrm>
            <a:off x="698500" y="2159000"/>
            <a:ext cx="2222500" cy="276999"/>
          </a:xfrm>
          <a:prstGeom prst="rect">
            <a:avLst/>
          </a:prstGeom>
          <a:noFill/>
        </p:spPr>
        <p:txBody>
          <a:bodyPr vert="horz" wrap="square" lIns="0" tIns="0" rIns="0" bIns="0" rtlCol="0">
            <a:noAutofit/>
          </a:bodyPr>
          <a:lstStyle/>
          <a:p>
            <a:r>
              <a:rPr lang="vi-VN" sz="1500" b="1">
                <a:solidFill>
                  <a:srgbClr val="102136"/>
                </a:solidFill>
                <a:latin typeface="Segoe UI" panose="020B0502040204020203" pitchFamily="34" charset="0"/>
              </a:rPr>
              <a:t>NHÂN VIÊN
+ LỊCH SỬ LƯƠNG</a:t>
            </a:r>
            <a:endParaRPr lang="en-US" sz="1500" b="1">
              <a:solidFill>
                <a:srgbClr val="102136"/>
              </a:solidFill>
              <a:latin typeface="Segoe UI" panose="020B0502040204020203" pitchFamily="34" charset="0"/>
            </a:endParaRPr>
          </a:p>
        </p:txBody>
      </p:sp>
      <p:sp>
        <p:nvSpPr>
          <p:cNvPr id="11" name="TextBox 10">
            <a:extLst>
              <a:ext uri="{FF2B5EF4-FFF2-40B4-BE49-F238E27FC236}">
                <a16:creationId xmlns:a16="http://schemas.microsoft.com/office/drawing/2014/main" id="{29D757CF-64D2-DE07-1E6E-2839E334CE9B}"/>
              </a:ext>
            </a:extLst>
          </p:cNvPr>
          <p:cNvSpPr txBox="1"/>
          <p:nvPr/>
        </p:nvSpPr>
        <p:spPr>
          <a:xfrm>
            <a:off x="698500" y="2844800"/>
            <a:ext cx="2222500" cy="276999"/>
          </a:xfrm>
          <a:prstGeom prst="rect">
            <a:avLst/>
          </a:prstGeom>
          <a:noFill/>
        </p:spPr>
        <p:txBody>
          <a:bodyPr vert="horz" wrap="square" lIns="0" tIns="0" rIns="0" bIns="0" rtlCol="0">
            <a:noAutofit/>
          </a:bodyPr>
          <a:lstStyle/>
          <a:p>
            <a:r>
              <a:rPr lang="vi-VN" sz="1200">
                <a:solidFill>
                  <a:srgbClr val="51647A"/>
                </a:solidFill>
                <a:latin typeface="Segoe UI" panose="020B0502040204020203" pitchFamily="34" charset="0"/>
              </a:rPr>
              <a:t>Mức lương áp dụng cho kỳ</a:t>
            </a:r>
            <a:endParaRPr lang="en-US" sz="1200">
              <a:solidFill>
                <a:srgbClr val="51647A"/>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E5D16D11-30F7-8734-ADD3-790C9E0FAE6B}"/>
              </a:ext>
            </a:extLst>
          </p:cNvPr>
          <p:cNvSpPr/>
          <p:nvPr/>
        </p:nvSpPr>
        <p:spPr>
          <a:xfrm>
            <a:off x="3365500" y="1993900"/>
            <a:ext cx="2603500" cy="13208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055EC4D-DF3E-CD54-3447-92BCEEA70C3B}"/>
              </a:ext>
            </a:extLst>
          </p:cNvPr>
          <p:cNvSpPr txBox="1"/>
          <p:nvPr/>
        </p:nvSpPr>
        <p:spPr>
          <a:xfrm>
            <a:off x="3556000" y="2159000"/>
            <a:ext cx="2222500" cy="276999"/>
          </a:xfrm>
          <a:prstGeom prst="rect">
            <a:avLst/>
          </a:prstGeom>
          <a:noFill/>
        </p:spPr>
        <p:txBody>
          <a:bodyPr vert="horz" wrap="square" lIns="0" tIns="0" rIns="0" bIns="0" rtlCol="0">
            <a:noAutofit/>
          </a:bodyPr>
          <a:lstStyle/>
          <a:p>
            <a:r>
              <a:rPr lang="en-US" sz="1500" b="1">
                <a:solidFill>
                  <a:srgbClr val="102136"/>
                </a:solidFill>
                <a:latin typeface="Segoe UI" panose="020B0502040204020203" pitchFamily="34" charset="0"/>
              </a:rPr>
              <a:t>CHẤM CÔNG</a:t>
            </a:r>
          </a:p>
        </p:txBody>
      </p:sp>
      <p:sp>
        <p:nvSpPr>
          <p:cNvPr id="14" name="TextBox 13">
            <a:extLst>
              <a:ext uri="{FF2B5EF4-FFF2-40B4-BE49-F238E27FC236}">
                <a16:creationId xmlns:a16="http://schemas.microsoft.com/office/drawing/2014/main" id="{640A3DE6-DE26-8FB5-C89F-A9AD67CE25A8}"/>
              </a:ext>
            </a:extLst>
          </p:cNvPr>
          <p:cNvSpPr txBox="1"/>
          <p:nvPr/>
        </p:nvSpPr>
        <p:spPr>
          <a:xfrm>
            <a:off x="3556000" y="2844800"/>
            <a:ext cx="2222500" cy="276999"/>
          </a:xfrm>
          <a:prstGeom prst="rect">
            <a:avLst/>
          </a:prstGeom>
          <a:noFill/>
        </p:spPr>
        <p:txBody>
          <a:bodyPr vert="horz" wrap="square" lIns="0" tIns="0" rIns="0" bIns="0" rtlCol="0">
            <a:noAutofit/>
          </a:bodyPr>
          <a:lstStyle/>
          <a:p>
            <a:r>
              <a:rPr lang="en-US" sz="1200">
                <a:solidFill>
                  <a:srgbClr val="51647A"/>
                </a:solidFill>
                <a:latin typeface="Segoe UI" panose="020B0502040204020203" pitchFamily="34" charset="0"/>
              </a:rPr>
              <a:t>Đếm ngày có mặt,
đi trễ, về sớm</a:t>
            </a:r>
          </a:p>
        </p:txBody>
      </p:sp>
      <p:sp>
        <p:nvSpPr>
          <p:cNvPr id="15" name="Rectangle: Rounded Corners 14">
            <a:extLst>
              <a:ext uri="{FF2B5EF4-FFF2-40B4-BE49-F238E27FC236}">
                <a16:creationId xmlns:a16="http://schemas.microsoft.com/office/drawing/2014/main" id="{80741E08-E2EC-99DD-B8FC-8FF6D0B42E3E}"/>
              </a:ext>
            </a:extLst>
          </p:cNvPr>
          <p:cNvSpPr/>
          <p:nvPr/>
        </p:nvSpPr>
        <p:spPr>
          <a:xfrm>
            <a:off x="6223000" y="1993900"/>
            <a:ext cx="2603500" cy="13208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AE53734-1029-A4BB-3578-3E8FFEE5AD6C}"/>
              </a:ext>
            </a:extLst>
          </p:cNvPr>
          <p:cNvSpPr txBox="1"/>
          <p:nvPr/>
        </p:nvSpPr>
        <p:spPr>
          <a:xfrm>
            <a:off x="6413500" y="2159000"/>
            <a:ext cx="2222500" cy="276999"/>
          </a:xfrm>
          <a:prstGeom prst="rect">
            <a:avLst/>
          </a:prstGeom>
          <a:noFill/>
        </p:spPr>
        <p:txBody>
          <a:bodyPr vert="horz" wrap="square" lIns="0" tIns="0" rIns="0" bIns="0" rtlCol="0">
            <a:noAutofit/>
          </a:bodyPr>
          <a:lstStyle/>
          <a:p>
            <a:r>
              <a:rPr lang="en-US" sz="1500" b="1">
                <a:solidFill>
                  <a:srgbClr val="102136"/>
                </a:solidFill>
                <a:latin typeface="Segoe UI" panose="020B0502040204020203" pitchFamily="34" charset="0"/>
              </a:rPr>
              <a:t>PHỤ CẤP
− KHẤU TRỪ</a:t>
            </a:r>
          </a:p>
        </p:txBody>
      </p:sp>
      <p:sp>
        <p:nvSpPr>
          <p:cNvPr id="17" name="TextBox 16">
            <a:extLst>
              <a:ext uri="{FF2B5EF4-FFF2-40B4-BE49-F238E27FC236}">
                <a16:creationId xmlns:a16="http://schemas.microsoft.com/office/drawing/2014/main" id="{2E9944A0-18A7-3089-4077-F16F6EFA94A2}"/>
              </a:ext>
            </a:extLst>
          </p:cNvPr>
          <p:cNvSpPr txBox="1"/>
          <p:nvPr/>
        </p:nvSpPr>
        <p:spPr>
          <a:xfrm>
            <a:off x="6413500" y="2844800"/>
            <a:ext cx="2222500" cy="276999"/>
          </a:xfrm>
          <a:prstGeom prst="rect">
            <a:avLst/>
          </a:prstGeom>
          <a:noFill/>
        </p:spPr>
        <p:txBody>
          <a:bodyPr vert="horz" wrap="square" lIns="0" tIns="0" rIns="0" bIns="0" rtlCol="0">
            <a:noAutofit/>
          </a:bodyPr>
          <a:lstStyle/>
          <a:p>
            <a:r>
              <a:rPr lang="en-US" sz="1200">
                <a:solidFill>
                  <a:srgbClr val="51647A"/>
                </a:solidFill>
                <a:latin typeface="Segoe UI" panose="020B0502040204020203" pitchFamily="34" charset="0"/>
              </a:rPr>
              <a:t>Tổng khoản theo kỳ</a:t>
            </a:r>
          </a:p>
        </p:txBody>
      </p:sp>
      <p:sp>
        <p:nvSpPr>
          <p:cNvPr id="18" name="Rectangle: Rounded Corners 17">
            <a:extLst>
              <a:ext uri="{FF2B5EF4-FFF2-40B4-BE49-F238E27FC236}">
                <a16:creationId xmlns:a16="http://schemas.microsoft.com/office/drawing/2014/main" id="{CC54B366-B6B1-D7CC-7D98-3EFE662A327C}"/>
              </a:ext>
            </a:extLst>
          </p:cNvPr>
          <p:cNvSpPr/>
          <p:nvPr/>
        </p:nvSpPr>
        <p:spPr>
          <a:xfrm>
            <a:off x="9080500" y="1993900"/>
            <a:ext cx="2603500" cy="1320800"/>
          </a:xfrm>
          <a:prstGeom prst="roundRect">
            <a:avLst>
              <a:gd name="adj" fmla="val 10000"/>
            </a:avLst>
          </a:prstGeom>
          <a:solidFill>
            <a:srgbClr val="E6F4E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D1E3F62-BA0F-15E2-6904-C752B98AE5B3}"/>
              </a:ext>
            </a:extLst>
          </p:cNvPr>
          <p:cNvSpPr txBox="1"/>
          <p:nvPr/>
        </p:nvSpPr>
        <p:spPr>
          <a:xfrm>
            <a:off x="9271000" y="2159000"/>
            <a:ext cx="2222500" cy="276999"/>
          </a:xfrm>
          <a:prstGeom prst="rect">
            <a:avLst/>
          </a:prstGeom>
          <a:noFill/>
        </p:spPr>
        <p:txBody>
          <a:bodyPr vert="horz" wrap="square" lIns="0" tIns="0" rIns="0" bIns="0" rtlCol="0">
            <a:noAutofit/>
          </a:bodyPr>
          <a:lstStyle/>
          <a:p>
            <a:r>
              <a:rPr lang="vi-VN" sz="1500" b="1">
                <a:solidFill>
                  <a:srgbClr val="102136"/>
                </a:solidFill>
                <a:latin typeface="Segoe UI" panose="020B0502040204020203" pitchFamily="34" charset="0"/>
              </a:rPr>
              <a:t>BẢNG LƯƠNG
+ CHI TIẾT</a:t>
            </a:r>
            <a:endParaRPr lang="en-US" sz="1500" b="1">
              <a:solidFill>
                <a:srgbClr val="102136"/>
              </a:solidFill>
              <a:latin typeface="Segoe UI" panose="020B0502040204020203" pitchFamily="34" charset="0"/>
            </a:endParaRPr>
          </a:p>
        </p:txBody>
      </p:sp>
      <p:sp>
        <p:nvSpPr>
          <p:cNvPr id="20" name="TextBox 19">
            <a:extLst>
              <a:ext uri="{FF2B5EF4-FFF2-40B4-BE49-F238E27FC236}">
                <a16:creationId xmlns:a16="http://schemas.microsoft.com/office/drawing/2014/main" id="{DBBBE9B3-204F-0B09-DBB0-08B7A9011BF4}"/>
              </a:ext>
            </a:extLst>
          </p:cNvPr>
          <p:cNvSpPr txBox="1"/>
          <p:nvPr/>
        </p:nvSpPr>
        <p:spPr>
          <a:xfrm>
            <a:off x="9271000" y="2844800"/>
            <a:ext cx="2222500" cy="276999"/>
          </a:xfrm>
          <a:prstGeom prst="rect">
            <a:avLst/>
          </a:prstGeom>
          <a:noFill/>
        </p:spPr>
        <p:txBody>
          <a:bodyPr vert="horz" wrap="square" lIns="0" tIns="0" rIns="0" bIns="0" rtlCol="0">
            <a:noAutofit/>
          </a:bodyPr>
          <a:lstStyle/>
          <a:p>
            <a:r>
              <a:rPr lang="en-US" sz="1200">
                <a:solidFill>
                  <a:srgbClr val="51647A"/>
                </a:solidFill>
                <a:latin typeface="Segoe UI" panose="020B0502040204020203" pitchFamily="34" charset="0"/>
              </a:rPr>
              <a:t>Một kỳ / một dòng mỗi NV</a:t>
            </a:r>
          </a:p>
        </p:txBody>
      </p:sp>
      <p:cxnSp>
        <p:nvCxnSpPr>
          <p:cNvPr id="21" name="Straight Connector 20">
            <a:extLst>
              <a:ext uri="{FF2B5EF4-FFF2-40B4-BE49-F238E27FC236}">
                <a16:creationId xmlns:a16="http://schemas.microsoft.com/office/drawing/2014/main" id="{E20E5C7F-2DDB-918F-75F7-FDE06D2465CB}"/>
              </a:ext>
            </a:extLst>
          </p:cNvPr>
          <p:cNvCxnSpPr/>
          <p:nvPr/>
        </p:nvCxnSpPr>
        <p:spPr>
          <a:xfrm>
            <a:off x="3162300" y="2654300"/>
            <a:ext cx="1524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0BF1B9D-6316-21EB-A61E-3ECFA775F322}"/>
              </a:ext>
            </a:extLst>
          </p:cNvPr>
          <p:cNvCxnSpPr/>
          <p:nvPr/>
        </p:nvCxnSpPr>
        <p:spPr>
          <a:xfrm>
            <a:off x="6019800" y="2654300"/>
            <a:ext cx="1524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4631C9F-00CF-7844-330B-1A4CD9615FC2}"/>
              </a:ext>
            </a:extLst>
          </p:cNvPr>
          <p:cNvCxnSpPr/>
          <p:nvPr/>
        </p:nvCxnSpPr>
        <p:spPr>
          <a:xfrm>
            <a:off x="8877300" y="2654300"/>
            <a:ext cx="1524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D2085AF2-6D6E-D8A9-625E-6C46FD3E979B}"/>
              </a:ext>
            </a:extLst>
          </p:cNvPr>
          <p:cNvSpPr/>
          <p:nvPr/>
        </p:nvSpPr>
        <p:spPr>
          <a:xfrm>
            <a:off x="508000" y="3543300"/>
            <a:ext cx="11176000" cy="10541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AC6B874-4AE5-F800-F5A1-3098EA1EF32F}"/>
              </a:ext>
            </a:extLst>
          </p:cNvPr>
          <p:cNvSpPr txBox="1"/>
          <p:nvPr/>
        </p:nvSpPr>
        <p:spPr>
          <a:xfrm>
            <a:off x="762000" y="3721100"/>
            <a:ext cx="10668000" cy="276999"/>
          </a:xfrm>
          <a:prstGeom prst="rect">
            <a:avLst/>
          </a:prstGeom>
          <a:noFill/>
        </p:spPr>
        <p:txBody>
          <a:bodyPr vert="horz" wrap="square" lIns="0" tIns="0" rIns="0" bIns="0" rtlCol="0">
            <a:noAutofit/>
          </a:bodyPr>
          <a:lstStyle/>
          <a:p>
            <a:r>
              <a:rPr lang="vi-VN" sz="1900" b="1">
                <a:solidFill>
                  <a:srgbClr val="102136"/>
                </a:solidFill>
                <a:latin typeface="Segoe UI" panose="020B0502040204020203" pitchFamily="34" charset="0"/>
              </a:rPr>
              <a:t>Tiền công = ROUND(Lương cơ bản / Công chuẩn × Công thực tế, 2)</a:t>
            </a:r>
            <a:endParaRPr lang="en-US" sz="1900" b="1">
              <a:solidFill>
                <a:srgbClr val="102136"/>
              </a:solidFill>
              <a:latin typeface="Segoe UI" panose="020B0502040204020203" pitchFamily="34" charset="0"/>
            </a:endParaRPr>
          </a:p>
        </p:txBody>
      </p:sp>
      <p:sp>
        <p:nvSpPr>
          <p:cNvPr id="26" name="TextBox 25">
            <a:extLst>
              <a:ext uri="{FF2B5EF4-FFF2-40B4-BE49-F238E27FC236}">
                <a16:creationId xmlns:a16="http://schemas.microsoft.com/office/drawing/2014/main" id="{96FA22CC-6465-FFFE-C9F3-F12DE5F8B997}"/>
              </a:ext>
            </a:extLst>
          </p:cNvPr>
          <p:cNvSpPr txBox="1"/>
          <p:nvPr/>
        </p:nvSpPr>
        <p:spPr>
          <a:xfrm>
            <a:off x="762000" y="4165600"/>
            <a:ext cx="10668000" cy="276999"/>
          </a:xfrm>
          <a:prstGeom prst="rect">
            <a:avLst/>
          </a:prstGeom>
          <a:noFill/>
        </p:spPr>
        <p:txBody>
          <a:bodyPr vert="horz" wrap="square" lIns="0" tIns="0" rIns="0" bIns="0" rtlCol="0">
            <a:noAutofit/>
          </a:bodyPr>
          <a:lstStyle/>
          <a:p>
            <a:r>
              <a:rPr lang="en-US" sz="1700" b="1">
                <a:solidFill>
                  <a:srgbClr val="0F766E"/>
                </a:solidFill>
                <a:latin typeface="Segoe UI" panose="020B0502040204020203" pitchFamily="34" charset="0"/>
              </a:rPr>
              <a:t>Thực nhận = Tiền công + Tổng phụ cấp − Tổng khấu trừ</a:t>
            </a:r>
          </a:p>
        </p:txBody>
      </p:sp>
      <p:sp>
        <p:nvSpPr>
          <p:cNvPr id="27" name="Rectangle: Rounded Corners 26">
            <a:extLst>
              <a:ext uri="{FF2B5EF4-FFF2-40B4-BE49-F238E27FC236}">
                <a16:creationId xmlns:a16="http://schemas.microsoft.com/office/drawing/2014/main" id="{4605AACB-7BF0-67ED-0A54-34758EF79EA8}"/>
              </a:ext>
            </a:extLst>
          </p:cNvPr>
          <p:cNvSpPr/>
          <p:nvPr/>
        </p:nvSpPr>
        <p:spPr>
          <a:xfrm>
            <a:off x="508000" y="4838700"/>
            <a:ext cx="11176000" cy="1282700"/>
          </a:xfrm>
          <a:prstGeom prst="roundRect">
            <a:avLst>
              <a:gd name="adj" fmla="val 10000"/>
            </a:avLst>
          </a:prstGeom>
          <a:solidFill>
            <a:srgbClr val="EDF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079309E-57E0-838E-6E1B-03E01BC09AF7}"/>
              </a:ext>
            </a:extLst>
          </p:cNvPr>
          <p:cNvSpPr txBox="1"/>
          <p:nvPr/>
        </p:nvSpPr>
        <p:spPr>
          <a:xfrm>
            <a:off x="749300" y="5003800"/>
            <a:ext cx="8890000" cy="276999"/>
          </a:xfrm>
          <a:prstGeom prst="rect">
            <a:avLst/>
          </a:prstGeom>
          <a:noFill/>
        </p:spPr>
        <p:txBody>
          <a:bodyPr vert="horz" wrap="square" lIns="0" tIns="0" rIns="0" bIns="0" rtlCol="0">
            <a:noAutofit/>
          </a:bodyPr>
          <a:lstStyle/>
          <a:p>
            <a:r>
              <a:rPr lang="en-US" sz="1100" b="1">
                <a:solidFill>
                  <a:srgbClr val="2563EB"/>
                </a:solidFill>
                <a:latin typeface="Segoe UI" panose="020B0502040204020203" pitchFamily="34" charset="0"/>
              </a:rPr>
              <a:t>GUI DESKTOP SWING · kỳ 10/2026 · kiểm tự động 11/10/2026</a:t>
            </a:r>
          </a:p>
        </p:txBody>
      </p:sp>
      <p:sp>
        <p:nvSpPr>
          <p:cNvPr id="29" name="TextBox 28">
            <a:extLst>
              <a:ext uri="{FF2B5EF4-FFF2-40B4-BE49-F238E27FC236}">
                <a16:creationId xmlns:a16="http://schemas.microsoft.com/office/drawing/2014/main" id="{CCA52332-50C6-1CD3-72C8-CF3CB37A50C1}"/>
              </a:ext>
            </a:extLst>
          </p:cNvPr>
          <p:cNvSpPr txBox="1"/>
          <p:nvPr/>
        </p:nvSpPr>
        <p:spPr>
          <a:xfrm>
            <a:off x="749300" y="5372100"/>
            <a:ext cx="7747000" cy="276999"/>
          </a:xfrm>
          <a:prstGeom prst="rect">
            <a:avLst/>
          </a:prstGeom>
          <a:noFill/>
        </p:spPr>
        <p:txBody>
          <a:bodyPr vert="horz" wrap="square" lIns="0" tIns="0" rIns="0" bIns="0" rtlCol="0">
            <a:noAutofit/>
          </a:bodyPr>
          <a:lstStyle/>
          <a:p>
            <a:r>
              <a:rPr lang="pt-BR">
                <a:solidFill>
                  <a:srgbClr val="102136"/>
                </a:solidFill>
                <a:latin typeface="Segoe UI" panose="020B0502040204020203" pitchFamily="34" charset="0"/>
              </a:rPr>
              <a:t>A: 26.000.000 / 26 × 1 + 730.000 − 1.000.000</a:t>
            </a:r>
            <a:endParaRPr lang="en-US">
              <a:solidFill>
                <a:srgbClr val="102136"/>
              </a:solidFill>
              <a:latin typeface="Segoe UI" panose="020B0502040204020203" pitchFamily="34" charset="0"/>
            </a:endParaRPr>
          </a:p>
        </p:txBody>
      </p:sp>
      <p:sp>
        <p:nvSpPr>
          <p:cNvPr id="30" name="TextBox 29">
            <a:extLst>
              <a:ext uri="{FF2B5EF4-FFF2-40B4-BE49-F238E27FC236}">
                <a16:creationId xmlns:a16="http://schemas.microsoft.com/office/drawing/2014/main" id="{E802E676-6FFB-E308-2BFC-43D928903404}"/>
              </a:ext>
            </a:extLst>
          </p:cNvPr>
          <p:cNvSpPr txBox="1"/>
          <p:nvPr/>
        </p:nvSpPr>
        <p:spPr>
          <a:xfrm>
            <a:off x="8940800" y="5321300"/>
            <a:ext cx="2438400" cy="276999"/>
          </a:xfrm>
          <a:prstGeom prst="rect">
            <a:avLst/>
          </a:prstGeom>
          <a:noFill/>
        </p:spPr>
        <p:txBody>
          <a:bodyPr vert="horz" wrap="square" lIns="0" tIns="0" rIns="0" bIns="0" rtlCol="0">
            <a:noAutofit/>
          </a:bodyPr>
          <a:lstStyle/>
          <a:p>
            <a:pPr algn="r"/>
            <a:r>
              <a:rPr lang="en-US" sz="2500" b="1">
                <a:solidFill>
                  <a:srgbClr val="0F766E"/>
                </a:solidFill>
                <a:latin typeface="Segoe UI" panose="020B0502040204020203" pitchFamily="34" charset="0"/>
              </a:rPr>
              <a:t>730.000đ</a:t>
            </a:r>
          </a:p>
        </p:txBody>
      </p:sp>
      <p:sp>
        <p:nvSpPr>
          <p:cNvPr id="31" name="TextBox 30">
            <a:extLst>
              <a:ext uri="{FF2B5EF4-FFF2-40B4-BE49-F238E27FC236}">
                <a16:creationId xmlns:a16="http://schemas.microsoft.com/office/drawing/2014/main" id="{C303178F-AC6C-1821-1541-E334AA00E345}"/>
              </a:ext>
            </a:extLst>
          </p:cNvPr>
          <p:cNvSpPr txBox="1"/>
          <p:nvPr/>
        </p:nvSpPr>
        <p:spPr>
          <a:xfrm>
            <a:off x="749300" y="5816600"/>
            <a:ext cx="10642600" cy="276999"/>
          </a:xfrm>
          <a:prstGeom prst="rect">
            <a:avLst/>
          </a:prstGeom>
          <a:noFill/>
        </p:spPr>
        <p:txBody>
          <a:bodyPr vert="horz" wrap="square" lIns="0" tIns="0" rIns="0" bIns="0" rtlCol="0">
            <a:noAutofit/>
          </a:bodyPr>
          <a:lstStyle/>
          <a:p>
            <a:r>
              <a:rPr lang="vi-VN" sz="1000">
                <a:solidFill>
                  <a:srgbClr val="51647A"/>
                </a:solidFill>
                <a:latin typeface="Segoe UI" panose="020B0502040204020203" pitchFamily="34" charset="0"/>
              </a:rPr>
              <a:t>B: 0 công / 0 khoản → 0đ. Tính / tính lại GUI PASS tự động; rehearsal nói và thao tác tay chưa thực hiện.</a:t>
            </a:r>
            <a:endParaRPr lang="en-US" sz="1000">
              <a:solidFill>
                <a:srgbClr val="51647A"/>
              </a:solidFill>
              <a:latin typeface="Segoe UI" panose="020B0502040204020203" pitchFamily="34" charset="0"/>
            </a:endParaRPr>
          </a:p>
        </p:txBody>
      </p:sp>
    </p:spTree>
    <p:extLst>
      <p:ext uri="{BB962C8B-B14F-4D97-AF65-F5344CB8AC3E}">
        <p14:creationId xmlns:p14="http://schemas.microsoft.com/office/powerpoint/2010/main" val="204857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014AFD9-011C-466B-6583-31757E8647C3}"/>
              </a:ext>
            </a:extLst>
          </p:cNvPr>
          <p:cNvSpPr/>
          <p:nvPr/>
        </p:nvSpPr>
        <p:spPr>
          <a:xfrm>
            <a:off x="508000" y="330200"/>
            <a:ext cx="1638300" cy="304800"/>
          </a:xfrm>
          <a:prstGeom prst="roundRect">
            <a:avLst>
              <a:gd name="adj" fmla="val 10000"/>
            </a:avLst>
          </a:prstGeom>
          <a:solidFill>
            <a:srgbClr val="E6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BA300A8-4AC6-879D-039E-7D14197A78F1}"/>
              </a:ext>
            </a:extLst>
          </p:cNvPr>
          <p:cNvSpPr txBox="1"/>
          <p:nvPr/>
        </p:nvSpPr>
        <p:spPr>
          <a:xfrm>
            <a:off x="635000" y="393700"/>
            <a:ext cx="1409700" cy="276999"/>
          </a:xfrm>
          <a:prstGeom prst="rect">
            <a:avLst/>
          </a:prstGeom>
          <a:noFill/>
        </p:spPr>
        <p:txBody>
          <a:bodyPr vert="horz" wrap="square" lIns="0" tIns="0" rIns="0" bIns="0" rtlCol="0">
            <a:noAutofit/>
          </a:bodyPr>
          <a:lstStyle/>
          <a:p>
            <a:r>
              <a:rPr lang="vi-VN" sz="1000" b="1">
                <a:solidFill>
                  <a:srgbClr val="0F766E"/>
                </a:solidFill>
                <a:latin typeface="Segoe UI" panose="020B0502040204020203" pitchFamily="34" charset="0"/>
              </a:rPr>
              <a:t>TV4 · TÍNH LƯƠNG</a:t>
            </a:r>
            <a:endParaRPr lang="en-US" sz="1000" b="1">
              <a:solidFill>
                <a:srgbClr val="0F766E"/>
              </a:solidFill>
              <a:latin typeface="Segoe UI" panose="020B0502040204020203" pitchFamily="34" charset="0"/>
            </a:endParaRPr>
          </a:p>
        </p:txBody>
      </p:sp>
      <p:sp>
        <p:nvSpPr>
          <p:cNvPr id="4" name="TextBox 3">
            <a:extLst>
              <a:ext uri="{FF2B5EF4-FFF2-40B4-BE49-F238E27FC236}">
                <a16:creationId xmlns:a16="http://schemas.microsoft.com/office/drawing/2014/main" id="{7B43C3A8-D092-0A2A-8A0E-15F2C45F3BC4}"/>
              </a:ext>
            </a:extLst>
          </p:cNvPr>
          <p:cNvSpPr txBox="1"/>
          <p:nvPr/>
        </p:nvSpPr>
        <p:spPr>
          <a:xfrm>
            <a:off x="508000" y="838200"/>
            <a:ext cx="11176000" cy="276999"/>
          </a:xfrm>
          <a:prstGeom prst="rect">
            <a:avLst/>
          </a:prstGeom>
          <a:noFill/>
        </p:spPr>
        <p:txBody>
          <a:bodyPr vert="horz" wrap="square" lIns="0" tIns="0" rIns="0" bIns="0" rtlCol="0">
            <a:noAutofit/>
          </a:bodyPr>
          <a:lstStyle/>
          <a:p>
            <a:r>
              <a:rPr lang="en-US" sz="2800" b="1">
                <a:solidFill>
                  <a:srgbClr val="102136"/>
                </a:solidFill>
                <a:latin typeface="Segoe UI" panose="020B0502040204020203" pitchFamily="34" charset="0"/>
              </a:rPr>
              <a:t>Tính lại an toàn trong một transaction</a:t>
            </a:r>
          </a:p>
        </p:txBody>
      </p:sp>
      <p:sp>
        <p:nvSpPr>
          <p:cNvPr id="5" name="TextBox 4">
            <a:extLst>
              <a:ext uri="{FF2B5EF4-FFF2-40B4-BE49-F238E27FC236}">
                <a16:creationId xmlns:a16="http://schemas.microsoft.com/office/drawing/2014/main" id="{95F7CDC4-61EC-9325-3BFC-DD298072E6D7}"/>
              </a:ext>
            </a:extLst>
          </p:cNvPr>
          <p:cNvSpPr txBox="1"/>
          <p:nvPr/>
        </p:nvSpPr>
        <p:spPr>
          <a:xfrm>
            <a:off x="508000" y="1409700"/>
            <a:ext cx="11176000" cy="276999"/>
          </a:xfrm>
          <a:prstGeom prst="rect">
            <a:avLst/>
          </a:prstGeom>
          <a:noFill/>
        </p:spPr>
        <p:txBody>
          <a:bodyPr vert="horz" wrap="square" lIns="0" tIns="0" rIns="0" bIns="0" rtlCol="0">
            <a:noAutofit/>
          </a:bodyPr>
          <a:lstStyle/>
          <a:p>
            <a:r>
              <a:rPr lang="en-US" sz="1200">
                <a:solidFill>
                  <a:srgbClr val="51647A"/>
                </a:solidFill>
                <a:latin typeface="Segoe UI" panose="020B0502040204020203" pitchFamily="34" charset="0"/>
              </a:rPr>
              <a:t>sp_TinhBangLuongThang · TRY…CATCH · MaBangLuong OUTPUT</a:t>
            </a:r>
          </a:p>
        </p:txBody>
      </p:sp>
      <p:sp>
        <p:nvSpPr>
          <p:cNvPr id="6" name="Rectangle 5">
            <a:extLst>
              <a:ext uri="{FF2B5EF4-FFF2-40B4-BE49-F238E27FC236}">
                <a16:creationId xmlns:a16="http://schemas.microsoft.com/office/drawing/2014/main" id="{09B2E20B-936B-4C2A-51EB-C4D4A301E334}"/>
              </a:ext>
            </a:extLst>
          </p:cNvPr>
          <p:cNvSpPr/>
          <p:nvPr/>
        </p:nvSpPr>
        <p:spPr>
          <a:xfrm>
            <a:off x="508000" y="6426200"/>
            <a:ext cx="11176000" cy="12700"/>
          </a:xfrm>
          <a:prstGeom prst="rect">
            <a:avLst/>
          </a:prstGeom>
          <a:solidFill>
            <a:srgbClr val="DDE5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BC147CF-085A-5C51-4AAA-8784229192A1}"/>
              </a:ext>
            </a:extLst>
          </p:cNvPr>
          <p:cNvSpPr txBox="1"/>
          <p:nvPr/>
        </p:nvSpPr>
        <p:spPr>
          <a:xfrm>
            <a:off x="508000" y="6591300"/>
            <a:ext cx="9525000" cy="276999"/>
          </a:xfrm>
          <a:prstGeom prst="rect">
            <a:avLst/>
          </a:prstGeom>
          <a:noFill/>
        </p:spPr>
        <p:txBody>
          <a:bodyPr vert="horz" wrap="square" lIns="0" tIns="0" rIns="0" bIns="0" rtlCol="0">
            <a:noAutofit/>
          </a:bodyPr>
          <a:lstStyle/>
          <a:p>
            <a:r>
              <a:rPr lang="en-US" sz="1000">
                <a:solidFill>
                  <a:srgbClr val="51647A"/>
                </a:solidFill>
                <a:latin typeface="Segoe UI" panose="020B0502040204020203" pitchFamily="34" charset="0"/>
              </a:rPr>
              <a:t>Nguyễn Quang Vinh  ·  MSSV 24110385  ·  Nhóm 06</a:t>
            </a:r>
          </a:p>
        </p:txBody>
      </p:sp>
      <p:sp>
        <p:nvSpPr>
          <p:cNvPr id="8" name="TextBox 7">
            <a:extLst>
              <a:ext uri="{FF2B5EF4-FFF2-40B4-BE49-F238E27FC236}">
                <a16:creationId xmlns:a16="http://schemas.microsoft.com/office/drawing/2014/main" id="{6A9BD3F7-B3EB-7C19-BECE-D1F2C1831F1C}"/>
              </a:ext>
            </a:extLst>
          </p:cNvPr>
          <p:cNvSpPr txBox="1"/>
          <p:nvPr/>
        </p:nvSpPr>
        <p:spPr>
          <a:xfrm>
            <a:off x="11163300" y="6540500"/>
            <a:ext cx="520700" cy="276999"/>
          </a:xfrm>
          <a:prstGeom prst="rect">
            <a:avLst/>
          </a:prstGeom>
          <a:noFill/>
        </p:spPr>
        <p:txBody>
          <a:bodyPr vert="horz" wrap="square" lIns="0" tIns="0" rIns="0" bIns="0" rtlCol="0">
            <a:noAutofit/>
          </a:bodyPr>
          <a:lstStyle/>
          <a:p>
            <a:pPr algn="r"/>
            <a:r>
              <a:rPr lang="en-US" sz="1300" b="1">
                <a:solidFill>
                  <a:srgbClr val="0F766E"/>
                </a:solidFill>
                <a:latin typeface="Segoe UI" panose="020B0502040204020203" pitchFamily="34" charset="0"/>
              </a:rPr>
              <a:t>11</a:t>
            </a:r>
          </a:p>
        </p:txBody>
      </p:sp>
      <p:sp>
        <p:nvSpPr>
          <p:cNvPr id="9" name="Rectangle: Rounded Corners 8">
            <a:extLst>
              <a:ext uri="{FF2B5EF4-FFF2-40B4-BE49-F238E27FC236}">
                <a16:creationId xmlns:a16="http://schemas.microsoft.com/office/drawing/2014/main" id="{EE9A12E7-D25E-C789-FAC5-755E468EF053}"/>
              </a:ext>
            </a:extLst>
          </p:cNvPr>
          <p:cNvSpPr/>
          <p:nvPr/>
        </p:nvSpPr>
        <p:spPr>
          <a:xfrm>
            <a:off x="508000" y="2057400"/>
            <a:ext cx="2082800" cy="1168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F6F85AF-572A-F52C-05D6-7A48DF69A66D}"/>
              </a:ext>
            </a:extLst>
          </p:cNvPr>
          <p:cNvSpPr txBox="1"/>
          <p:nvPr/>
        </p:nvSpPr>
        <p:spPr>
          <a:xfrm>
            <a:off x="685800" y="2184400"/>
            <a:ext cx="304800" cy="276999"/>
          </a:xfrm>
          <a:prstGeom prst="rect">
            <a:avLst/>
          </a:prstGeom>
          <a:noFill/>
        </p:spPr>
        <p:txBody>
          <a:bodyPr vert="horz" wrap="square" lIns="0" tIns="0" rIns="0" bIns="0" rtlCol="0">
            <a:noAutofit/>
          </a:bodyPr>
          <a:lstStyle/>
          <a:p>
            <a:r>
              <a:rPr lang="en-US" sz="1200" b="1">
                <a:solidFill>
                  <a:srgbClr val="0F766E"/>
                </a:solidFill>
                <a:latin typeface="Segoe UI" panose="020B0502040204020203" pitchFamily="34" charset="0"/>
              </a:rPr>
              <a:t>1</a:t>
            </a:r>
          </a:p>
        </p:txBody>
      </p:sp>
      <p:sp>
        <p:nvSpPr>
          <p:cNvPr id="11" name="TextBox 10">
            <a:extLst>
              <a:ext uri="{FF2B5EF4-FFF2-40B4-BE49-F238E27FC236}">
                <a16:creationId xmlns:a16="http://schemas.microsoft.com/office/drawing/2014/main" id="{8CE8F346-D4D6-A130-3693-219BD135C54C}"/>
              </a:ext>
            </a:extLst>
          </p:cNvPr>
          <p:cNvSpPr txBox="1"/>
          <p:nvPr/>
        </p:nvSpPr>
        <p:spPr>
          <a:xfrm>
            <a:off x="685800" y="2578100"/>
            <a:ext cx="1727200" cy="276999"/>
          </a:xfrm>
          <a:prstGeom prst="rect">
            <a:avLst/>
          </a:prstGeom>
          <a:noFill/>
        </p:spPr>
        <p:txBody>
          <a:bodyPr vert="horz" wrap="square" lIns="0" tIns="0" rIns="0" bIns="0" rtlCol="0">
            <a:noAutofit/>
          </a:bodyPr>
          <a:lstStyle/>
          <a:p>
            <a:r>
              <a:rPr lang="en-US" sz="1400" b="1">
                <a:solidFill>
                  <a:srgbClr val="102136"/>
                </a:solidFill>
                <a:latin typeface="Segoe UI" panose="020B0502040204020203" pitchFamily="34" charset="0"/>
              </a:rPr>
              <a:t>KIỂM TRA</a:t>
            </a:r>
          </a:p>
        </p:txBody>
      </p:sp>
      <p:cxnSp>
        <p:nvCxnSpPr>
          <p:cNvPr id="12" name="Straight Connector 11">
            <a:extLst>
              <a:ext uri="{FF2B5EF4-FFF2-40B4-BE49-F238E27FC236}">
                <a16:creationId xmlns:a16="http://schemas.microsoft.com/office/drawing/2014/main" id="{7FF4EDF2-71A3-B793-65A5-512B1728596E}"/>
              </a:ext>
            </a:extLst>
          </p:cNvPr>
          <p:cNvCxnSpPr/>
          <p:nvPr/>
        </p:nvCxnSpPr>
        <p:spPr>
          <a:xfrm>
            <a:off x="2616200" y="2654300"/>
            <a:ext cx="1270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3937ACE0-9049-BA9D-9DB9-B65CC0D9FA3D}"/>
              </a:ext>
            </a:extLst>
          </p:cNvPr>
          <p:cNvSpPr/>
          <p:nvPr/>
        </p:nvSpPr>
        <p:spPr>
          <a:xfrm>
            <a:off x="2781300" y="2057400"/>
            <a:ext cx="2082800" cy="1168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F7028C0-DA5A-7012-46BE-86BE24F73846}"/>
              </a:ext>
            </a:extLst>
          </p:cNvPr>
          <p:cNvSpPr txBox="1"/>
          <p:nvPr/>
        </p:nvSpPr>
        <p:spPr>
          <a:xfrm>
            <a:off x="2959100" y="2184400"/>
            <a:ext cx="304800" cy="276999"/>
          </a:xfrm>
          <a:prstGeom prst="rect">
            <a:avLst/>
          </a:prstGeom>
          <a:noFill/>
        </p:spPr>
        <p:txBody>
          <a:bodyPr vert="horz" wrap="square" lIns="0" tIns="0" rIns="0" bIns="0" rtlCol="0">
            <a:noAutofit/>
          </a:bodyPr>
          <a:lstStyle/>
          <a:p>
            <a:r>
              <a:rPr lang="en-US" sz="1200" b="1">
                <a:solidFill>
                  <a:srgbClr val="0F766E"/>
                </a:solidFill>
                <a:latin typeface="Segoe UI" panose="020B0502040204020203" pitchFamily="34" charset="0"/>
              </a:rPr>
              <a:t>2</a:t>
            </a:r>
          </a:p>
        </p:txBody>
      </p:sp>
      <p:sp>
        <p:nvSpPr>
          <p:cNvPr id="15" name="TextBox 14">
            <a:extLst>
              <a:ext uri="{FF2B5EF4-FFF2-40B4-BE49-F238E27FC236}">
                <a16:creationId xmlns:a16="http://schemas.microsoft.com/office/drawing/2014/main" id="{39E0A81E-DA59-E948-C7F6-135CCF0B3ECC}"/>
              </a:ext>
            </a:extLst>
          </p:cNvPr>
          <p:cNvSpPr txBox="1"/>
          <p:nvPr/>
        </p:nvSpPr>
        <p:spPr>
          <a:xfrm>
            <a:off x="2959100" y="2578100"/>
            <a:ext cx="1727200" cy="276999"/>
          </a:xfrm>
          <a:prstGeom prst="rect">
            <a:avLst/>
          </a:prstGeom>
          <a:noFill/>
        </p:spPr>
        <p:txBody>
          <a:bodyPr vert="horz" wrap="square" lIns="0" tIns="0" rIns="0" bIns="0" rtlCol="0">
            <a:noAutofit/>
          </a:bodyPr>
          <a:lstStyle/>
          <a:p>
            <a:r>
              <a:rPr lang="en-US" sz="1400" b="1">
                <a:solidFill>
                  <a:srgbClr val="102136"/>
                </a:solidFill>
                <a:latin typeface="Segoe UI" panose="020B0502040204020203" pitchFamily="34" charset="0"/>
              </a:rPr>
              <a:t>KHÓA KỲ
VÀ NGUỒN</a:t>
            </a:r>
          </a:p>
        </p:txBody>
      </p:sp>
      <p:cxnSp>
        <p:nvCxnSpPr>
          <p:cNvPr id="16" name="Straight Connector 15">
            <a:extLst>
              <a:ext uri="{FF2B5EF4-FFF2-40B4-BE49-F238E27FC236}">
                <a16:creationId xmlns:a16="http://schemas.microsoft.com/office/drawing/2014/main" id="{E5C924F9-FBB6-4C8C-D4DE-EF495939E4E9}"/>
              </a:ext>
            </a:extLst>
          </p:cNvPr>
          <p:cNvCxnSpPr/>
          <p:nvPr/>
        </p:nvCxnSpPr>
        <p:spPr>
          <a:xfrm>
            <a:off x="4889500" y="2654300"/>
            <a:ext cx="1270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82607FAC-DDA6-9BA2-DBA2-807D033E9828}"/>
              </a:ext>
            </a:extLst>
          </p:cNvPr>
          <p:cNvSpPr/>
          <p:nvPr/>
        </p:nvSpPr>
        <p:spPr>
          <a:xfrm>
            <a:off x="5054600" y="2057400"/>
            <a:ext cx="2082800" cy="1168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E33DEDD-5A2C-B46E-B310-ED15171442A0}"/>
              </a:ext>
            </a:extLst>
          </p:cNvPr>
          <p:cNvSpPr txBox="1"/>
          <p:nvPr/>
        </p:nvSpPr>
        <p:spPr>
          <a:xfrm>
            <a:off x="5232400" y="2184400"/>
            <a:ext cx="304800" cy="276999"/>
          </a:xfrm>
          <a:prstGeom prst="rect">
            <a:avLst/>
          </a:prstGeom>
          <a:noFill/>
        </p:spPr>
        <p:txBody>
          <a:bodyPr vert="horz" wrap="square" lIns="0" tIns="0" rIns="0" bIns="0" rtlCol="0">
            <a:noAutofit/>
          </a:bodyPr>
          <a:lstStyle/>
          <a:p>
            <a:r>
              <a:rPr lang="en-US" sz="1200" b="1">
                <a:solidFill>
                  <a:srgbClr val="0F766E"/>
                </a:solidFill>
                <a:latin typeface="Segoe UI" panose="020B0502040204020203" pitchFamily="34" charset="0"/>
              </a:rPr>
              <a:t>3</a:t>
            </a:r>
          </a:p>
        </p:txBody>
      </p:sp>
      <p:sp>
        <p:nvSpPr>
          <p:cNvPr id="19" name="TextBox 18">
            <a:extLst>
              <a:ext uri="{FF2B5EF4-FFF2-40B4-BE49-F238E27FC236}">
                <a16:creationId xmlns:a16="http://schemas.microsoft.com/office/drawing/2014/main" id="{799626E9-99DC-BCC4-6710-9C103B94ACC6}"/>
              </a:ext>
            </a:extLst>
          </p:cNvPr>
          <p:cNvSpPr txBox="1"/>
          <p:nvPr/>
        </p:nvSpPr>
        <p:spPr>
          <a:xfrm>
            <a:off x="5232400" y="2578100"/>
            <a:ext cx="1727200" cy="276999"/>
          </a:xfrm>
          <a:prstGeom prst="rect">
            <a:avLst/>
          </a:prstGeom>
          <a:noFill/>
        </p:spPr>
        <p:txBody>
          <a:bodyPr vert="horz" wrap="square" lIns="0" tIns="0" rIns="0" bIns="0" rtlCol="0">
            <a:noAutofit/>
          </a:bodyPr>
          <a:lstStyle/>
          <a:p>
            <a:r>
              <a:rPr lang="vi-VN" sz="1400" b="1">
                <a:solidFill>
                  <a:srgbClr val="102136"/>
                </a:solidFill>
                <a:latin typeface="Segoe UI" panose="020B0502040204020203" pitchFamily="34" charset="0"/>
              </a:rPr>
              <a:t>CHỌN MỨC
LƯƠNG</a:t>
            </a:r>
            <a:endParaRPr lang="en-US" sz="1400" b="1">
              <a:solidFill>
                <a:srgbClr val="102136"/>
              </a:solidFill>
              <a:latin typeface="Segoe UI" panose="020B0502040204020203" pitchFamily="34" charset="0"/>
            </a:endParaRPr>
          </a:p>
        </p:txBody>
      </p:sp>
      <p:cxnSp>
        <p:nvCxnSpPr>
          <p:cNvPr id="20" name="Straight Connector 19">
            <a:extLst>
              <a:ext uri="{FF2B5EF4-FFF2-40B4-BE49-F238E27FC236}">
                <a16:creationId xmlns:a16="http://schemas.microsoft.com/office/drawing/2014/main" id="{D0A2CE18-B12D-E4D8-419C-F20DCA144765}"/>
              </a:ext>
            </a:extLst>
          </p:cNvPr>
          <p:cNvCxnSpPr/>
          <p:nvPr/>
        </p:nvCxnSpPr>
        <p:spPr>
          <a:xfrm>
            <a:off x="7162800" y="2654300"/>
            <a:ext cx="1270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4F6A0819-FDE8-E4EC-1C5A-71CD7A84CF9C}"/>
              </a:ext>
            </a:extLst>
          </p:cNvPr>
          <p:cNvSpPr/>
          <p:nvPr/>
        </p:nvSpPr>
        <p:spPr>
          <a:xfrm>
            <a:off x="7327900" y="2057400"/>
            <a:ext cx="2082800" cy="1168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BEC4E8C-B935-047A-EA48-6F4CBD286697}"/>
              </a:ext>
            </a:extLst>
          </p:cNvPr>
          <p:cNvSpPr txBox="1"/>
          <p:nvPr/>
        </p:nvSpPr>
        <p:spPr>
          <a:xfrm>
            <a:off x="7505700" y="2184400"/>
            <a:ext cx="304800" cy="276999"/>
          </a:xfrm>
          <a:prstGeom prst="rect">
            <a:avLst/>
          </a:prstGeom>
          <a:noFill/>
        </p:spPr>
        <p:txBody>
          <a:bodyPr vert="horz" wrap="square" lIns="0" tIns="0" rIns="0" bIns="0" rtlCol="0">
            <a:noAutofit/>
          </a:bodyPr>
          <a:lstStyle/>
          <a:p>
            <a:r>
              <a:rPr lang="en-US" sz="1200" b="1">
                <a:solidFill>
                  <a:srgbClr val="0F766E"/>
                </a:solidFill>
                <a:latin typeface="Segoe UI" panose="020B0502040204020203" pitchFamily="34" charset="0"/>
              </a:rPr>
              <a:t>4</a:t>
            </a:r>
          </a:p>
        </p:txBody>
      </p:sp>
      <p:sp>
        <p:nvSpPr>
          <p:cNvPr id="23" name="TextBox 22">
            <a:extLst>
              <a:ext uri="{FF2B5EF4-FFF2-40B4-BE49-F238E27FC236}">
                <a16:creationId xmlns:a16="http://schemas.microsoft.com/office/drawing/2014/main" id="{D6619362-D732-7842-EFD3-DB6953F2B1CD}"/>
              </a:ext>
            </a:extLst>
          </p:cNvPr>
          <p:cNvSpPr txBox="1"/>
          <p:nvPr/>
        </p:nvSpPr>
        <p:spPr>
          <a:xfrm>
            <a:off x="7505700" y="2578100"/>
            <a:ext cx="1727200" cy="276999"/>
          </a:xfrm>
          <a:prstGeom prst="rect">
            <a:avLst/>
          </a:prstGeom>
          <a:noFill/>
        </p:spPr>
        <p:txBody>
          <a:bodyPr vert="horz" wrap="square" lIns="0" tIns="0" rIns="0" bIns="0" rtlCol="0">
            <a:noAutofit/>
          </a:bodyPr>
          <a:lstStyle/>
          <a:p>
            <a:r>
              <a:rPr lang="it-IT" sz="1400" b="1">
                <a:solidFill>
                  <a:srgbClr val="102136"/>
                </a:solidFill>
                <a:latin typeface="Segoe UI" panose="020B0502040204020203" pitchFamily="34" charset="0"/>
              </a:rPr>
              <a:t>GHI KỲ
VÀ CHI TIẾT</a:t>
            </a:r>
            <a:endParaRPr lang="en-US" sz="1400" b="1">
              <a:solidFill>
                <a:srgbClr val="102136"/>
              </a:solidFill>
              <a:latin typeface="Segoe UI" panose="020B0502040204020203" pitchFamily="34" charset="0"/>
            </a:endParaRPr>
          </a:p>
        </p:txBody>
      </p:sp>
      <p:cxnSp>
        <p:nvCxnSpPr>
          <p:cNvPr id="24" name="Straight Connector 23">
            <a:extLst>
              <a:ext uri="{FF2B5EF4-FFF2-40B4-BE49-F238E27FC236}">
                <a16:creationId xmlns:a16="http://schemas.microsoft.com/office/drawing/2014/main" id="{798EC40F-FEBD-FD26-2883-CAA0A7A1F914}"/>
              </a:ext>
            </a:extLst>
          </p:cNvPr>
          <p:cNvCxnSpPr/>
          <p:nvPr/>
        </p:nvCxnSpPr>
        <p:spPr>
          <a:xfrm>
            <a:off x="9436100" y="2654300"/>
            <a:ext cx="1270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597A1983-80FA-635F-C407-982DD51B4D9E}"/>
              </a:ext>
            </a:extLst>
          </p:cNvPr>
          <p:cNvSpPr/>
          <p:nvPr/>
        </p:nvSpPr>
        <p:spPr>
          <a:xfrm>
            <a:off x="9601200" y="2057400"/>
            <a:ext cx="2082800" cy="1168400"/>
          </a:xfrm>
          <a:prstGeom prst="roundRect">
            <a:avLst>
              <a:gd name="adj" fmla="val 10000"/>
            </a:avLst>
          </a:prstGeom>
          <a:solidFill>
            <a:srgbClr val="E6F4E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189DA1A-FFC1-1767-038F-282450E7A93E}"/>
              </a:ext>
            </a:extLst>
          </p:cNvPr>
          <p:cNvSpPr txBox="1"/>
          <p:nvPr/>
        </p:nvSpPr>
        <p:spPr>
          <a:xfrm>
            <a:off x="9779000" y="2184400"/>
            <a:ext cx="304800" cy="276999"/>
          </a:xfrm>
          <a:prstGeom prst="rect">
            <a:avLst/>
          </a:prstGeom>
          <a:noFill/>
        </p:spPr>
        <p:txBody>
          <a:bodyPr vert="horz" wrap="square" lIns="0" tIns="0" rIns="0" bIns="0" rtlCol="0">
            <a:noAutofit/>
          </a:bodyPr>
          <a:lstStyle/>
          <a:p>
            <a:r>
              <a:rPr lang="en-US" sz="1200" b="1">
                <a:solidFill>
                  <a:srgbClr val="0F766E"/>
                </a:solidFill>
                <a:latin typeface="Segoe UI" panose="020B0502040204020203" pitchFamily="34" charset="0"/>
              </a:rPr>
              <a:t>5</a:t>
            </a:r>
          </a:p>
        </p:txBody>
      </p:sp>
      <p:sp>
        <p:nvSpPr>
          <p:cNvPr id="27" name="TextBox 26">
            <a:extLst>
              <a:ext uri="{FF2B5EF4-FFF2-40B4-BE49-F238E27FC236}">
                <a16:creationId xmlns:a16="http://schemas.microsoft.com/office/drawing/2014/main" id="{0315AFBE-0E98-058A-7A32-2F0AE2D3B171}"/>
              </a:ext>
            </a:extLst>
          </p:cNvPr>
          <p:cNvSpPr txBox="1"/>
          <p:nvPr/>
        </p:nvSpPr>
        <p:spPr>
          <a:xfrm>
            <a:off x="9779000" y="2578100"/>
            <a:ext cx="1727200" cy="276999"/>
          </a:xfrm>
          <a:prstGeom prst="rect">
            <a:avLst/>
          </a:prstGeom>
          <a:noFill/>
        </p:spPr>
        <p:txBody>
          <a:bodyPr vert="horz" wrap="square" lIns="0" tIns="0" rIns="0" bIns="0" rtlCol="0">
            <a:noAutofit/>
          </a:bodyPr>
          <a:lstStyle/>
          <a:p>
            <a:r>
              <a:rPr lang="en-US" sz="1400" b="1">
                <a:solidFill>
                  <a:srgbClr val="102136"/>
                </a:solidFill>
                <a:latin typeface="Segoe UI" panose="020B0502040204020203" pitchFamily="34" charset="0"/>
              </a:rPr>
              <a:t>COMMIT</a:t>
            </a:r>
          </a:p>
        </p:txBody>
      </p:sp>
      <p:sp>
        <p:nvSpPr>
          <p:cNvPr id="28" name="Rectangle: Rounded Corners 27">
            <a:extLst>
              <a:ext uri="{FF2B5EF4-FFF2-40B4-BE49-F238E27FC236}">
                <a16:creationId xmlns:a16="http://schemas.microsoft.com/office/drawing/2014/main" id="{EA1E4F2D-3984-FA78-74A3-56D2117E0C03}"/>
              </a:ext>
            </a:extLst>
          </p:cNvPr>
          <p:cNvSpPr/>
          <p:nvPr/>
        </p:nvSpPr>
        <p:spPr>
          <a:xfrm>
            <a:off x="508000" y="3429000"/>
            <a:ext cx="11176000" cy="533400"/>
          </a:xfrm>
          <a:prstGeom prst="roundRect">
            <a:avLst>
              <a:gd name="adj" fmla="val 10000"/>
            </a:avLst>
          </a:prstGeom>
          <a:solidFill>
            <a:srgbClr val="FF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6364765-384E-A2ED-198E-8A11F55F6136}"/>
              </a:ext>
            </a:extLst>
          </p:cNvPr>
          <p:cNvSpPr txBox="1"/>
          <p:nvPr/>
        </p:nvSpPr>
        <p:spPr>
          <a:xfrm>
            <a:off x="723900" y="3568700"/>
            <a:ext cx="10731500" cy="276999"/>
          </a:xfrm>
          <a:prstGeom prst="rect">
            <a:avLst/>
          </a:prstGeom>
          <a:noFill/>
        </p:spPr>
        <p:txBody>
          <a:bodyPr vert="horz" wrap="square" lIns="0" tIns="0" rIns="0" bIns="0" rtlCol="0">
            <a:noAutofit/>
          </a:bodyPr>
          <a:lstStyle/>
          <a:p>
            <a:r>
              <a:rPr lang="vi-VN" sz="1600" b="1">
                <a:solidFill>
                  <a:srgbClr val="B42318"/>
                </a:solidFill>
                <a:latin typeface="Segoe UI" panose="020B0502040204020203" pitchFamily="34" charset="0"/>
              </a:rPr>
              <a:t>Có lỗi → ROLLBACK: giữ header và chi tiết trước lần tính</a:t>
            </a:r>
            <a:endParaRPr lang="en-US" sz="1600" b="1">
              <a:solidFill>
                <a:srgbClr val="B42318"/>
              </a:solidFill>
              <a:latin typeface="Segoe UI" panose="020B0502040204020203" pitchFamily="34" charset="0"/>
            </a:endParaRPr>
          </a:p>
        </p:txBody>
      </p:sp>
      <p:sp>
        <p:nvSpPr>
          <p:cNvPr id="30" name="Rectangle: Rounded Corners 29">
            <a:extLst>
              <a:ext uri="{FF2B5EF4-FFF2-40B4-BE49-F238E27FC236}">
                <a16:creationId xmlns:a16="http://schemas.microsoft.com/office/drawing/2014/main" id="{34565CE7-C98A-F885-D301-58BCE128532D}"/>
              </a:ext>
            </a:extLst>
          </p:cNvPr>
          <p:cNvSpPr/>
          <p:nvPr/>
        </p:nvSpPr>
        <p:spPr>
          <a:xfrm>
            <a:off x="508000" y="4203700"/>
            <a:ext cx="5448300" cy="1803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A0665D8D-7868-49D9-8E74-609EBE06DB87}"/>
              </a:ext>
            </a:extLst>
          </p:cNvPr>
          <p:cNvSpPr/>
          <p:nvPr/>
        </p:nvSpPr>
        <p:spPr>
          <a:xfrm>
            <a:off x="6210300" y="4203700"/>
            <a:ext cx="5473700" cy="1803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BF4519A-F87B-39FD-F2CC-325F751BFEB6}"/>
              </a:ext>
            </a:extLst>
          </p:cNvPr>
          <p:cNvSpPr txBox="1"/>
          <p:nvPr/>
        </p:nvSpPr>
        <p:spPr>
          <a:xfrm>
            <a:off x="736600" y="4406900"/>
            <a:ext cx="4953000" cy="276999"/>
          </a:xfrm>
          <a:prstGeom prst="rect">
            <a:avLst/>
          </a:prstGeom>
          <a:noFill/>
        </p:spPr>
        <p:txBody>
          <a:bodyPr vert="horz" wrap="square" lIns="0" tIns="0" rIns="0" bIns="0" rtlCol="0">
            <a:noAutofit/>
          </a:bodyPr>
          <a:lstStyle/>
          <a:p>
            <a:r>
              <a:rPr lang="en-US" sz="1200" b="1">
                <a:solidFill>
                  <a:srgbClr val="0F766E"/>
                </a:solidFill>
                <a:latin typeface="Segoe UI" panose="020B0502040204020203" pitchFamily="34" charset="0"/>
              </a:rPr>
              <a:t>TÍNH LẠI KỲ NHÁP</a:t>
            </a:r>
          </a:p>
        </p:txBody>
      </p:sp>
      <p:sp>
        <p:nvSpPr>
          <p:cNvPr id="33" name="TextBox 32">
            <a:extLst>
              <a:ext uri="{FF2B5EF4-FFF2-40B4-BE49-F238E27FC236}">
                <a16:creationId xmlns:a16="http://schemas.microsoft.com/office/drawing/2014/main" id="{C2AB0D1D-6DAF-DEB5-5978-BF30B16DE2FB}"/>
              </a:ext>
            </a:extLst>
          </p:cNvPr>
          <p:cNvSpPr txBox="1"/>
          <p:nvPr/>
        </p:nvSpPr>
        <p:spPr>
          <a:xfrm>
            <a:off x="736600" y="4851400"/>
            <a:ext cx="4953000" cy="276999"/>
          </a:xfrm>
          <a:prstGeom prst="rect">
            <a:avLst/>
          </a:prstGeom>
          <a:noFill/>
        </p:spPr>
        <p:txBody>
          <a:bodyPr vert="horz" wrap="square" lIns="0" tIns="0" rIns="0" bIns="0" rtlCol="0">
            <a:noAutofit/>
          </a:bodyPr>
          <a:lstStyle/>
          <a:p>
            <a:r>
              <a:rPr lang="en-US" sz="1700">
                <a:solidFill>
                  <a:srgbClr val="102136"/>
                </a:solidFill>
                <a:latin typeface="Segoe UI" panose="020B0502040204020203" pitchFamily="34" charset="0"/>
              </a:rPr>
              <a:t>Giữ MaBangLuong
Xóa / ghi chi tiết cùng transaction
Kỳ DA_CHOT: từ chối tính lại</a:t>
            </a:r>
          </a:p>
        </p:txBody>
      </p:sp>
      <p:sp>
        <p:nvSpPr>
          <p:cNvPr id="34" name="TextBox 33">
            <a:extLst>
              <a:ext uri="{FF2B5EF4-FFF2-40B4-BE49-F238E27FC236}">
                <a16:creationId xmlns:a16="http://schemas.microsoft.com/office/drawing/2014/main" id="{86B64C2D-CCD5-733A-BDD6-22C2609B3BE8}"/>
              </a:ext>
            </a:extLst>
          </p:cNvPr>
          <p:cNvSpPr txBox="1"/>
          <p:nvPr/>
        </p:nvSpPr>
        <p:spPr>
          <a:xfrm>
            <a:off x="6438900" y="4406900"/>
            <a:ext cx="4940300" cy="276999"/>
          </a:xfrm>
          <a:prstGeom prst="rect">
            <a:avLst/>
          </a:prstGeom>
          <a:noFill/>
        </p:spPr>
        <p:txBody>
          <a:bodyPr vert="horz" wrap="square" lIns="0" tIns="0" rIns="0" bIns="0" rtlCol="0">
            <a:noAutofit/>
          </a:bodyPr>
          <a:lstStyle/>
          <a:p>
            <a:r>
              <a:rPr lang="vi-VN" sz="1200" b="1">
                <a:solidFill>
                  <a:srgbClr val="0F766E"/>
                </a:solidFill>
                <a:latin typeface="Segoe UI" panose="020B0502040204020203" pitchFamily="34" charset="0"/>
              </a:rPr>
              <a:t>GIỮ MỨC LƯƠNG KỲ CŨ</a:t>
            </a:r>
            <a:endParaRPr lang="en-US" sz="1200" b="1">
              <a:solidFill>
                <a:srgbClr val="0F766E"/>
              </a:solidFill>
              <a:latin typeface="Segoe UI" panose="020B0502040204020203" pitchFamily="34" charset="0"/>
            </a:endParaRPr>
          </a:p>
        </p:txBody>
      </p:sp>
      <p:sp>
        <p:nvSpPr>
          <p:cNvPr id="35" name="TextBox 34">
            <a:extLst>
              <a:ext uri="{FF2B5EF4-FFF2-40B4-BE49-F238E27FC236}">
                <a16:creationId xmlns:a16="http://schemas.microsoft.com/office/drawing/2014/main" id="{074EFFE8-60A8-D91D-3108-B112B8478C52}"/>
              </a:ext>
            </a:extLst>
          </p:cNvPr>
          <p:cNvSpPr txBox="1"/>
          <p:nvPr/>
        </p:nvSpPr>
        <p:spPr>
          <a:xfrm>
            <a:off x="6438900" y="4851400"/>
            <a:ext cx="4940300" cy="276999"/>
          </a:xfrm>
          <a:prstGeom prst="rect">
            <a:avLst/>
          </a:prstGeom>
          <a:noFill/>
        </p:spPr>
        <p:txBody>
          <a:bodyPr vert="horz" wrap="square" lIns="0" tIns="0" rIns="0" bIns="0" rtlCol="0">
            <a:noAutofit/>
          </a:bodyPr>
          <a:lstStyle/>
          <a:p>
            <a:r>
              <a:rPr lang="vi-VN" sz="1600">
                <a:solidFill>
                  <a:srgbClr val="102136"/>
                </a:solidFill>
                <a:latin typeface="Segoe UI" panose="020B0502040204020203" pitchFamily="34" charset="0"/>
              </a:rPr>
              <a:t>Ưu tiên snapshot tại chi tiết cũ
→ lịch sử hiệu lực → lương hiện tại
Lịch sử đã mất không tự phục hồi</a:t>
            </a:r>
            <a:endParaRPr lang="en-US" sz="1600">
              <a:solidFill>
                <a:srgbClr val="102136"/>
              </a:solidFill>
              <a:latin typeface="Segoe UI" panose="020B0502040204020203" pitchFamily="34" charset="0"/>
            </a:endParaRPr>
          </a:p>
        </p:txBody>
      </p:sp>
    </p:spTree>
    <p:extLst>
      <p:ext uri="{BB962C8B-B14F-4D97-AF65-F5344CB8AC3E}">
        <p14:creationId xmlns:p14="http://schemas.microsoft.com/office/powerpoint/2010/main" val="3967434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63CF758-6E25-23A7-F9D0-0B9B5F925FAF}"/>
              </a:ext>
            </a:extLst>
          </p:cNvPr>
          <p:cNvSpPr/>
          <p:nvPr/>
        </p:nvSpPr>
        <p:spPr>
          <a:xfrm>
            <a:off x="508000" y="330200"/>
            <a:ext cx="1638300" cy="304800"/>
          </a:xfrm>
          <a:prstGeom prst="roundRect">
            <a:avLst>
              <a:gd name="adj" fmla="val 10000"/>
            </a:avLst>
          </a:prstGeom>
          <a:solidFill>
            <a:srgbClr val="E6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F354F61-86EA-5854-3A80-6203362F58B6}"/>
              </a:ext>
            </a:extLst>
          </p:cNvPr>
          <p:cNvSpPr txBox="1"/>
          <p:nvPr/>
        </p:nvSpPr>
        <p:spPr>
          <a:xfrm>
            <a:off x="635000" y="393700"/>
            <a:ext cx="1409700" cy="276999"/>
          </a:xfrm>
          <a:prstGeom prst="rect">
            <a:avLst/>
          </a:prstGeom>
          <a:noFill/>
        </p:spPr>
        <p:txBody>
          <a:bodyPr vert="horz" wrap="square" lIns="0" tIns="0" rIns="0" bIns="0" rtlCol="0">
            <a:noAutofit/>
          </a:bodyPr>
          <a:lstStyle/>
          <a:p>
            <a:r>
              <a:rPr lang="vi-VN" sz="1000" b="1">
                <a:solidFill>
                  <a:srgbClr val="0F766E"/>
                </a:solidFill>
                <a:latin typeface="Segoe UI" panose="020B0502040204020203" pitchFamily="34" charset="0"/>
              </a:rPr>
              <a:t>TV4 · TÍNH LƯƠNG</a:t>
            </a:r>
            <a:endParaRPr lang="en-US" sz="1000" b="1">
              <a:solidFill>
                <a:srgbClr val="0F766E"/>
              </a:solidFill>
              <a:latin typeface="Segoe UI" panose="020B0502040204020203" pitchFamily="34" charset="0"/>
            </a:endParaRPr>
          </a:p>
        </p:txBody>
      </p:sp>
      <p:sp>
        <p:nvSpPr>
          <p:cNvPr id="4" name="TextBox 3">
            <a:extLst>
              <a:ext uri="{FF2B5EF4-FFF2-40B4-BE49-F238E27FC236}">
                <a16:creationId xmlns:a16="http://schemas.microsoft.com/office/drawing/2014/main" id="{C24EFB94-4F6C-056E-6AB2-49BF97375288}"/>
              </a:ext>
            </a:extLst>
          </p:cNvPr>
          <p:cNvSpPr txBox="1"/>
          <p:nvPr/>
        </p:nvSpPr>
        <p:spPr>
          <a:xfrm>
            <a:off x="508000" y="838200"/>
            <a:ext cx="11176000" cy="276999"/>
          </a:xfrm>
          <a:prstGeom prst="rect">
            <a:avLst/>
          </a:prstGeom>
          <a:noFill/>
        </p:spPr>
        <p:txBody>
          <a:bodyPr vert="horz" wrap="square" lIns="0" tIns="0" rIns="0" bIns="0" rtlCol="0">
            <a:noAutofit/>
          </a:bodyPr>
          <a:lstStyle/>
          <a:p>
            <a:r>
              <a:rPr lang="en-US" sz="2800" b="1">
                <a:solidFill>
                  <a:srgbClr val="102136"/>
                </a:solidFill>
                <a:latin typeface="Segoe UI" panose="020B0502040204020203" pitchFamily="34" charset="0"/>
              </a:rPr>
              <a:t>JDBC, kiểm thử và hiệu năng có bằng chứng</a:t>
            </a:r>
          </a:p>
        </p:txBody>
      </p:sp>
      <p:sp>
        <p:nvSpPr>
          <p:cNvPr id="5" name="TextBox 4">
            <a:extLst>
              <a:ext uri="{FF2B5EF4-FFF2-40B4-BE49-F238E27FC236}">
                <a16:creationId xmlns:a16="http://schemas.microsoft.com/office/drawing/2014/main" id="{24A06CA0-775C-FE90-CBB7-6F7B1A735B67}"/>
              </a:ext>
            </a:extLst>
          </p:cNvPr>
          <p:cNvSpPr txBox="1"/>
          <p:nvPr/>
        </p:nvSpPr>
        <p:spPr>
          <a:xfrm>
            <a:off x="508000" y="1409700"/>
            <a:ext cx="11176000" cy="276999"/>
          </a:xfrm>
          <a:prstGeom prst="rect">
            <a:avLst/>
          </a:prstGeom>
          <a:noFill/>
        </p:spPr>
        <p:txBody>
          <a:bodyPr vert="horz" wrap="square" lIns="0" tIns="0" rIns="0" bIns="0" rtlCol="0">
            <a:noAutofit/>
          </a:bodyPr>
          <a:lstStyle/>
          <a:p>
            <a:r>
              <a:rPr lang="en-US" sz="1200">
                <a:solidFill>
                  <a:srgbClr val="51647A"/>
                </a:solidFill>
                <a:latin typeface="Segoe UI" panose="020B0502040204020203" pitchFamily="34" charset="0"/>
              </a:rPr>
              <a:t>Panel → Service kiểm quyền → DAO / CallableStatement → SP / OUTPUT</a:t>
            </a:r>
          </a:p>
        </p:txBody>
      </p:sp>
      <p:sp>
        <p:nvSpPr>
          <p:cNvPr id="6" name="Rectangle 5">
            <a:extLst>
              <a:ext uri="{FF2B5EF4-FFF2-40B4-BE49-F238E27FC236}">
                <a16:creationId xmlns:a16="http://schemas.microsoft.com/office/drawing/2014/main" id="{E26CB56F-2591-0300-B8A0-E456B5801416}"/>
              </a:ext>
            </a:extLst>
          </p:cNvPr>
          <p:cNvSpPr/>
          <p:nvPr/>
        </p:nvSpPr>
        <p:spPr>
          <a:xfrm>
            <a:off x="508000" y="6426200"/>
            <a:ext cx="11176000" cy="12700"/>
          </a:xfrm>
          <a:prstGeom prst="rect">
            <a:avLst/>
          </a:prstGeom>
          <a:solidFill>
            <a:srgbClr val="DDE5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68B4FA-A30E-6A92-9207-2F123556F4F0}"/>
              </a:ext>
            </a:extLst>
          </p:cNvPr>
          <p:cNvSpPr txBox="1"/>
          <p:nvPr/>
        </p:nvSpPr>
        <p:spPr>
          <a:xfrm>
            <a:off x="508000" y="6591300"/>
            <a:ext cx="9525000" cy="276999"/>
          </a:xfrm>
          <a:prstGeom prst="rect">
            <a:avLst/>
          </a:prstGeom>
          <a:noFill/>
        </p:spPr>
        <p:txBody>
          <a:bodyPr vert="horz" wrap="square" lIns="0" tIns="0" rIns="0" bIns="0" rtlCol="0">
            <a:noAutofit/>
          </a:bodyPr>
          <a:lstStyle/>
          <a:p>
            <a:r>
              <a:rPr lang="en-US" sz="1000">
                <a:solidFill>
                  <a:srgbClr val="51647A"/>
                </a:solidFill>
                <a:latin typeface="Segoe UI" panose="020B0502040204020203" pitchFamily="34" charset="0"/>
              </a:rPr>
              <a:t>Nguyễn Quang Vinh  ·  MSSV 24110385  ·  Nhóm 06</a:t>
            </a:r>
          </a:p>
        </p:txBody>
      </p:sp>
      <p:sp>
        <p:nvSpPr>
          <p:cNvPr id="8" name="TextBox 7">
            <a:extLst>
              <a:ext uri="{FF2B5EF4-FFF2-40B4-BE49-F238E27FC236}">
                <a16:creationId xmlns:a16="http://schemas.microsoft.com/office/drawing/2014/main" id="{A8654B23-044C-66AC-54FB-11334BD3096A}"/>
              </a:ext>
            </a:extLst>
          </p:cNvPr>
          <p:cNvSpPr txBox="1"/>
          <p:nvPr/>
        </p:nvSpPr>
        <p:spPr>
          <a:xfrm>
            <a:off x="11163300" y="6540500"/>
            <a:ext cx="520700" cy="276999"/>
          </a:xfrm>
          <a:prstGeom prst="rect">
            <a:avLst/>
          </a:prstGeom>
          <a:noFill/>
        </p:spPr>
        <p:txBody>
          <a:bodyPr vert="horz" wrap="square" lIns="0" tIns="0" rIns="0" bIns="0" rtlCol="0">
            <a:noAutofit/>
          </a:bodyPr>
          <a:lstStyle/>
          <a:p>
            <a:pPr algn="r"/>
            <a:r>
              <a:rPr lang="en-US" sz="1300" b="1">
                <a:solidFill>
                  <a:srgbClr val="0F766E"/>
                </a:solidFill>
                <a:latin typeface="Segoe UI" panose="020B0502040204020203" pitchFamily="34" charset="0"/>
              </a:rPr>
              <a:t>12</a:t>
            </a:r>
          </a:p>
        </p:txBody>
      </p:sp>
      <p:sp>
        <p:nvSpPr>
          <p:cNvPr id="9" name="Rectangle: Rounded Corners 8">
            <a:extLst>
              <a:ext uri="{FF2B5EF4-FFF2-40B4-BE49-F238E27FC236}">
                <a16:creationId xmlns:a16="http://schemas.microsoft.com/office/drawing/2014/main" id="{A926A8A6-876B-4F7F-4057-ADBF53D78DFF}"/>
              </a:ext>
            </a:extLst>
          </p:cNvPr>
          <p:cNvSpPr/>
          <p:nvPr/>
        </p:nvSpPr>
        <p:spPr>
          <a:xfrm>
            <a:off x="508000" y="2019300"/>
            <a:ext cx="11176000" cy="6350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785D36C-32AA-205F-3992-CA3DB4D733EE}"/>
              </a:ext>
            </a:extLst>
          </p:cNvPr>
          <p:cNvSpPr txBox="1"/>
          <p:nvPr/>
        </p:nvSpPr>
        <p:spPr>
          <a:xfrm>
            <a:off x="736600" y="2222500"/>
            <a:ext cx="10731500" cy="276999"/>
          </a:xfrm>
          <a:prstGeom prst="rect">
            <a:avLst/>
          </a:prstGeom>
          <a:noFill/>
        </p:spPr>
        <p:txBody>
          <a:bodyPr vert="horz" wrap="square" lIns="0" tIns="0" rIns="0" bIns="0" rtlCol="0">
            <a:noAutofit/>
          </a:bodyPr>
          <a:lstStyle/>
          <a:p>
            <a:r>
              <a:rPr lang="en-US" b="1">
                <a:solidFill>
                  <a:srgbClr val="102136"/>
                </a:solidFill>
                <a:latin typeface="Segoe UI" panose="020B0502040204020203" pitchFamily="34" charset="0"/>
              </a:rPr>
              <a:t>BangLuongPanel   →   PayrollService   →   BangLuongDAO   →   SQL Server</a:t>
            </a:r>
          </a:p>
        </p:txBody>
      </p:sp>
      <p:sp>
        <p:nvSpPr>
          <p:cNvPr id="11" name="Rectangle: Rounded Corners 10">
            <a:extLst>
              <a:ext uri="{FF2B5EF4-FFF2-40B4-BE49-F238E27FC236}">
                <a16:creationId xmlns:a16="http://schemas.microsoft.com/office/drawing/2014/main" id="{6BAD1079-17FE-2858-37BA-5521E05DE4C4}"/>
              </a:ext>
            </a:extLst>
          </p:cNvPr>
          <p:cNvSpPr/>
          <p:nvPr/>
        </p:nvSpPr>
        <p:spPr>
          <a:xfrm>
            <a:off x="508000" y="2946400"/>
            <a:ext cx="3543300" cy="1549400"/>
          </a:xfrm>
          <a:prstGeom prst="roundRect">
            <a:avLst>
              <a:gd name="adj" fmla="val 10000"/>
            </a:avLst>
          </a:prstGeom>
          <a:solidFill>
            <a:srgbClr val="E6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0098E47-3521-3AEC-D5B6-8543064D6530}"/>
              </a:ext>
            </a:extLst>
          </p:cNvPr>
          <p:cNvSpPr txBox="1"/>
          <p:nvPr/>
        </p:nvSpPr>
        <p:spPr>
          <a:xfrm>
            <a:off x="736600" y="3149600"/>
            <a:ext cx="3086100" cy="276999"/>
          </a:xfrm>
          <a:prstGeom prst="rect">
            <a:avLst/>
          </a:prstGeom>
          <a:noFill/>
        </p:spPr>
        <p:txBody>
          <a:bodyPr vert="horz" wrap="square" lIns="0" tIns="0" rIns="0" bIns="0" rtlCol="0">
            <a:noAutofit/>
          </a:bodyPr>
          <a:lstStyle/>
          <a:p>
            <a:r>
              <a:rPr lang="en-US" sz="1100" b="1">
                <a:solidFill>
                  <a:srgbClr val="0F766E"/>
                </a:solidFill>
                <a:latin typeface="Segoe UI" panose="020B0502040204020203" pitchFamily="34" charset="0"/>
              </a:rPr>
              <a:t>PAYROLL E2E</a:t>
            </a:r>
          </a:p>
        </p:txBody>
      </p:sp>
      <p:sp>
        <p:nvSpPr>
          <p:cNvPr id="13" name="TextBox 12">
            <a:extLst>
              <a:ext uri="{FF2B5EF4-FFF2-40B4-BE49-F238E27FC236}">
                <a16:creationId xmlns:a16="http://schemas.microsoft.com/office/drawing/2014/main" id="{6FA87F62-3615-42AD-87F7-C3386C0CCDB8}"/>
              </a:ext>
            </a:extLst>
          </p:cNvPr>
          <p:cNvSpPr txBox="1"/>
          <p:nvPr/>
        </p:nvSpPr>
        <p:spPr>
          <a:xfrm>
            <a:off x="736600" y="3581400"/>
            <a:ext cx="3086100" cy="276999"/>
          </a:xfrm>
          <a:prstGeom prst="rect">
            <a:avLst/>
          </a:prstGeom>
          <a:noFill/>
        </p:spPr>
        <p:txBody>
          <a:bodyPr vert="horz" wrap="square" lIns="0" tIns="0" rIns="0" bIns="0" rtlCol="0">
            <a:noAutofit/>
          </a:bodyPr>
          <a:lstStyle/>
          <a:p>
            <a:r>
              <a:rPr lang="en-US" sz="2900" b="1">
                <a:solidFill>
                  <a:srgbClr val="0F766E"/>
                </a:solidFill>
                <a:latin typeface="Segoe UI" panose="020B0502040204020203" pitchFamily="34" charset="0"/>
              </a:rPr>
              <a:t>10/10 PASS</a:t>
            </a:r>
          </a:p>
        </p:txBody>
      </p:sp>
      <p:sp>
        <p:nvSpPr>
          <p:cNvPr id="14" name="TextBox 13">
            <a:extLst>
              <a:ext uri="{FF2B5EF4-FFF2-40B4-BE49-F238E27FC236}">
                <a16:creationId xmlns:a16="http://schemas.microsoft.com/office/drawing/2014/main" id="{12CB3781-786F-F79E-4811-FEAA6E4CDEEB}"/>
              </a:ext>
            </a:extLst>
          </p:cNvPr>
          <p:cNvSpPr txBox="1"/>
          <p:nvPr/>
        </p:nvSpPr>
        <p:spPr>
          <a:xfrm>
            <a:off x="736600" y="4165600"/>
            <a:ext cx="3086100" cy="276999"/>
          </a:xfrm>
          <a:prstGeom prst="rect">
            <a:avLst/>
          </a:prstGeom>
          <a:noFill/>
        </p:spPr>
        <p:txBody>
          <a:bodyPr vert="horz" wrap="square" lIns="0" tIns="0" rIns="0" bIns="0" rtlCol="0">
            <a:noAutofit/>
          </a:bodyPr>
          <a:lstStyle/>
          <a:p>
            <a:r>
              <a:rPr lang="en-US" sz="1100">
                <a:solidFill>
                  <a:srgbClr val="51647A"/>
                </a:solidFill>
                <a:latin typeface="Segoe UI" panose="020B0502040204020203" pitchFamily="34" charset="0"/>
              </a:rPr>
              <a:t>QA SQL · 10/10/2026</a:t>
            </a:r>
          </a:p>
        </p:txBody>
      </p:sp>
      <p:sp>
        <p:nvSpPr>
          <p:cNvPr id="15" name="Rectangle: Rounded Corners 14">
            <a:extLst>
              <a:ext uri="{FF2B5EF4-FFF2-40B4-BE49-F238E27FC236}">
                <a16:creationId xmlns:a16="http://schemas.microsoft.com/office/drawing/2014/main" id="{E8CBE02D-6EAC-79CB-8154-7B73B9C5479A}"/>
              </a:ext>
            </a:extLst>
          </p:cNvPr>
          <p:cNvSpPr/>
          <p:nvPr/>
        </p:nvSpPr>
        <p:spPr>
          <a:xfrm>
            <a:off x="4279900" y="2946400"/>
            <a:ext cx="7404100" cy="1549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107352B-8848-3948-A3CE-5CC20E2F6D84}"/>
              </a:ext>
            </a:extLst>
          </p:cNvPr>
          <p:cNvSpPr txBox="1"/>
          <p:nvPr/>
        </p:nvSpPr>
        <p:spPr>
          <a:xfrm>
            <a:off x="4521200" y="3149600"/>
            <a:ext cx="6934200" cy="276999"/>
          </a:xfrm>
          <a:prstGeom prst="rect">
            <a:avLst/>
          </a:prstGeom>
          <a:noFill/>
        </p:spPr>
        <p:txBody>
          <a:bodyPr vert="horz" wrap="square" lIns="0" tIns="0" rIns="0" bIns="0" rtlCol="0">
            <a:noAutofit/>
          </a:bodyPr>
          <a:lstStyle/>
          <a:p>
            <a:r>
              <a:rPr lang="en-US" sz="1100" b="1">
                <a:solidFill>
                  <a:srgbClr val="2563EB"/>
                </a:solidFill>
                <a:latin typeface="Segoe UI" panose="020B0502040204020203" pitchFamily="34" charset="0"/>
              </a:rPr>
              <a:t>INDEX KHẤU TRỪ · LOGICAL READS</a:t>
            </a:r>
          </a:p>
        </p:txBody>
      </p:sp>
      <p:sp>
        <p:nvSpPr>
          <p:cNvPr id="17" name="TextBox 16">
            <a:extLst>
              <a:ext uri="{FF2B5EF4-FFF2-40B4-BE49-F238E27FC236}">
                <a16:creationId xmlns:a16="http://schemas.microsoft.com/office/drawing/2014/main" id="{755F8D64-0DE9-F196-C53B-2F87353C6B68}"/>
              </a:ext>
            </a:extLst>
          </p:cNvPr>
          <p:cNvSpPr txBox="1"/>
          <p:nvPr/>
        </p:nvSpPr>
        <p:spPr>
          <a:xfrm>
            <a:off x="4521200" y="3543300"/>
            <a:ext cx="3810000" cy="276999"/>
          </a:xfrm>
          <a:prstGeom prst="rect">
            <a:avLst/>
          </a:prstGeom>
          <a:noFill/>
        </p:spPr>
        <p:txBody>
          <a:bodyPr vert="horz" wrap="square" lIns="0" tIns="0" rIns="0" bIns="0" rtlCol="0">
            <a:noAutofit/>
          </a:bodyPr>
          <a:lstStyle/>
          <a:p>
            <a:r>
              <a:rPr lang="en-US" sz="3100" b="1">
                <a:solidFill>
                  <a:srgbClr val="102136"/>
                </a:solidFill>
                <a:latin typeface="Segoe UI" panose="020B0502040204020203" pitchFamily="34" charset="0"/>
              </a:rPr>
              <a:t>547  →  4</a:t>
            </a:r>
          </a:p>
        </p:txBody>
      </p:sp>
      <p:sp>
        <p:nvSpPr>
          <p:cNvPr id="18" name="TextBox 17">
            <a:extLst>
              <a:ext uri="{FF2B5EF4-FFF2-40B4-BE49-F238E27FC236}">
                <a16:creationId xmlns:a16="http://schemas.microsoft.com/office/drawing/2014/main" id="{6A4C2116-CACD-6E1D-1690-E79FA5B5689B}"/>
              </a:ext>
            </a:extLst>
          </p:cNvPr>
          <p:cNvSpPr txBox="1"/>
          <p:nvPr/>
        </p:nvSpPr>
        <p:spPr>
          <a:xfrm>
            <a:off x="8445500" y="3619500"/>
            <a:ext cx="3022600" cy="276999"/>
          </a:xfrm>
          <a:prstGeom prst="rect">
            <a:avLst/>
          </a:prstGeom>
          <a:noFill/>
        </p:spPr>
        <p:txBody>
          <a:bodyPr vert="horz" wrap="square" lIns="0" tIns="0" rIns="0" bIns="0" rtlCol="0">
            <a:noAutofit/>
          </a:bodyPr>
          <a:lstStyle/>
          <a:p>
            <a:pPr algn="r"/>
            <a:r>
              <a:rPr lang="en-US" sz="1500">
                <a:solidFill>
                  <a:srgbClr val="51647A"/>
                </a:solidFill>
                <a:latin typeface="Segoe UI" panose="020B0502040204020203" pitchFamily="34" charset="0"/>
              </a:rPr>
              <a:t>Fixture 30.000 dòng</a:t>
            </a:r>
          </a:p>
        </p:txBody>
      </p:sp>
      <p:sp>
        <p:nvSpPr>
          <p:cNvPr id="19" name="TextBox 18">
            <a:extLst>
              <a:ext uri="{FF2B5EF4-FFF2-40B4-BE49-F238E27FC236}">
                <a16:creationId xmlns:a16="http://schemas.microsoft.com/office/drawing/2014/main" id="{CDB3E971-5C21-C046-5CD8-096835E8CF7F}"/>
              </a:ext>
            </a:extLst>
          </p:cNvPr>
          <p:cNvSpPr txBox="1"/>
          <p:nvPr/>
        </p:nvSpPr>
        <p:spPr>
          <a:xfrm>
            <a:off x="4521200" y="4165600"/>
            <a:ext cx="6921500" cy="276999"/>
          </a:xfrm>
          <a:prstGeom prst="rect">
            <a:avLst/>
          </a:prstGeom>
          <a:noFill/>
        </p:spPr>
        <p:txBody>
          <a:bodyPr vert="horz" wrap="square" lIns="0" tIns="0" rIns="0" bIns="0" rtlCol="0">
            <a:noAutofit/>
          </a:bodyPr>
          <a:lstStyle/>
          <a:p>
            <a:r>
              <a:rPr lang="en-US" sz="1100">
                <a:solidFill>
                  <a:srgbClr val="51647A"/>
                </a:solidFill>
                <a:latin typeface="Segoe UI" panose="020B0502040204020203" pitchFamily="34" charset="0"/>
              </a:rPr>
              <a:t>128 dòng kết quả · tổng 133.356 · hint scan / seek</a:t>
            </a:r>
          </a:p>
        </p:txBody>
      </p:sp>
      <p:sp>
        <p:nvSpPr>
          <p:cNvPr id="20" name="Rectangle: Rounded Corners 19">
            <a:extLst>
              <a:ext uri="{FF2B5EF4-FFF2-40B4-BE49-F238E27FC236}">
                <a16:creationId xmlns:a16="http://schemas.microsoft.com/office/drawing/2014/main" id="{65E91336-CB2C-039A-8AC8-104B53E84C25}"/>
              </a:ext>
            </a:extLst>
          </p:cNvPr>
          <p:cNvSpPr/>
          <p:nvPr/>
        </p:nvSpPr>
        <p:spPr>
          <a:xfrm>
            <a:off x="508000" y="4749800"/>
            <a:ext cx="11176000" cy="1219200"/>
          </a:xfrm>
          <a:prstGeom prst="roundRect">
            <a:avLst>
              <a:gd name="adj" fmla="val 10000"/>
            </a:avLst>
          </a:prstGeom>
          <a:solidFill>
            <a:srgbClr val="EDF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515F07B-62EC-FC32-998A-9BF39F7DB984}"/>
              </a:ext>
            </a:extLst>
          </p:cNvPr>
          <p:cNvSpPr txBox="1"/>
          <p:nvPr/>
        </p:nvSpPr>
        <p:spPr>
          <a:xfrm>
            <a:off x="736600" y="4940300"/>
            <a:ext cx="10668000" cy="276999"/>
          </a:xfrm>
          <a:prstGeom prst="rect">
            <a:avLst/>
          </a:prstGeom>
          <a:noFill/>
        </p:spPr>
        <p:txBody>
          <a:bodyPr vert="horz" wrap="square" lIns="0" tIns="0" rIns="0" bIns="0" rtlCol="0">
            <a:noAutofit/>
          </a:bodyPr>
          <a:lstStyle/>
          <a:p>
            <a:r>
              <a:rPr lang="en-US" sz="1100" b="1">
                <a:solidFill>
                  <a:srgbClr val="2563EB"/>
                </a:solidFill>
                <a:latin typeface="Segoe UI" panose="020B0502040204020203" pitchFamily="34" charset="0"/>
              </a:rPr>
              <a:t>GIỚI HẠN PHÉP ĐO</a:t>
            </a:r>
          </a:p>
        </p:txBody>
      </p:sp>
      <p:sp>
        <p:nvSpPr>
          <p:cNvPr id="22" name="TextBox 21">
            <a:extLst>
              <a:ext uri="{FF2B5EF4-FFF2-40B4-BE49-F238E27FC236}">
                <a16:creationId xmlns:a16="http://schemas.microsoft.com/office/drawing/2014/main" id="{9ED0E798-0468-3129-8E8B-18F2050F20FF}"/>
              </a:ext>
            </a:extLst>
          </p:cNvPr>
          <p:cNvSpPr txBox="1"/>
          <p:nvPr/>
        </p:nvSpPr>
        <p:spPr>
          <a:xfrm>
            <a:off x="736600" y="5308600"/>
            <a:ext cx="10629900" cy="276999"/>
          </a:xfrm>
          <a:prstGeom prst="rect">
            <a:avLst/>
          </a:prstGeom>
          <a:noFill/>
        </p:spPr>
        <p:txBody>
          <a:bodyPr vert="horz" wrap="square" lIns="0" tIns="0" rIns="0" bIns="0" rtlCol="0">
            <a:noAutofit/>
          </a:bodyPr>
          <a:lstStyle/>
          <a:p>
            <a:r>
              <a:rPr lang="en-US" sz="1600">
                <a:solidFill>
                  <a:srgbClr val="102136"/>
                </a:solidFill>
                <a:latin typeface="Segoe UI" panose="020B0502040204020203" pitchFamily="34" charset="0"/>
              </a:rPr>
              <a:t>Số đo truy vấn trên fixture SQL; không quy đổi thành tốc độ toàn ứng dụng.</a:t>
            </a:r>
          </a:p>
        </p:txBody>
      </p:sp>
      <p:sp>
        <p:nvSpPr>
          <p:cNvPr id="23" name="TextBox 22">
            <a:extLst>
              <a:ext uri="{FF2B5EF4-FFF2-40B4-BE49-F238E27FC236}">
                <a16:creationId xmlns:a16="http://schemas.microsoft.com/office/drawing/2014/main" id="{BF9D69FD-30EB-4C17-F0B1-484240D9DEFC}"/>
              </a:ext>
            </a:extLst>
          </p:cNvPr>
          <p:cNvSpPr txBox="1"/>
          <p:nvPr/>
        </p:nvSpPr>
        <p:spPr>
          <a:xfrm>
            <a:off x="736600" y="5727700"/>
            <a:ext cx="10629900" cy="276999"/>
          </a:xfrm>
          <a:prstGeom prst="rect">
            <a:avLst/>
          </a:prstGeom>
          <a:noFill/>
        </p:spPr>
        <p:txBody>
          <a:bodyPr vert="horz" wrap="square" lIns="0" tIns="0" rIns="0" bIns="0" rtlCol="0">
            <a:noAutofit/>
          </a:bodyPr>
          <a:lstStyle/>
          <a:p>
            <a:r>
              <a:rPr lang="en-US" sz="1100">
                <a:solidFill>
                  <a:srgbClr val="51647A"/>
                </a:solidFill>
                <a:latin typeface="Segoe UI" panose="020B0502040204020203" pitchFamily="34" charset="0"/>
              </a:rPr>
              <a:t>Concurrency mới: B chờ 21,072 giây · cùng mã kỳ · không trùng chi tiết.</a:t>
            </a:r>
          </a:p>
        </p:txBody>
      </p:sp>
    </p:spTree>
    <p:extLst>
      <p:ext uri="{BB962C8B-B14F-4D97-AF65-F5344CB8AC3E}">
        <p14:creationId xmlns:p14="http://schemas.microsoft.com/office/powerpoint/2010/main" val="4061011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1183</Words>
  <Application>Microsoft Office PowerPoint</Application>
  <PresentationFormat>Custom</PresentationFormat>
  <Paragraphs>62</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Segoe UI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Vinh Nguyễn</dc:creator>
  <cp:lastModifiedBy>Vinh Nguyễn</cp:lastModifiedBy>
  <cp:revision>1</cp:revision>
  <dcterms:created xsi:type="dcterms:W3CDTF">2026-10-10T12:56:53Z</dcterms:created>
  <dcterms:modified xsi:type="dcterms:W3CDTF">2026-10-10T12:56:53Z</dcterms:modified>
</cp:coreProperties>
</file>